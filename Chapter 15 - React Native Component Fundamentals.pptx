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322" r:id="rId3"/>
    <p:sldId id="323" r:id="rId4"/>
    <p:sldId id="324" r:id="rId5"/>
    <p:sldId id="325" r:id="rId6"/>
    <p:sldId id="326" r:id="rId7"/>
    <p:sldId id="327" r:id="rId8"/>
    <p:sldId id="328" r:id="rId9"/>
    <p:sldId id="330" r:id="rId10"/>
    <p:sldId id="329" r:id="rId11"/>
    <p:sldId id="331" r:id="rId12"/>
    <p:sldId id="332" r:id="rId13"/>
    <p:sldId id="337" r:id="rId14"/>
    <p:sldId id="336" r:id="rId15"/>
    <p:sldId id="333" r:id="rId16"/>
    <p:sldId id="334" r:id="rId17"/>
    <p:sldId id="368" r:id="rId18"/>
    <p:sldId id="338" r:id="rId19"/>
    <p:sldId id="339" r:id="rId20"/>
    <p:sldId id="340" r:id="rId21"/>
    <p:sldId id="341" r:id="rId22"/>
    <p:sldId id="342" r:id="rId23"/>
    <p:sldId id="343" r:id="rId24"/>
    <p:sldId id="345" r:id="rId25"/>
    <p:sldId id="346" r:id="rId26"/>
    <p:sldId id="349" r:id="rId27"/>
    <p:sldId id="350" r:id="rId28"/>
    <p:sldId id="351" r:id="rId29"/>
    <p:sldId id="353" r:id="rId30"/>
    <p:sldId id="352" r:id="rId31"/>
    <p:sldId id="354" r:id="rId32"/>
    <p:sldId id="355" r:id="rId33"/>
    <p:sldId id="356" r:id="rId34"/>
    <p:sldId id="357" r:id="rId35"/>
    <p:sldId id="369" r:id="rId36"/>
    <p:sldId id="358" r:id="rId37"/>
    <p:sldId id="360" r:id="rId38"/>
    <p:sldId id="359" r:id="rId39"/>
    <p:sldId id="361" r:id="rId40"/>
    <p:sldId id="362" r:id="rId41"/>
    <p:sldId id="363" r:id="rId42"/>
    <p:sldId id="364" r:id="rId43"/>
    <p:sldId id="365" r:id="rId44"/>
    <p:sldId id="366" r:id="rId45"/>
    <p:sldId id="36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2" autoAdjust="0"/>
  </p:normalViewPr>
  <p:slideViewPr>
    <p:cSldViewPr snapToGrid="0">
      <p:cViewPr varScale="1">
        <p:scale>
          <a:sx n="105" d="100"/>
          <a:sy n="105" d="100"/>
        </p:scale>
        <p:origin x="834"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178479-941D-4A62-9E39-5A64F4ECB896}" type="datetimeFigureOut">
              <a:rPr lang="en-CA" smtClean="0"/>
              <a:t>2025-06-05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DBD9AF-AE78-435B-BDB7-7959223117C3}" type="slidenum">
              <a:rPr lang="en-CA" smtClean="0"/>
              <a:t>‹#›</a:t>
            </a:fld>
            <a:endParaRPr lang="en-CA"/>
          </a:p>
        </p:txBody>
      </p:sp>
    </p:spTree>
    <p:extLst>
      <p:ext uri="{BB962C8B-B14F-4D97-AF65-F5344CB8AC3E}">
        <p14:creationId xmlns:p14="http://schemas.microsoft.com/office/powerpoint/2010/main" val="154560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2DBD9AF-AE78-435B-BDB7-7959223117C3}" type="slidenum">
              <a:rPr lang="en-CA" smtClean="0"/>
              <a:t>15</a:t>
            </a:fld>
            <a:endParaRPr lang="en-CA"/>
          </a:p>
        </p:txBody>
      </p:sp>
    </p:spTree>
    <p:extLst>
      <p:ext uri="{BB962C8B-B14F-4D97-AF65-F5344CB8AC3E}">
        <p14:creationId xmlns:p14="http://schemas.microsoft.com/office/powerpoint/2010/main" val="4049739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36D6-2B99-D2A5-416F-9EF53EF39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B9B13-4358-E8F7-91F2-0A1AFCC50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09B1C-8EF2-E332-311A-FA395B9653B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C97AEE5-2C8B-1FDF-A2A0-E8170C2BDA0A}"/>
              </a:ext>
            </a:extLst>
          </p:cNvPr>
          <p:cNvSpPr>
            <a:spLocks noGrp="1"/>
          </p:cNvSpPr>
          <p:nvPr>
            <p:ph type="sldNum" sz="quarter" idx="5"/>
          </p:nvPr>
        </p:nvSpPr>
        <p:spPr/>
        <p:txBody>
          <a:bodyPr/>
          <a:lstStyle/>
          <a:p>
            <a:fld id="{02DBD9AF-AE78-435B-BDB7-7959223117C3}" type="slidenum">
              <a:rPr lang="en-CA" smtClean="0"/>
              <a:t>16</a:t>
            </a:fld>
            <a:endParaRPr lang="en-CA"/>
          </a:p>
        </p:txBody>
      </p:sp>
    </p:spTree>
    <p:extLst>
      <p:ext uri="{BB962C8B-B14F-4D97-AF65-F5344CB8AC3E}">
        <p14:creationId xmlns:p14="http://schemas.microsoft.com/office/powerpoint/2010/main" val="3955001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4CF9-7808-7A10-6174-D1776C456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4ED04-2D4D-CFB2-371C-6306D7DAE0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8EDEE-3D69-8942-8334-FEA34BE4784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2F63737-A892-417F-61E0-2110FEF02613}"/>
              </a:ext>
            </a:extLst>
          </p:cNvPr>
          <p:cNvSpPr>
            <a:spLocks noGrp="1"/>
          </p:cNvSpPr>
          <p:nvPr>
            <p:ph type="sldNum" sz="quarter" idx="5"/>
          </p:nvPr>
        </p:nvSpPr>
        <p:spPr/>
        <p:txBody>
          <a:bodyPr/>
          <a:lstStyle/>
          <a:p>
            <a:fld id="{02DBD9AF-AE78-435B-BDB7-7959223117C3}" type="slidenum">
              <a:rPr lang="en-CA" smtClean="0"/>
              <a:t>17</a:t>
            </a:fld>
            <a:endParaRPr lang="en-CA"/>
          </a:p>
        </p:txBody>
      </p:sp>
    </p:spTree>
    <p:extLst>
      <p:ext uri="{BB962C8B-B14F-4D97-AF65-F5344CB8AC3E}">
        <p14:creationId xmlns:p14="http://schemas.microsoft.com/office/powerpoint/2010/main" val="115969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9937-8BBE-B519-2036-107A14613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3EF31-D4B8-1078-74C9-9D1072E12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CDE9D-4B61-78C1-D85C-0C1799014C4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1E873E1-8E01-C0CA-51F7-4DA12621B899}"/>
              </a:ext>
            </a:extLst>
          </p:cNvPr>
          <p:cNvSpPr>
            <a:spLocks noGrp="1"/>
          </p:cNvSpPr>
          <p:nvPr>
            <p:ph type="sldNum" sz="quarter" idx="5"/>
          </p:nvPr>
        </p:nvSpPr>
        <p:spPr/>
        <p:txBody>
          <a:bodyPr/>
          <a:lstStyle/>
          <a:p>
            <a:fld id="{02DBD9AF-AE78-435B-BDB7-7959223117C3}" type="slidenum">
              <a:rPr lang="en-CA" smtClean="0"/>
              <a:t>18</a:t>
            </a:fld>
            <a:endParaRPr lang="en-CA"/>
          </a:p>
        </p:txBody>
      </p:sp>
    </p:spTree>
    <p:extLst>
      <p:ext uri="{BB962C8B-B14F-4D97-AF65-F5344CB8AC3E}">
        <p14:creationId xmlns:p14="http://schemas.microsoft.com/office/powerpoint/2010/main" val="4174953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B87A8-2F9A-3034-681C-8A36B85D9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D2353-4558-7BC3-C05D-1E0231533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ED911-25B8-EF0F-596B-31A48A1170E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5F6ABD2-D566-04D6-4097-76E6616DCCEE}"/>
              </a:ext>
            </a:extLst>
          </p:cNvPr>
          <p:cNvSpPr>
            <a:spLocks noGrp="1"/>
          </p:cNvSpPr>
          <p:nvPr>
            <p:ph type="sldNum" sz="quarter" idx="5"/>
          </p:nvPr>
        </p:nvSpPr>
        <p:spPr/>
        <p:txBody>
          <a:bodyPr/>
          <a:lstStyle/>
          <a:p>
            <a:fld id="{02DBD9AF-AE78-435B-BDB7-7959223117C3}" type="slidenum">
              <a:rPr lang="en-CA" smtClean="0"/>
              <a:t>19</a:t>
            </a:fld>
            <a:endParaRPr lang="en-CA"/>
          </a:p>
        </p:txBody>
      </p:sp>
    </p:spTree>
    <p:extLst>
      <p:ext uri="{BB962C8B-B14F-4D97-AF65-F5344CB8AC3E}">
        <p14:creationId xmlns:p14="http://schemas.microsoft.com/office/powerpoint/2010/main" val="3216588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445B-37D9-D325-E96A-A0ED6863B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3340C-FA76-D854-AF69-1EA7AB133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6BC99-7F85-E0D1-F597-B8E43030299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244DA5B-9A3E-F05F-9BD6-D4E7D5ADBFEE}"/>
              </a:ext>
            </a:extLst>
          </p:cNvPr>
          <p:cNvSpPr>
            <a:spLocks noGrp="1"/>
          </p:cNvSpPr>
          <p:nvPr>
            <p:ph type="sldNum" sz="quarter" idx="5"/>
          </p:nvPr>
        </p:nvSpPr>
        <p:spPr/>
        <p:txBody>
          <a:bodyPr/>
          <a:lstStyle/>
          <a:p>
            <a:fld id="{02DBD9AF-AE78-435B-BDB7-7959223117C3}" type="slidenum">
              <a:rPr lang="en-CA" smtClean="0"/>
              <a:t>20</a:t>
            </a:fld>
            <a:endParaRPr lang="en-CA"/>
          </a:p>
        </p:txBody>
      </p:sp>
    </p:spTree>
    <p:extLst>
      <p:ext uri="{BB962C8B-B14F-4D97-AF65-F5344CB8AC3E}">
        <p14:creationId xmlns:p14="http://schemas.microsoft.com/office/powerpoint/2010/main" val="454065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508B0-5B10-9BC5-8C5D-7DC77909A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41366-9215-FD63-E6A6-1B5CDF7E2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83F5A-ACD7-BA6C-B01D-8EF2FEF17FE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ED418FB-BE4E-8918-85EE-6560B15D686E}"/>
              </a:ext>
            </a:extLst>
          </p:cNvPr>
          <p:cNvSpPr>
            <a:spLocks noGrp="1"/>
          </p:cNvSpPr>
          <p:nvPr>
            <p:ph type="sldNum" sz="quarter" idx="5"/>
          </p:nvPr>
        </p:nvSpPr>
        <p:spPr/>
        <p:txBody>
          <a:bodyPr/>
          <a:lstStyle/>
          <a:p>
            <a:fld id="{02DBD9AF-AE78-435B-BDB7-7959223117C3}" type="slidenum">
              <a:rPr lang="en-CA" smtClean="0"/>
              <a:t>21</a:t>
            </a:fld>
            <a:endParaRPr lang="en-CA"/>
          </a:p>
        </p:txBody>
      </p:sp>
    </p:spTree>
    <p:extLst>
      <p:ext uri="{BB962C8B-B14F-4D97-AF65-F5344CB8AC3E}">
        <p14:creationId xmlns:p14="http://schemas.microsoft.com/office/powerpoint/2010/main" val="281759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4AB6-FA19-D599-0E14-02D114529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E8F82-A970-9CC6-D43D-8356B4052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75D92-73FB-53DE-F827-1001B56AF47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331EB33-6597-5737-1646-E980115A61A6}"/>
              </a:ext>
            </a:extLst>
          </p:cNvPr>
          <p:cNvSpPr>
            <a:spLocks noGrp="1"/>
          </p:cNvSpPr>
          <p:nvPr>
            <p:ph type="sldNum" sz="quarter" idx="5"/>
          </p:nvPr>
        </p:nvSpPr>
        <p:spPr/>
        <p:txBody>
          <a:bodyPr/>
          <a:lstStyle/>
          <a:p>
            <a:fld id="{02DBD9AF-AE78-435B-BDB7-7959223117C3}" type="slidenum">
              <a:rPr lang="en-CA" smtClean="0"/>
              <a:t>22</a:t>
            </a:fld>
            <a:endParaRPr lang="en-CA"/>
          </a:p>
        </p:txBody>
      </p:sp>
    </p:spTree>
    <p:extLst>
      <p:ext uri="{BB962C8B-B14F-4D97-AF65-F5344CB8AC3E}">
        <p14:creationId xmlns:p14="http://schemas.microsoft.com/office/powerpoint/2010/main" val="412500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BABF9-4468-D88E-2C6F-FCC81954A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2FD9C-3655-4840-E1A9-056B5E5B4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0ABBEF-A2AA-BB2F-E095-E4248E5AA673}"/>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4AE350B-6E4E-8A9B-D73C-7E7DFAB84676}"/>
              </a:ext>
            </a:extLst>
          </p:cNvPr>
          <p:cNvSpPr>
            <a:spLocks noGrp="1"/>
          </p:cNvSpPr>
          <p:nvPr>
            <p:ph type="sldNum" sz="quarter" idx="5"/>
          </p:nvPr>
        </p:nvSpPr>
        <p:spPr/>
        <p:txBody>
          <a:bodyPr/>
          <a:lstStyle/>
          <a:p>
            <a:fld id="{02DBD9AF-AE78-435B-BDB7-7959223117C3}" type="slidenum">
              <a:rPr lang="en-CA" smtClean="0"/>
              <a:t>23</a:t>
            </a:fld>
            <a:endParaRPr lang="en-CA"/>
          </a:p>
        </p:txBody>
      </p:sp>
    </p:spTree>
    <p:extLst>
      <p:ext uri="{BB962C8B-B14F-4D97-AF65-F5344CB8AC3E}">
        <p14:creationId xmlns:p14="http://schemas.microsoft.com/office/powerpoint/2010/main" val="3419490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21CAE-C372-A8C4-6554-D657537B8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DC2E9-64A8-9634-209C-715BFC82F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6D49C-DF9F-C58A-5BEA-B18902AE432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D6F363B-22E3-9F95-3D6E-0BE2187DFA15}"/>
              </a:ext>
            </a:extLst>
          </p:cNvPr>
          <p:cNvSpPr>
            <a:spLocks noGrp="1"/>
          </p:cNvSpPr>
          <p:nvPr>
            <p:ph type="sldNum" sz="quarter" idx="5"/>
          </p:nvPr>
        </p:nvSpPr>
        <p:spPr/>
        <p:txBody>
          <a:bodyPr/>
          <a:lstStyle/>
          <a:p>
            <a:fld id="{02DBD9AF-AE78-435B-BDB7-7959223117C3}" type="slidenum">
              <a:rPr lang="en-CA" smtClean="0"/>
              <a:t>24</a:t>
            </a:fld>
            <a:endParaRPr lang="en-CA"/>
          </a:p>
        </p:txBody>
      </p:sp>
    </p:spTree>
    <p:extLst>
      <p:ext uri="{BB962C8B-B14F-4D97-AF65-F5344CB8AC3E}">
        <p14:creationId xmlns:p14="http://schemas.microsoft.com/office/powerpoint/2010/main" val="826344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5C94-9512-A167-19BB-4941FF3AC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80643-A729-3A17-CA94-A117F14FD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B2FED-B887-92DF-041F-F0233A96E50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6AE70EF-BE86-5F49-C7BB-D7D4E427B675}"/>
              </a:ext>
            </a:extLst>
          </p:cNvPr>
          <p:cNvSpPr>
            <a:spLocks noGrp="1"/>
          </p:cNvSpPr>
          <p:nvPr>
            <p:ph type="sldNum" sz="quarter" idx="5"/>
          </p:nvPr>
        </p:nvSpPr>
        <p:spPr/>
        <p:txBody>
          <a:bodyPr/>
          <a:lstStyle/>
          <a:p>
            <a:fld id="{02DBD9AF-AE78-435B-BDB7-7959223117C3}" type="slidenum">
              <a:rPr lang="en-CA" smtClean="0"/>
              <a:t>25</a:t>
            </a:fld>
            <a:endParaRPr lang="en-CA"/>
          </a:p>
        </p:txBody>
      </p:sp>
    </p:spTree>
    <p:extLst>
      <p:ext uri="{BB962C8B-B14F-4D97-AF65-F5344CB8AC3E}">
        <p14:creationId xmlns:p14="http://schemas.microsoft.com/office/powerpoint/2010/main" val="4031359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3E2A-E99E-CF5C-00FF-4A9F2D797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1E7CB-0E83-9E17-1E25-6D7A9C8DE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1D67B-D0E2-D3FE-A8DA-8963B6E691C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3C4871A-FAA6-4E27-0B8F-0A998E54748E}"/>
              </a:ext>
            </a:extLst>
          </p:cNvPr>
          <p:cNvSpPr>
            <a:spLocks noGrp="1"/>
          </p:cNvSpPr>
          <p:nvPr>
            <p:ph type="sldNum" sz="quarter" idx="5"/>
          </p:nvPr>
        </p:nvSpPr>
        <p:spPr/>
        <p:txBody>
          <a:bodyPr/>
          <a:lstStyle/>
          <a:p>
            <a:fld id="{02DBD9AF-AE78-435B-BDB7-7959223117C3}" type="slidenum">
              <a:rPr lang="en-CA" smtClean="0"/>
              <a:t>26</a:t>
            </a:fld>
            <a:endParaRPr lang="en-CA"/>
          </a:p>
        </p:txBody>
      </p:sp>
    </p:spTree>
    <p:extLst>
      <p:ext uri="{BB962C8B-B14F-4D97-AF65-F5344CB8AC3E}">
        <p14:creationId xmlns:p14="http://schemas.microsoft.com/office/powerpoint/2010/main" val="287129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27E5-50E5-3273-2299-E4A53AAD7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1359F-DBFA-7508-2037-1EED7DBF1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61259-FCBB-DBD6-27DA-045D9E896FB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13BD5B3-E9A5-FC85-4294-8F0205555065}"/>
              </a:ext>
            </a:extLst>
          </p:cNvPr>
          <p:cNvSpPr>
            <a:spLocks noGrp="1"/>
          </p:cNvSpPr>
          <p:nvPr>
            <p:ph type="sldNum" sz="quarter" idx="5"/>
          </p:nvPr>
        </p:nvSpPr>
        <p:spPr/>
        <p:txBody>
          <a:bodyPr/>
          <a:lstStyle/>
          <a:p>
            <a:fld id="{02DBD9AF-AE78-435B-BDB7-7959223117C3}" type="slidenum">
              <a:rPr lang="en-CA" smtClean="0"/>
              <a:t>27</a:t>
            </a:fld>
            <a:endParaRPr lang="en-CA"/>
          </a:p>
        </p:txBody>
      </p:sp>
    </p:spTree>
    <p:extLst>
      <p:ext uri="{BB962C8B-B14F-4D97-AF65-F5344CB8AC3E}">
        <p14:creationId xmlns:p14="http://schemas.microsoft.com/office/powerpoint/2010/main" val="2657781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74C6F-4BEE-BAD5-E6A2-A049C6F9C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61138-8526-B16D-0918-C78D47A4D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2EAE8-997E-CA28-CBA3-1D8F3B60D98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04176E9-971E-0137-A3DD-ED2299CF3F20}"/>
              </a:ext>
            </a:extLst>
          </p:cNvPr>
          <p:cNvSpPr>
            <a:spLocks noGrp="1"/>
          </p:cNvSpPr>
          <p:nvPr>
            <p:ph type="sldNum" sz="quarter" idx="5"/>
          </p:nvPr>
        </p:nvSpPr>
        <p:spPr/>
        <p:txBody>
          <a:bodyPr/>
          <a:lstStyle/>
          <a:p>
            <a:fld id="{02DBD9AF-AE78-435B-BDB7-7959223117C3}" type="slidenum">
              <a:rPr lang="en-CA" smtClean="0"/>
              <a:t>28</a:t>
            </a:fld>
            <a:endParaRPr lang="en-CA"/>
          </a:p>
        </p:txBody>
      </p:sp>
    </p:spTree>
    <p:extLst>
      <p:ext uri="{BB962C8B-B14F-4D97-AF65-F5344CB8AC3E}">
        <p14:creationId xmlns:p14="http://schemas.microsoft.com/office/powerpoint/2010/main" val="3613464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2CAF-F58E-DC23-DC7D-FA5884289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9ED96-9D9C-5038-6D51-6922CAB89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D196F-68F9-D7AE-783B-63687AF6068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6FEEE7E-DE43-3918-DDCF-375F930578C5}"/>
              </a:ext>
            </a:extLst>
          </p:cNvPr>
          <p:cNvSpPr>
            <a:spLocks noGrp="1"/>
          </p:cNvSpPr>
          <p:nvPr>
            <p:ph type="sldNum" sz="quarter" idx="5"/>
          </p:nvPr>
        </p:nvSpPr>
        <p:spPr/>
        <p:txBody>
          <a:bodyPr/>
          <a:lstStyle/>
          <a:p>
            <a:fld id="{02DBD9AF-AE78-435B-BDB7-7959223117C3}" type="slidenum">
              <a:rPr lang="en-CA" smtClean="0"/>
              <a:t>29</a:t>
            </a:fld>
            <a:endParaRPr lang="en-CA"/>
          </a:p>
        </p:txBody>
      </p:sp>
    </p:spTree>
    <p:extLst>
      <p:ext uri="{BB962C8B-B14F-4D97-AF65-F5344CB8AC3E}">
        <p14:creationId xmlns:p14="http://schemas.microsoft.com/office/powerpoint/2010/main" val="902248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E795E-3C12-7E17-3C01-032DEFDCE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40F13-0B69-EE22-ED7A-2AD1666BF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5B49E-89EF-7063-5956-26407613E47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08338C1-72D0-03EB-3828-70D1F2547568}"/>
              </a:ext>
            </a:extLst>
          </p:cNvPr>
          <p:cNvSpPr>
            <a:spLocks noGrp="1"/>
          </p:cNvSpPr>
          <p:nvPr>
            <p:ph type="sldNum" sz="quarter" idx="5"/>
          </p:nvPr>
        </p:nvSpPr>
        <p:spPr/>
        <p:txBody>
          <a:bodyPr/>
          <a:lstStyle/>
          <a:p>
            <a:fld id="{02DBD9AF-AE78-435B-BDB7-7959223117C3}" type="slidenum">
              <a:rPr lang="en-CA" smtClean="0"/>
              <a:t>30</a:t>
            </a:fld>
            <a:endParaRPr lang="en-CA"/>
          </a:p>
        </p:txBody>
      </p:sp>
    </p:spTree>
    <p:extLst>
      <p:ext uri="{BB962C8B-B14F-4D97-AF65-F5344CB8AC3E}">
        <p14:creationId xmlns:p14="http://schemas.microsoft.com/office/powerpoint/2010/main" val="3487857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1D8E-8AA2-D029-A018-224C2845B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9BF84-30AB-F9E8-F99A-605CC9235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47580-37A0-E32D-84E9-62A4F354260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C950BB8-47C9-9E52-8C05-3A2AA5582EA8}"/>
              </a:ext>
            </a:extLst>
          </p:cNvPr>
          <p:cNvSpPr>
            <a:spLocks noGrp="1"/>
          </p:cNvSpPr>
          <p:nvPr>
            <p:ph type="sldNum" sz="quarter" idx="5"/>
          </p:nvPr>
        </p:nvSpPr>
        <p:spPr/>
        <p:txBody>
          <a:bodyPr/>
          <a:lstStyle/>
          <a:p>
            <a:fld id="{02DBD9AF-AE78-435B-BDB7-7959223117C3}" type="slidenum">
              <a:rPr lang="en-CA" smtClean="0"/>
              <a:t>31</a:t>
            </a:fld>
            <a:endParaRPr lang="en-CA"/>
          </a:p>
        </p:txBody>
      </p:sp>
    </p:spTree>
    <p:extLst>
      <p:ext uri="{BB962C8B-B14F-4D97-AF65-F5344CB8AC3E}">
        <p14:creationId xmlns:p14="http://schemas.microsoft.com/office/powerpoint/2010/main" val="2342635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27FD8-5ED2-AE61-038C-4F6F43197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7D785-4E3F-726E-6658-E60FBCC2A3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8CE395-0743-75CB-EA28-C497C6D679C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E93E2DC-4629-A890-2F06-EECE1C8C2591}"/>
              </a:ext>
            </a:extLst>
          </p:cNvPr>
          <p:cNvSpPr>
            <a:spLocks noGrp="1"/>
          </p:cNvSpPr>
          <p:nvPr>
            <p:ph type="sldNum" sz="quarter" idx="5"/>
          </p:nvPr>
        </p:nvSpPr>
        <p:spPr/>
        <p:txBody>
          <a:bodyPr/>
          <a:lstStyle/>
          <a:p>
            <a:fld id="{02DBD9AF-AE78-435B-BDB7-7959223117C3}" type="slidenum">
              <a:rPr lang="en-CA" smtClean="0"/>
              <a:t>32</a:t>
            </a:fld>
            <a:endParaRPr lang="en-CA"/>
          </a:p>
        </p:txBody>
      </p:sp>
    </p:spTree>
    <p:extLst>
      <p:ext uri="{BB962C8B-B14F-4D97-AF65-F5344CB8AC3E}">
        <p14:creationId xmlns:p14="http://schemas.microsoft.com/office/powerpoint/2010/main" val="2142952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5741-D9BA-A8B2-EC90-A9EE7F4C9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51876-ED79-9AB4-657E-772484178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682AF-7338-7BED-5EE3-72F818DAD84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716F087-3392-EBEA-88C8-FD928A3A2DA9}"/>
              </a:ext>
            </a:extLst>
          </p:cNvPr>
          <p:cNvSpPr>
            <a:spLocks noGrp="1"/>
          </p:cNvSpPr>
          <p:nvPr>
            <p:ph type="sldNum" sz="quarter" idx="5"/>
          </p:nvPr>
        </p:nvSpPr>
        <p:spPr/>
        <p:txBody>
          <a:bodyPr/>
          <a:lstStyle/>
          <a:p>
            <a:fld id="{02DBD9AF-AE78-435B-BDB7-7959223117C3}" type="slidenum">
              <a:rPr lang="en-CA" smtClean="0"/>
              <a:t>33</a:t>
            </a:fld>
            <a:endParaRPr lang="en-CA"/>
          </a:p>
        </p:txBody>
      </p:sp>
    </p:spTree>
    <p:extLst>
      <p:ext uri="{BB962C8B-B14F-4D97-AF65-F5344CB8AC3E}">
        <p14:creationId xmlns:p14="http://schemas.microsoft.com/office/powerpoint/2010/main" val="1493701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F1EA5-72CE-96F0-943A-A2CB892EF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B1AAE-8077-08AF-AD54-713DE5C10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AF754-ABB3-D0AF-F2BB-9480A0A4535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3B609EF-36FC-B61E-9387-2517951302D0}"/>
              </a:ext>
            </a:extLst>
          </p:cNvPr>
          <p:cNvSpPr>
            <a:spLocks noGrp="1"/>
          </p:cNvSpPr>
          <p:nvPr>
            <p:ph type="sldNum" sz="quarter" idx="5"/>
          </p:nvPr>
        </p:nvSpPr>
        <p:spPr/>
        <p:txBody>
          <a:bodyPr/>
          <a:lstStyle/>
          <a:p>
            <a:fld id="{02DBD9AF-AE78-435B-BDB7-7959223117C3}" type="slidenum">
              <a:rPr lang="en-CA" smtClean="0"/>
              <a:t>34</a:t>
            </a:fld>
            <a:endParaRPr lang="en-CA"/>
          </a:p>
        </p:txBody>
      </p:sp>
    </p:spTree>
    <p:extLst>
      <p:ext uri="{BB962C8B-B14F-4D97-AF65-F5344CB8AC3E}">
        <p14:creationId xmlns:p14="http://schemas.microsoft.com/office/powerpoint/2010/main" val="2107286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835C0-522D-1789-2BCC-E610D0AFA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E563C-1F6F-164A-7145-3EE311746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D5DFD-E194-5FC9-7E83-EF6A47C77ED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9701FE7-D518-7A0F-2CDE-B400AF1A739B}"/>
              </a:ext>
            </a:extLst>
          </p:cNvPr>
          <p:cNvSpPr>
            <a:spLocks noGrp="1"/>
          </p:cNvSpPr>
          <p:nvPr>
            <p:ph type="sldNum" sz="quarter" idx="5"/>
          </p:nvPr>
        </p:nvSpPr>
        <p:spPr/>
        <p:txBody>
          <a:bodyPr/>
          <a:lstStyle/>
          <a:p>
            <a:fld id="{02DBD9AF-AE78-435B-BDB7-7959223117C3}" type="slidenum">
              <a:rPr lang="en-CA" smtClean="0"/>
              <a:t>35</a:t>
            </a:fld>
            <a:endParaRPr lang="en-CA"/>
          </a:p>
        </p:txBody>
      </p:sp>
    </p:spTree>
    <p:extLst>
      <p:ext uri="{BB962C8B-B14F-4D97-AF65-F5344CB8AC3E}">
        <p14:creationId xmlns:p14="http://schemas.microsoft.com/office/powerpoint/2010/main" val="1762126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FFBC-9C1A-1205-2C8D-8AC3E92B1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22C99-4C00-0407-06AD-E42FE4945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6A7E1-20AD-2901-1B08-8F2208AEB8B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D375DD1-F400-38B8-CA68-45ED0AA573B7}"/>
              </a:ext>
            </a:extLst>
          </p:cNvPr>
          <p:cNvSpPr>
            <a:spLocks noGrp="1"/>
          </p:cNvSpPr>
          <p:nvPr>
            <p:ph type="sldNum" sz="quarter" idx="5"/>
          </p:nvPr>
        </p:nvSpPr>
        <p:spPr/>
        <p:txBody>
          <a:bodyPr/>
          <a:lstStyle/>
          <a:p>
            <a:fld id="{02DBD9AF-AE78-435B-BDB7-7959223117C3}" type="slidenum">
              <a:rPr lang="en-CA" smtClean="0"/>
              <a:t>36</a:t>
            </a:fld>
            <a:endParaRPr lang="en-CA"/>
          </a:p>
        </p:txBody>
      </p:sp>
    </p:spTree>
    <p:extLst>
      <p:ext uri="{BB962C8B-B14F-4D97-AF65-F5344CB8AC3E}">
        <p14:creationId xmlns:p14="http://schemas.microsoft.com/office/powerpoint/2010/main" val="3214414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5275-E61C-4FE0-23A4-63E862ECD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455BF-01E9-A3B6-551F-1D609F470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5DD51-7299-D287-DA59-14885F2078C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EB2F16C-556B-D72D-1A7B-D583938273F8}"/>
              </a:ext>
            </a:extLst>
          </p:cNvPr>
          <p:cNvSpPr>
            <a:spLocks noGrp="1"/>
          </p:cNvSpPr>
          <p:nvPr>
            <p:ph type="sldNum" sz="quarter" idx="5"/>
          </p:nvPr>
        </p:nvSpPr>
        <p:spPr/>
        <p:txBody>
          <a:bodyPr/>
          <a:lstStyle/>
          <a:p>
            <a:fld id="{02DBD9AF-AE78-435B-BDB7-7959223117C3}" type="slidenum">
              <a:rPr lang="en-CA" smtClean="0"/>
              <a:t>37</a:t>
            </a:fld>
            <a:endParaRPr lang="en-CA"/>
          </a:p>
        </p:txBody>
      </p:sp>
    </p:spTree>
    <p:extLst>
      <p:ext uri="{BB962C8B-B14F-4D97-AF65-F5344CB8AC3E}">
        <p14:creationId xmlns:p14="http://schemas.microsoft.com/office/powerpoint/2010/main" val="2903288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4176-C55B-327C-CA70-A0A0B4361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43AF5-EA7A-E8E6-9B8D-72232F7B2C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C7097-503C-AD74-BE20-4E5F1ACFB62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1144E21-BD0B-3DAC-EB7C-EFE9EF09D3ED}"/>
              </a:ext>
            </a:extLst>
          </p:cNvPr>
          <p:cNvSpPr>
            <a:spLocks noGrp="1"/>
          </p:cNvSpPr>
          <p:nvPr>
            <p:ph type="sldNum" sz="quarter" idx="5"/>
          </p:nvPr>
        </p:nvSpPr>
        <p:spPr/>
        <p:txBody>
          <a:bodyPr/>
          <a:lstStyle/>
          <a:p>
            <a:fld id="{02DBD9AF-AE78-435B-BDB7-7959223117C3}" type="slidenum">
              <a:rPr lang="en-CA" smtClean="0"/>
              <a:t>38</a:t>
            </a:fld>
            <a:endParaRPr lang="en-CA"/>
          </a:p>
        </p:txBody>
      </p:sp>
    </p:spTree>
    <p:extLst>
      <p:ext uri="{BB962C8B-B14F-4D97-AF65-F5344CB8AC3E}">
        <p14:creationId xmlns:p14="http://schemas.microsoft.com/office/powerpoint/2010/main" val="35378103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B782B-E827-CAD7-3164-E21240507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F70F9-138A-40C6-820D-503728645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C4E17-BEEB-AC91-9F24-6F772289673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5CC02E4-FF53-11CE-4DE3-EEAB4DEF3008}"/>
              </a:ext>
            </a:extLst>
          </p:cNvPr>
          <p:cNvSpPr>
            <a:spLocks noGrp="1"/>
          </p:cNvSpPr>
          <p:nvPr>
            <p:ph type="sldNum" sz="quarter" idx="5"/>
          </p:nvPr>
        </p:nvSpPr>
        <p:spPr/>
        <p:txBody>
          <a:bodyPr/>
          <a:lstStyle/>
          <a:p>
            <a:fld id="{02DBD9AF-AE78-435B-BDB7-7959223117C3}" type="slidenum">
              <a:rPr lang="en-CA" smtClean="0"/>
              <a:t>39</a:t>
            </a:fld>
            <a:endParaRPr lang="en-CA"/>
          </a:p>
        </p:txBody>
      </p:sp>
    </p:spTree>
    <p:extLst>
      <p:ext uri="{BB962C8B-B14F-4D97-AF65-F5344CB8AC3E}">
        <p14:creationId xmlns:p14="http://schemas.microsoft.com/office/powerpoint/2010/main" val="1788550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6D25-52E8-B01A-2981-2C67BD770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2D21A-E83E-5AA7-E88E-D39C5DEF7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AD221-CEB7-317C-DB91-A3ACC90D044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FB09C59-F7B0-C7E4-80F6-9B925981826E}"/>
              </a:ext>
            </a:extLst>
          </p:cNvPr>
          <p:cNvSpPr>
            <a:spLocks noGrp="1"/>
          </p:cNvSpPr>
          <p:nvPr>
            <p:ph type="sldNum" sz="quarter" idx="5"/>
          </p:nvPr>
        </p:nvSpPr>
        <p:spPr/>
        <p:txBody>
          <a:bodyPr/>
          <a:lstStyle/>
          <a:p>
            <a:fld id="{02DBD9AF-AE78-435B-BDB7-7959223117C3}" type="slidenum">
              <a:rPr lang="en-CA" smtClean="0"/>
              <a:t>40</a:t>
            </a:fld>
            <a:endParaRPr lang="en-CA"/>
          </a:p>
        </p:txBody>
      </p:sp>
    </p:spTree>
    <p:extLst>
      <p:ext uri="{BB962C8B-B14F-4D97-AF65-F5344CB8AC3E}">
        <p14:creationId xmlns:p14="http://schemas.microsoft.com/office/powerpoint/2010/main" val="29838375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797E-66D0-9308-0832-F4DE8087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F2AF0-8102-9BEE-EC1A-4A7570AB2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E408F-134F-6B21-F47B-0B203255849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F9BB55E-0EE4-2CD2-9F54-96B1254F4D62}"/>
              </a:ext>
            </a:extLst>
          </p:cNvPr>
          <p:cNvSpPr>
            <a:spLocks noGrp="1"/>
          </p:cNvSpPr>
          <p:nvPr>
            <p:ph type="sldNum" sz="quarter" idx="5"/>
          </p:nvPr>
        </p:nvSpPr>
        <p:spPr/>
        <p:txBody>
          <a:bodyPr/>
          <a:lstStyle/>
          <a:p>
            <a:fld id="{02DBD9AF-AE78-435B-BDB7-7959223117C3}" type="slidenum">
              <a:rPr lang="en-CA" smtClean="0"/>
              <a:t>41</a:t>
            </a:fld>
            <a:endParaRPr lang="en-CA"/>
          </a:p>
        </p:txBody>
      </p:sp>
    </p:spTree>
    <p:extLst>
      <p:ext uri="{BB962C8B-B14F-4D97-AF65-F5344CB8AC3E}">
        <p14:creationId xmlns:p14="http://schemas.microsoft.com/office/powerpoint/2010/main" val="19851044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ED636-38CF-A843-D5BD-8459601C8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341EB-9C01-77C7-CD88-B504E1A2F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BBD11-79D2-8657-CCB1-19E57E727DA3}"/>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7292C9A-B7E1-3DFD-F713-F9B22940BE3A}"/>
              </a:ext>
            </a:extLst>
          </p:cNvPr>
          <p:cNvSpPr>
            <a:spLocks noGrp="1"/>
          </p:cNvSpPr>
          <p:nvPr>
            <p:ph type="sldNum" sz="quarter" idx="5"/>
          </p:nvPr>
        </p:nvSpPr>
        <p:spPr/>
        <p:txBody>
          <a:bodyPr/>
          <a:lstStyle/>
          <a:p>
            <a:fld id="{02DBD9AF-AE78-435B-BDB7-7959223117C3}" type="slidenum">
              <a:rPr lang="en-CA" smtClean="0"/>
              <a:t>42</a:t>
            </a:fld>
            <a:endParaRPr lang="en-CA"/>
          </a:p>
        </p:txBody>
      </p:sp>
    </p:spTree>
    <p:extLst>
      <p:ext uri="{BB962C8B-B14F-4D97-AF65-F5344CB8AC3E}">
        <p14:creationId xmlns:p14="http://schemas.microsoft.com/office/powerpoint/2010/main" val="17444962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62CB-5F52-0FF5-7C6E-AD7F699BC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EBB68-BDC5-D194-2F02-BA03D6FFA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C747D-1F4E-9412-4FEF-31888EB6CB9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D22C0DB-B95F-9B92-CFEB-03BD1620446F}"/>
              </a:ext>
            </a:extLst>
          </p:cNvPr>
          <p:cNvSpPr>
            <a:spLocks noGrp="1"/>
          </p:cNvSpPr>
          <p:nvPr>
            <p:ph type="sldNum" sz="quarter" idx="5"/>
          </p:nvPr>
        </p:nvSpPr>
        <p:spPr/>
        <p:txBody>
          <a:bodyPr/>
          <a:lstStyle/>
          <a:p>
            <a:fld id="{02DBD9AF-AE78-435B-BDB7-7959223117C3}" type="slidenum">
              <a:rPr lang="en-CA" smtClean="0"/>
              <a:t>43</a:t>
            </a:fld>
            <a:endParaRPr lang="en-CA"/>
          </a:p>
        </p:txBody>
      </p:sp>
    </p:spTree>
    <p:extLst>
      <p:ext uri="{BB962C8B-B14F-4D97-AF65-F5344CB8AC3E}">
        <p14:creationId xmlns:p14="http://schemas.microsoft.com/office/powerpoint/2010/main" val="25468739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E2192-BFF5-6569-7E0C-595F784CB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A914B-4248-0531-AA1A-055FC1CBA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07865-9860-4D32-4550-AA45AC5A939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EE8AC2F-AEB2-A958-EC68-7B4A3A954A7A}"/>
              </a:ext>
            </a:extLst>
          </p:cNvPr>
          <p:cNvSpPr>
            <a:spLocks noGrp="1"/>
          </p:cNvSpPr>
          <p:nvPr>
            <p:ph type="sldNum" sz="quarter" idx="5"/>
          </p:nvPr>
        </p:nvSpPr>
        <p:spPr/>
        <p:txBody>
          <a:bodyPr/>
          <a:lstStyle/>
          <a:p>
            <a:fld id="{02DBD9AF-AE78-435B-BDB7-7959223117C3}" type="slidenum">
              <a:rPr lang="en-CA" smtClean="0"/>
              <a:t>44</a:t>
            </a:fld>
            <a:endParaRPr lang="en-CA"/>
          </a:p>
        </p:txBody>
      </p:sp>
    </p:spTree>
    <p:extLst>
      <p:ext uri="{BB962C8B-B14F-4D97-AF65-F5344CB8AC3E}">
        <p14:creationId xmlns:p14="http://schemas.microsoft.com/office/powerpoint/2010/main" val="17999021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452C-ADD5-9389-C145-8BB6593D1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EBFDE-7EC3-2325-45B9-6100D808D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370BA-3864-54CA-EF41-5D57A91688E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3A1AEFD-EDBC-B96D-9A10-84F902D48927}"/>
              </a:ext>
            </a:extLst>
          </p:cNvPr>
          <p:cNvSpPr>
            <a:spLocks noGrp="1"/>
          </p:cNvSpPr>
          <p:nvPr>
            <p:ph type="sldNum" sz="quarter" idx="5"/>
          </p:nvPr>
        </p:nvSpPr>
        <p:spPr/>
        <p:txBody>
          <a:bodyPr/>
          <a:lstStyle/>
          <a:p>
            <a:fld id="{02DBD9AF-AE78-435B-BDB7-7959223117C3}" type="slidenum">
              <a:rPr lang="en-CA" smtClean="0"/>
              <a:t>45</a:t>
            </a:fld>
            <a:endParaRPr lang="en-CA"/>
          </a:p>
        </p:txBody>
      </p:sp>
    </p:spTree>
    <p:extLst>
      <p:ext uri="{BB962C8B-B14F-4D97-AF65-F5344CB8AC3E}">
        <p14:creationId xmlns:p14="http://schemas.microsoft.com/office/powerpoint/2010/main" val="4172498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C531-5DA3-CA2E-FDE9-423D5E7D2E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BE69867-0EE4-F46D-A420-AFB3464CC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7C71B31-2BF9-5E4A-4D2D-80D4CA617DA8}"/>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98DA066D-F2E4-536D-647C-4CD9490E531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2CC2941-F117-DCB5-B980-3163C191361C}"/>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91251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F5FB4-B696-3AD5-980F-7579F1E236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C54C012-0C7C-F445-841D-D071FE8653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AC13A14-8140-C0CA-521C-7F88074EAE14}"/>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FE2B5C35-35E1-D1A7-6EF4-5BB1A86E6D6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5A95859-1A6F-E30F-C996-2A1C4C03339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314121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94E5-E431-9270-4F7F-4C129C02D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40AA0AB-DDD7-14C7-0334-706EFE329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893A53-3323-52F7-416A-B76D87F2EB86}"/>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0784D244-5A8F-8F9B-3FAF-4A43563566B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CD5B4A6-D07D-C7DF-98F0-567512C3D8B2}"/>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52819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89E2-1090-B294-42BF-8FDD2FA2EC5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8A956D-647F-B00F-A95C-133B0A03B8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4518419-7CBA-972A-FBB5-F0128B43D9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E184012-5F5C-1DA6-0544-BA9467EBD908}"/>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6" name="Footer Placeholder 5">
            <a:extLst>
              <a:ext uri="{FF2B5EF4-FFF2-40B4-BE49-F238E27FC236}">
                <a16:creationId xmlns:a16="http://schemas.microsoft.com/office/drawing/2014/main" id="{E135126D-BB2D-0610-0F0E-DBCDE1D58A4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0847C6A-64F2-355B-A1A2-979859AE7B20}"/>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32842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33B65-D86D-817C-C30B-EAB139F3B4D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1CDBCB5-128C-5588-68B3-16924561C5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E041F-FBDD-0B66-7110-C640885F76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6D69943-3E18-1A2C-BA39-5187A14314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736C1-E465-F3DC-66EA-13FC2F8D59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F64C5BA-C432-C266-5F43-E8EFCF843082}"/>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8" name="Footer Placeholder 7">
            <a:extLst>
              <a:ext uri="{FF2B5EF4-FFF2-40B4-BE49-F238E27FC236}">
                <a16:creationId xmlns:a16="http://schemas.microsoft.com/office/drawing/2014/main" id="{6D761B18-8DAB-8E5C-2910-BEDB174FB6C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6D96C07-9C4A-5762-3268-B66AC76D9A2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75343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4F076-C11E-1A79-45A4-FDD4933C4C7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0B0088C-46DF-3E79-33D9-41ED0CCB77E4}"/>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4" name="Footer Placeholder 3">
            <a:extLst>
              <a:ext uri="{FF2B5EF4-FFF2-40B4-BE49-F238E27FC236}">
                <a16:creationId xmlns:a16="http://schemas.microsoft.com/office/drawing/2014/main" id="{0F2D5FD7-6F7F-4F4D-6267-81BAB448430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BD0B0193-289E-7816-8710-D7ED27EDCB55}"/>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2481625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1913A-8787-A1DF-04EE-45ECA336E5E2}"/>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3" name="Footer Placeholder 2">
            <a:extLst>
              <a:ext uri="{FF2B5EF4-FFF2-40B4-BE49-F238E27FC236}">
                <a16:creationId xmlns:a16="http://schemas.microsoft.com/office/drawing/2014/main" id="{D256EE3E-91E9-42B6-AC8E-2C1FA1DF608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AF5E219-A388-0D10-B8CF-12DD0F4C36F1}"/>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3043996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F54CD-BEB8-B785-9B61-6F1C93632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08D01BA-190D-F0A1-2AC0-C18B1C8B0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70D6B88-030E-B3A8-9401-F5795883B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1D7C7-B80D-1116-4045-03C0DE994A24}"/>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6" name="Footer Placeholder 5">
            <a:extLst>
              <a:ext uri="{FF2B5EF4-FFF2-40B4-BE49-F238E27FC236}">
                <a16:creationId xmlns:a16="http://schemas.microsoft.com/office/drawing/2014/main" id="{AD7ED88A-9B8F-CEC0-3906-9D83D93B127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3F6B21F-0C4D-EA06-3CA7-6C291B2126E3}"/>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77294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22D4-85E8-3420-AA55-3B69BD0D6B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B90BCF-A676-EEEC-2F4A-01AA0A8AB1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B99D43C-5C17-5EE9-CD0B-065D0213F1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0899D4-20D4-0001-A420-FB3EA8CC1630}"/>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6" name="Footer Placeholder 5">
            <a:extLst>
              <a:ext uri="{FF2B5EF4-FFF2-40B4-BE49-F238E27FC236}">
                <a16:creationId xmlns:a16="http://schemas.microsoft.com/office/drawing/2014/main" id="{A5C32237-479A-D1E9-E512-B01A3424A2F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6602209-632A-39F3-5CF5-E0AC1DF63804}"/>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13785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6728-B6B5-0441-636E-088BA8454A5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27BBDCC-9B35-4FAB-E7FA-6041C34D22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2699C2E-8E9C-BFAA-263A-F2BC4A2CC4DB}"/>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96D99F91-28A5-9A44-5423-C4D2ABAD0BC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F8EEBB-5BED-884B-64D1-529B9DC492D4}"/>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417150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E35CB-34BE-0A02-972C-361EADC9E3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E5DA809-A71E-8438-C492-6411E7E45A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93D1EC1-7F6A-41D8-53F5-9462EAC94F73}"/>
              </a:ext>
            </a:extLst>
          </p:cNvPr>
          <p:cNvSpPr>
            <a:spLocks noGrp="1"/>
          </p:cNvSpPr>
          <p:nvPr>
            <p:ph type="dt" sz="half" idx="10"/>
          </p:nvPr>
        </p:nvSpPr>
        <p:spPr/>
        <p:txBody>
          <a:body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589848E6-B4C7-CA70-5A09-90B6A084333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924F59-C009-8E60-AB62-CCA8610A3129}"/>
              </a:ext>
            </a:extLst>
          </p:cNvPr>
          <p:cNvSpPr>
            <a:spLocks noGrp="1"/>
          </p:cNvSpPr>
          <p:nvPr>
            <p:ph type="sldNum" sz="quarter" idx="12"/>
          </p:nvPr>
        </p:nvSpPr>
        <p:spPr/>
        <p:txBody>
          <a:bodyPr/>
          <a:lstStyle/>
          <a:p>
            <a:fld id="{354D58FD-F4A6-43A9-A5E7-46B876E800CD}" type="slidenum">
              <a:rPr lang="en-CA" smtClean="0"/>
              <a:t>‹#›</a:t>
            </a:fld>
            <a:endParaRPr lang="en-CA"/>
          </a:p>
        </p:txBody>
      </p:sp>
    </p:spTree>
    <p:extLst>
      <p:ext uri="{BB962C8B-B14F-4D97-AF65-F5344CB8AC3E}">
        <p14:creationId xmlns:p14="http://schemas.microsoft.com/office/powerpoint/2010/main" val="283550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0F1B85-09E1-1EBD-F407-DF611541A8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EFADCE8-1B00-82ED-0DBA-FDD05DA474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4DDB2F-3779-C5CE-1272-869B5D1762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FDC52B-C376-4889-8A2B-994EE086F39A}" type="datetimeFigureOut">
              <a:rPr lang="en-CA" smtClean="0"/>
              <a:t>2025-06-05</a:t>
            </a:fld>
            <a:endParaRPr lang="en-CA"/>
          </a:p>
        </p:txBody>
      </p:sp>
      <p:sp>
        <p:nvSpPr>
          <p:cNvPr id="5" name="Footer Placeholder 4">
            <a:extLst>
              <a:ext uri="{FF2B5EF4-FFF2-40B4-BE49-F238E27FC236}">
                <a16:creationId xmlns:a16="http://schemas.microsoft.com/office/drawing/2014/main" id="{06A152EC-494E-A05B-6D9E-5A9D2DF5F0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1587490-54F8-2973-AFB0-E1DDC69BF4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4D58FD-F4A6-43A9-A5E7-46B876E800CD}" type="slidenum">
              <a:rPr lang="en-CA" smtClean="0"/>
              <a:t>‹#›</a:t>
            </a:fld>
            <a:endParaRPr lang="en-CA"/>
          </a:p>
        </p:txBody>
      </p:sp>
    </p:spTree>
    <p:extLst>
      <p:ext uri="{BB962C8B-B14F-4D97-AF65-F5344CB8AC3E}">
        <p14:creationId xmlns:p14="http://schemas.microsoft.com/office/powerpoint/2010/main" val="252655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92C99E-B598-9BB6-9EB7-61E61B9C4388}"/>
              </a:ext>
            </a:extLst>
          </p:cNvPr>
          <p:cNvPicPr>
            <a:picLocks noChangeAspect="1"/>
          </p:cNvPicPr>
          <p:nvPr/>
        </p:nvPicPr>
        <p:blipFill>
          <a:blip r:embed="rId2"/>
          <a:stretch>
            <a:fillRect/>
          </a:stretch>
        </p:blipFill>
        <p:spPr>
          <a:xfrm>
            <a:off x="0" y="0"/>
            <a:ext cx="12192000" cy="3520440"/>
          </a:xfrm>
          <a:prstGeom prst="rect">
            <a:avLst/>
          </a:prstGeom>
        </p:spPr>
      </p:pic>
      <p:sp>
        <p:nvSpPr>
          <p:cNvPr id="6" name="TextBox 5">
            <a:extLst>
              <a:ext uri="{FF2B5EF4-FFF2-40B4-BE49-F238E27FC236}">
                <a16:creationId xmlns:a16="http://schemas.microsoft.com/office/drawing/2014/main" id="{5C13A407-28A4-4989-473D-53FE733E9671}"/>
              </a:ext>
            </a:extLst>
          </p:cNvPr>
          <p:cNvSpPr txBox="1"/>
          <p:nvPr/>
        </p:nvSpPr>
        <p:spPr>
          <a:xfrm>
            <a:off x="1612490" y="1375499"/>
            <a:ext cx="8967019" cy="1446550"/>
          </a:xfrm>
          <a:prstGeom prst="rect">
            <a:avLst/>
          </a:prstGeom>
          <a:noFill/>
        </p:spPr>
        <p:txBody>
          <a:bodyPr wrap="square" rtlCol="0">
            <a:spAutoFit/>
          </a:bodyPr>
          <a:lstStyle/>
          <a:p>
            <a:pPr algn="ctr"/>
            <a:r>
              <a:rPr lang="en-US" sz="4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2" name="TextBox 1">
            <a:extLst>
              <a:ext uri="{FF2B5EF4-FFF2-40B4-BE49-F238E27FC236}">
                <a16:creationId xmlns:a16="http://schemas.microsoft.com/office/drawing/2014/main" id="{CF54A542-43C2-74E9-2B44-F5386755BEF4}"/>
              </a:ext>
            </a:extLst>
          </p:cNvPr>
          <p:cNvSpPr txBox="1"/>
          <p:nvPr/>
        </p:nvSpPr>
        <p:spPr>
          <a:xfrm>
            <a:off x="169544" y="4312253"/>
            <a:ext cx="11852910" cy="1137684"/>
          </a:xfrm>
          <a:prstGeom prst="rect">
            <a:avLst/>
          </a:prstGeom>
          <a:noFill/>
        </p:spPr>
        <p:txBody>
          <a:bodyPr wrap="square">
            <a:spAutoFit/>
          </a:bodyPr>
          <a:lstStyle/>
          <a:p>
            <a:pPr lvl="1" algn="ctr">
              <a:lnSpc>
                <a:spcPct val="150000"/>
              </a:lnSpc>
            </a:pPr>
            <a:r>
              <a:rPr lang="en-US" sz="2400" dirty="0">
                <a:effectLst>
                  <a:outerShdw blurRad="38100" dist="38100" dir="2700000" algn="tl">
                    <a:srgbClr val="000000">
                      <a:alpha val="43137"/>
                    </a:srgbClr>
                  </a:outerShdw>
                </a:effectLst>
                <a:latin typeface="Bookman Old Style" panose="02050604050505020204" pitchFamily="18" charset="0"/>
              </a:rPr>
              <a:t>Chapter 15 – </a:t>
            </a:r>
          </a:p>
          <a:p>
            <a:pPr lvl="1" algn="ctr">
              <a:lnSpc>
                <a:spcPct val="150000"/>
              </a:lnSpc>
            </a:pPr>
            <a:r>
              <a:rPr lang="en-US" sz="2400" dirty="0">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Tree>
    <p:extLst>
      <p:ext uri="{BB962C8B-B14F-4D97-AF65-F5344CB8AC3E}">
        <p14:creationId xmlns:p14="http://schemas.microsoft.com/office/powerpoint/2010/main" val="4244075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F982-F4F0-6642-83CC-C673888D73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E8214E-F585-C62C-2A02-C31EE4700576}"/>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2181E4AC-65BE-DD68-78BA-4BFEF945F771}"/>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2" name="Rectangle 1">
            <a:extLst>
              <a:ext uri="{FF2B5EF4-FFF2-40B4-BE49-F238E27FC236}">
                <a16:creationId xmlns:a16="http://schemas.microsoft.com/office/drawing/2014/main" id="{53C98441-DB3B-8EB7-2162-49BEA9A8F482}"/>
              </a:ext>
            </a:extLst>
          </p:cNvPr>
          <p:cNvSpPr/>
          <p:nvPr/>
        </p:nvSpPr>
        <p:spPr>
          <a:xfrm>
            <a:off x="-2" y="1221723"/>
            <a:ext cx="6281929"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React Native Components</a:t>
            </a:r>
            <a:endParaRPr lang="en-CA" sz="2200" dirty="0">
              <a:solidFill>
                <a:srgbClr val="FFFF00"/>
              </a:solidFill>
            </a:endParaRPr>
          </a:p>
        </p:txBody>
      </p:sp>
      <p:sp>
        <p:nvSpPr>
          <p:cNvPr id="27" name="TextBox 26">
            <a:extLst>
              <a:ext uri="{FF2B5EF4-FFF2-40B4-BE49-F238E27FC236}">
                <a16:creationId xmlns:a16="http://schemas.microsoft.com/office/drawing/2014/main" id="{4CD21D77-45FA-0AC8-6D23-EA3952E9F4DA}"/>
              </a:ext>
            </a:extLst>
          </p:cNvPr>
          <p:cNvSpPr txBox="1"/>
          <p:nvPr/>
        </p:nvSpPr>
        <p:spPr>
          <a:xfrm>
            <a:off x="162306" y="1672744"/>
            <a:ext cx="11852910" cy="281012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React Native Components</a:t>
            </a:r>
            <a:r>
              <a:rPr lang="en-US" sz="2000" dirty="0">
                <a:effectLst>
                  <a:outerShdw blurRad="38100" dist="38100" dir="2700000" algn="tl">
                    <a:srgbClr val="000000">
                      <a:alpha val="43137"/>
                    </a:srgbClr>
                  </a:outerShdw>
                </a:effectLst>
                <a:latin typeface="Bookman Old Style" panose="02050604050505020204" pitchFamily="18" charset="0"/>
              </a:rPr>
              <a:t>(elements) are the </a:t>
            </a:r>
            <a:r>
              <a:rPr lang="en-US" sz="2000" b="1" dirty="0">
                <a:effectLst>
                  <a:outerShdw blurRad="38100" dist="38100" dir="2700000" algn="tl">
                    <a:srgbClr val="000000">
                      <a:alpha val="43137"/>
                    </a:srgbClr>
                  </a:outerShdw>
                </a:effectLst>
                <a:latin typeface="Bookman Old Style" panose="02050604050505020204" pitchFamily="18" charset="0"/>
              </a:rPr>
              <a:t>building blocks of a React Native application</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They are </a:t>
            </a:r>
            <a:r>
              <a:rPr lang="en-US" sz="2000" b="1" dirty="0">
                <a:effectLst>
                  <a:outerShdw blurRad="38100" dist="38100" dir="2700000" algn="tl">
                    <a:srgbClr val="000000">
                      <a:alpha val="43137"/>
                    </a:srgbClr>
                  </a:outerShdw>
                </a:effectLst>
                <a:latin typeface="Bookman Old Style" panose="02050604050505020204" pitchFamily="18" charset="0"/>
              </a:rPr>
              <a:t>reusable UI elements that help developers build interfaces for mobile apps </a:t>
            </a:r>
            <a:r>
              <a:rPr lang="en-US" sz="2000" dirty="0">
                <a:effectLst>
                  <a:outerShdw blurRad="38100" dist="38100" dir="2700000" algn="tl">
                    <a:srgbClr val="000000">
                      <a:alpha val="43137"/>
                    </a:srgbClr>
                  </a:outerShdw>
                </a:effectLst>
                <a:latin typeface="Bookman Old Style" panose="02050604050505020204" pitchFamily="18" charset="0"/>
              </a:rPr>
              <a:t>using </a:t>
            </a:r>
            <a:r>
              <a:rPr lang="en-US" sz="2000" b="1" dirty="0">
                <a:effectLst>
                  <a:outerShdw blurRad="38100" dist="38100" dir="2700000" algn="tl">
                    <a:srgbClr val="000000">
                      <a:alpha val="43137"/>
                    </a:srgbClr>
                  </a:outerShdw>
                </a:effectLst>
                <a:latin typeface="Bookman Old Style" panose="02050604050505020204" pitchFamily="18" charset="0"/>
              </a:rPr>
              <a:t>JavaScript/TypeScript and React</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Describes </a:t>
            </a:r>
            <a:r>
              <a:rPr lang="en-US" sz="2000" b="1" dirty="0">
                <a:effectLst>
                  <a:outerShdw blurRad="38100" dist="38100" dir="2700000" algn="tl">
                    <a:srgbClr val="000000">
                      <a:alpha val="43137"/>
                    </a:srgbClr>
                  </a:outerShdw>
                </a:effectLst>
                <a:latin typeface="Bookman Old Style" panose="02050604050505020204" pitchFamily="18" charset="0"/>
              </a:rPr>
              <a:t>how the app looks and behaves </a:t>
            </a:r>
            <a:r>
              <a:rPr lang="en-US" sz="2000" dirty="0">
                <a:effectLst>
                  <a:outerShdw blurRad="38100" dist="38100" dir="2700000" algn="tl">
                    <a:srgbClr val="000000">
                      <a:alpha val="43137"/>
                    </a:srgbClr>
                  </a:outerShdw>
                </a:effectLst>
                <a:latin typeface="Bookman Old Style" panose="02050604050505020204" pitchFamily="18" charset="0"/>
              </a:rPr>
              <a:t>using JavaScript/TypeScript + React</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Components </a:t>
            </a:r>
            <a:r>
              <a:rPr lang="en-US" sz="2000" b="1" dirty="0">
                <a:effectLst>
                  <a:outerShdw blurRad="38100" dist="38100" dir="2700000" algn="tl">
                    <a:srgbClr val="000000">
                      <a:alpha val="43137"/>
                    </a:srgbClr>
                  </a:outerShdw>
                </a:effectLst>
                <a:latin typeface="Bookman Old Style" panose="02050604050505020204" pitchFamily="18" charset="0"/>
              </a:rPr>
              <a:t>are reusable and nestable</a:t>
            </a:r>
          </a:p>
        </p:txBody>
      </p:sp>
      <p:pic>
        <p:nvPicPr>
          <p:cNvPr id="13" name="Picture 12">
            <a:extLst>
              <a:ext uri="{FF2B5EF4-FFF2-40B4-BE49-F238E27FC236}">
                <a16:creationId xmlns:a16="http://schemas.microsoft.com/office/drawing/2014/main" id="{35C9AC1A-0606-DCB5-D345-3120787757D1}"/>
              </a:ext>
            </a:extLst>
          </p:cNvPr>
          <p:cNvPicPr>
            <a:picLocks noChangeAspect="1"/>
          </p:cNvPicPr>
          <p:nvPr/>
        </p:nvPicPr>
        <p:blipFill>
          <a:blip r:embed="rId3"/>
          <a:stretch>
            <a:fillRect/>
          </a:stretch>
        </p:blipFill>
        <p:spPr>
          <a:xfrm>
            <a:off x="4523903" y="4617720"/>
            <a:ext cx="4200058" cy="2152174"/>
          </a:xfrm>
          <a:prstGeom prst="rect">
            <a:avLst/>
          </a:prstGeom>
        </p:spPr>
      </p:pic>
    </p:spTree>
    <p:extLst>
      <p:ext uri="{BB962C8B-B14F-4D97-AF65-F5344CB8AC3E}">
        <p14:creationId xmlns:p14="http://schemas.microsoft.com/office/powerpoint/2010/main" val="146462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738E-97F6-2A22-EBEF-4516BF1710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1C0EAE-7791-CE74-C99A-D5CF00FB40D1}"/>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FAE6E9B-6168-9783-4497-A0CC378F26FB}"/>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2" name="Rectangle 1">
            <a:extLst>
              <a:ext uri="{FF2B5EF4-FFF2-40B4-BE49-F238E27FC236}">
                <a16:creationId xmlns:a16="http://schemas.microsoft.com/office/drawing/2014/main" id="{ADF46E23-E1A6-8F12-528A-08DC7E795378}"/>
              </a:ext>
            </a:extLst>
          </p:cNvPr>
          <p:cNvSpPr/>
          <p:nvPr/>
        </p:nvSpPr>
        <p:spPr>
          <a:xfrm>
            <a:off x="-1" y="1221723"/>
            <a:ext cx="4480562"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Views in Mobile Development</a:t>
            </a:r>
            <a:endParaRPr lang="en-CA" sz="2200" dirty="0">
              <a:solidFill>
                <a:srgbClr val="FFFF00"/>
              </a:solidFill>
            </a:endParaRPr>
          </a:p>
        </p:txBody>
      </p:sp>
      <p:sp>
        <p:nvSpPr>
          <p:cNvPr id="27" name="TextBox 26">
            <a:extLst>
              <a:ext uri="{FF2B5EF4-FFF2-40B4-BE49-F238E27FC236}">
                <a16:creationId xmlns:a16="http://schemas.microsoft.com/office/drawing/2014/main" id="{35B507EE-3E9D-899B-05A6-CE0D833ABD93}"/>
              </a:ext>
            </a:extLst>
          </p:cNvPr>
          <p:cNvSpPr txBox="1"/>
          <p:nvPr/>
        </p:nvSpPr>
        <p:spPr>
          <a:xfrm>
            <a:off x="162306" y="1672744"/>
            <a:ext cx="11852910" cy="142513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In native Android/iOS, a </a:t>
            </a:r>
            <a:r>
              <a:rPr lang="en-US" sz="2000" b="1" dirty="0">
                <a:effectLst>
                  <a:outerShdw blurRad="38100" dist="38100" dir="2700000" algn="tl">
                    <a:srgbClr val="000000">
                      <a:alpha val="43137"/>
                    </a:srgbClr>
                  </a:outerShdw>
                </a:effectLst>
                <a:latin typeface="Bookman Old Style" panose="02050604050505020204" pitchFamily="18" charset="0"/>
              </a:rPr>
              <a:t>view = smallest UI unit </a:t>
            </a:r>
            <a:r>
              <a:rPr lang="en-US" sz="2000" dirty="0">
                <a:effectLst>
                  <a:outerShdw blurRad="38100" dist="38100" dir="2700000" algn="tl">
                    <a:srgbClr val="000000">
                      <a:alpha val="43137"/>
                    </a:srgbClr>
                  </a:outerShdw>
                </a:effectLst>
                <a:latin typeface="Bookman Old Style" panose="02050604050505020204" pitchFamily="18" charset="0"/>
              </a:rPr>
              <a:t>(text, image, input, etc.)</a:t>
            </a:r>
          </a:p>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Views can contain other views </a:t>
            </a:r>
            <a:r>
              <a:rPr lang="en-US" sz="2000" dirty="0">
                <a:effectLst>
                  <a:outerShdw blurRad="38100" dist="38100" dir="2700000" algn="tl">
                    <a:srgbClr val="000000">
                      <a:alpha val="43137"/>
                    </a:srgbClr>
                  </a:outerShdw>
                </a:effectLst>
                <a:latin typeface="Bookman Old Style" panose="02050604050505020204" pitchFamily="18" charset="0"/>
              </a:rPr>
              <a:t>which forms a UI hierarchy</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In React Native, these </a:t>
            </a:r>
            <a:r>
              <a:rPr lang="en-US" sz="2000" b="1" dirty="0">
                <a:effectLst>
                  <a:outerShdw blurRad="38100" dist="38100" dir="2700000" algn="tl">
                    <a:srgbClr val="000000">
                      <a:alpha val="43137"/>
                    </a:srgbClr>
                  </a:outerShdw>
                </a:effectLst>
                <a:latin typeface="Bookman Old Style" panose="02050604050505020204" pitchFamily="18" charset="0"/>
              </a:rPr>
              <a:t>views are accessed using JavaScript-based components</a:t>
            </a:r>
          </a:p>
        </p:txBody>
      </p:sp>
    </p:spTree>
    <p:extLst>
      <p:ext uri="{BB962C8B-B14F-4D97-AF65-F5344CB8AC3E}">
        <p14:creationId xmlns:p14="http://schemas.microsoft.com/office/powerpoint/2010/main" val="1993353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9980-FFBB-7F85-5BE2-4F5A0CA0F06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26A971-937D-58B3-AEBF-60EAC60C5FC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5F31260-5CF9-03B2-2F5F-0E11538EA403}"/>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2" name="Rectangle 1">
            <a:extLst>
              <a:ext uri="{FF2B5EF4-FFF2-40B4-BE49-F238E27FC236}">
                <a16:creationId xmlns:a16="http://schemas.microsoft.com/office/drawing/2014/main" id="{FD26A874-BA0A-B96B-791A-580A8266EE6C}"/>
              </a:ext>
            </a:extLst>
          </p:cNvPr>
          <p:cNvSpPr/>
          <p:nvPr/>
        </p:nvSpPr>
        <p:spPr>
          <a:xfrm>
            <a:off x="-1" y="1221723"/>
            <a:ext cx="3255265"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Native Components</a:t>
            </a:r>
            <a:endParaRPr lang="en-CA" sz="2200" dirty="0">
              <a:solidFill>
                <a:srgbClr val="FFFF00"/>
              </a:solidFill>
            </a:endParaRPr>
          </a:p>
        </p:txBody>
      </p:sp>
      <p:sp>
        <p:nvSpPr>
          <p:cNvPr id="27" name="TextBox 26">
            <a:extLst>
              <a:ext uri="{FF2B5EF4-FFF2-40B4-BE49-F238E27FC236}">
                <a16:creationId xmlns:a16="http://schemas.microsoft.com/office/drawing/2014/main" id="{201FD892-8E1B-DF96-4501-CF4A9B4384D5}"/>
              </a:ext>
            </a:extLst>
          </p:cNvPr>
          <p:cNvSpPr txBox="1"/>
          <p:nvPr/>
        </p:nvSpPr>
        <p:spPr>
          <a:xfrm>
            <a:off x="162306" y="1672744"/>
            <a:ext cx="11852910" cy="23484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Native components are either Android or iOS Platform-backed UI elements </a:t>
            </a:r>
            <a:r>
              <a:rPr lang="en-US" sz="2000" dirty="0">
                <a:effectLst>
                  <a:outerShdw blurRad="38100" dist="38100" dir="2700000" algn="tl">
                    <a:srgbClr val="000000">
                      <a:alpha val="43137"/>
                    </a:srgbClr>
                  </a:outerShdw>
                </a:effectLst>
                <a:latin typeface="Bookman Old Style" panose="02050604050505020204" pitchFamily="18" charset="0"/>
              </a:rPr>
              <a:t>created via JavaScript/TypeScript in React Native</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They are mapped to Android (Kotlin/Java) and iOS (Swift/Objective-C) views</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They </a:t>
            </a:r>
            <a:r>
              <a:rPr lang="en-US" sz="2000" b="1" dirty="0">
                <a:effectLst>
                  <a:outerShdw blurRad="38100" dist="38100" dir="2700000" algn="tl">
                    <a:srgbClr val="000000">
                      <a:alpha val="43137"/>
                    </a:srgbClr>
                  </a:outerShdw>
                </a:effectLst>
                <a:latin typeface="Bookman Old Style" panose="02050604050505020204" pitchFamily="18" charset="0"/>
              </a:rPr>
              <a:t>give native performance and native look and feel</a:t>
            </a: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3781016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731A0-7040-D934-103D-BE2A1B5869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492CCD-B8F6-BA5C-4A6E-36058113605C}"/>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2D4949DE-769F-2330-37EE-84D55FE4B82C}"/>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4F7E81FF-7CAC-E862-EAAE-A4DB0B35BF74}"/>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Core Components</a:t>
            </a:r>
            <a:endParaRPr lang="en-CA" sz="2200" dirty="0">
              <a:solidFill>
                <a:srgbClr val="FFFF00"/>
              </a:solidFill>
            </a:endParaRPr>
          </a:p>
        </p:txBody>
      </p:sp>
      <p:sp>
        <p:nvSpPr>
          <p:cNvPr id="4" name="TextBox 3">
            <a:extLst>
              <a:ext uri="{FF2B5EF4-FFF2-40B4-BE49-F238E27FC236}">
                <a16:creationId xmlns:a16="http://schemas.microsoft.com/office/drawing/2014/main" id="{CE4BE70A-2D7C-60EA-09DD-C93A6A58086D}"/>
              </a:ext>
            </a:extLst>
          </p:cNvPr>
          <p:cNvSpPr txBox="1"/>
          <p:nvPr/>
        </p:nvSpPr>
        <p:spPr>
          <a:xfrm>
            <a:off x="89154" y="1499738"/>
            <a:ext cx="11852910" cy="493846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React Native runs on React</a:t>
            </a:r>
            <a:r>
              <a:rPr lang="en-US" sz="2000" dirty="0">
                <a:effectLst>
                  <a:outerShdw blurRad="38100" dist="38100" dir="2700000" algn="tl">
                    <a:srgbClr val="000000">
                      <a:alpha val="43137"/>
                    </a:srgbClr>
                  </a:outerShdw>
                </a:effectLst>
                <a:latin typeface="Bookman Old Style" panose="02050604050505020204" pitchFamily="18" charset="0"/>
              </a:rPr>
              <a:t>, a popular </a:t>
            </a:r>
            <a:r>
              <a:rPr lang="en-US" sz="2000" b="1" dirty="0">
                <a:effectLst>
                  <a:outerShdw blurRad="38100" dist="38100" dir="2700000" algn="tl">
                    <a:srgbClr val="000000">
                      <a:alpha val="43137"/>
                    </a:srgbClr>
                  </a:outerShdw>
                </a:effectLst>
                <a:latin typeface="Bookman Old Style" panose="02050604050505020204" pitchFamily="18" charset="0"/>
              </a:rPr>
              <a:t>open source library for building user interfaces with JavaScript/TypeScript</a:t>
            </a:r>
          </a:p>
          <a:p>
            <a:pPr marL="342900" indent="-342900">
              <a:lnSpc>
                <a:spcPct val="150000"/>
              </a:lnSpc>
              <a:buFont typeface="Arial" panose="020B0604020202020204" pitchFamily="34" charset="0"/>
              <a:buChar char="•"/>
            </a:pPr>
            <a:r>
              <a:rPr lang="en-US" sz="2000" b="1" dirty="0">
                <a:effectLst>
                  <a:outerShdw blurRad="38100" dist="38100" dir="2700000" algn="tl">
                    <a:srgbClr val="000000">
                      <a:alpha val="43137"/>
                    </a:srgbClr>
                  </a:outerShdw>
                </a:effectLst>
                <a:latin typeface="Bookman Old Style" panose="02050604050505020204" pitchFamily="18" charset="0"/>
              </a:rPr>
              <a:t>Core Components </a:t>
            </a:r>
            <a:r>
              <a:rPr lang="en-US" sz="2000" dirty="0">
                <a:effectLst>
                  <a:outerShdw blurRad="38100" dist="38100" dir="2700000" algn="tl">
                    <a:srgbClr val="000000">
                      <a:alpha val="43137"/>
                    </a:srgbClr>
                  </a:outerShdw>
                </a:effectLst>
                <a:latin typeface="Bookman Old Style" panose="02050604050505020204" pitchFamily="18" charset="0"/>
              </a:rPr>
              <a:t>in React Native are the </a:t>
            </a:r>
            <a:r>
              <a:rPr lang="en-US" sz="2000" b="1" dirty="0">
                <a:effectLst>
                  <a:outerShdw blurRad="38100" dist="38100" dir="2700000" algn="tl">
                    <a:srgbClr val="000000">
                      <a:alpha val="43137"/>
                    </a:srgbClr>
                  </a:outerShdw>
                </a:effectLst>
                <a:latin typeface="Bookman Old Style" panose="02050604050505020204" pitchFamily="18" charset="0"/>
              </a:rPr>
              <a:t>built‑in, cross‑platform UI primitives </a:t>
            </a:r>
            <a:r>
              <a:rPr lang="en-US" sz="2000" dirty="0">
                <a:effectLst>
                  <a:outerShdw blurRad="38100" dist="38100" dir="2700000" algn="tl">
                    <a:srgbClr val="000000">
                      <a:alpha val="43137"/>
                    </a:srgbClr>
                  </a:outerShdw>
                </a:effectLst>
                <a:latin typeface="Bookman Old Style" panose="02050604050505020204" pitchFamily="18" charset="0"/>
              </a:rPr>
              <a:t>that </a:t>
            </a:r>
            <a:r>
              <a:rPr lang="en-US" sz="2000" b="1" dirty="0">
                <a:effectLst>
                  <a:outerShdw blurRad="38100" dist="38100" dir="2700000" algn="tl">
                    <a:srgbClr val="000000">
                      <a:alpha val="43137"/>
                    </a:srgbClr>
                  </a:outerShdw>
                </a:effectLst>
                <a:latin typeface="Bookman Old Style" panose="02050604050505020204" pitchFamily="18" charset="0"/>
              </a:rPr>
              <a:t>map directly to the native widgets on iOS and Android</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They serve as the </a:t>
            </a:r>
            <a:r>
              <a:rPr lang="en-US" sz="2000" b="1" dirty="0">
                <a:effectLst>
                  <a:outerShdw blurRad="38100" dist="38100" dir="2700000" algn="tl">
                    <a:srgbClr val="000000">
                      <a:alpha val="43137"/>
                    </a:srgbClr>
                  </a:outerShdw>
                </a:effectLst>
                <a:latin typeface="Bookman Old Style" panose="02050604050505020204" pitchFamily="18" charset="0"/>
              </a:rPr>
              <a:t>foundation for building your app’s interface using JavaScript or TypeScript</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Key characteristics:</a:t>
            </a:r>
          </a:p>
          <a:p>
            <a:pPr marL="800100" lvl="1" indent="-34290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Native-backed: </a:t>
            </a:r>
            <a:r>
              <a:rPr lang="en-US" dirty="0">
                <a:effectLst>
                  <a:outerShdw blurRad="38100" dist="38100" dir="2700000" algn="tl">
                    <a:srgbClr val="000000">
                      <a:alpha val="43137"/>
                    </a:srgbClr>
                  </a:outerShdw>
                </a:effectLst>
                <a:latin typeface="Bookman Old Style" panose="02050604050505020204" pitchFamily="18" charset="0"/>
              </a:rPr>
              <a:t>Each core component corresponds to a platform view (e.g., &lt;View&gt; → </a:t>
            </a:r>
            <a:r>
              <a:rPr lang="en-US" dirty="0" err="1">
                <a:effectLst>
                  <a:outerShdw blurRad="38100" dist="38100" dir="2700000" algn="tl">
                    <a:srgbClr val="000000">
                      <a:alpha val="43137"/>
                    </a:srgbClr>
                  </a:outerShdw>
                </a:effectLst>
                <a:latin typeface="Bookman Old Style" panose="02050604050505020204" pitchFamily="18" charset="0"/>
              </a:rPr>
              <a:t>UIView</a:t>
            </a:r>
            <a:r>
              <a:rPr lang="en-US" dirty="0">
                <a:effectLst>
                  <a:outerShdw blurRad="38100" dist="38100" dir="2700000" algn="tl">
                    <a:srgbClr val="000000">
                      <a:alpha val="43137"/>
                    </a:srgbClr>
                  </a:outerShdw>
                </a:effectLst>
                <a:latin typeface="Bookman Old Style" panose="02050604050505020204" pitchFamily="18" charset="0"/>
              </a:rPr>
              <a:t> on iOS, </a:t>
            </a:r>
            <a:r>
              <a:rPr lang="en-US" dirty="0" err="1">
                <a:effectLst>
                  <a:outerShdw blurRad="38100" dist="38100" dir="2700000" algn="tl">
                    <a:srgbClr val="000000">
                      <a:alpha val="43137"/>
                    </a:srgbClr>
                  </a:outerShdw>
                </a:effectLst>
                <a:latin typeface="Bookman Old Style" panose="02050604050505020204" pitchFamily="18" charset="0"/>
              </a:rPr>
              <a:t>ViewGroup</a:t>
            </a:r>
            <a:r>
              <a:rPr lang="en-US" dirty="0">
                <a:effectLst>
                  <a:outerShdw blurRad="38100" dist="38100" dir="2700000" algn="tl">
                    <a:srgbClr val="000000">
                      <a:alpha val="43137"/>
                    </a:srgbClr>
                  </a:outerShdw>
                </a:effectLst>
                <a:latin typeface="Bookman Old Style" panose="02050604050505020204" pitchFamily="18" charset="0"/>
              </a:rPr>
              <a:t> on Android)</a:t>
            </a:r>
          </a:p>
          <a:p>
            <a:pPr marL="800100" lvl="1" indent="-34290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Reusable &amp; Composable:</a:t>
            </a:r>
            <a:r>
              <a:rPr lang="en-US" dirty="0">
                <a:effectLst>
                  <a:outerShdw blurRad="38100" dist="38100" dir="2700000" algn="tl">
                    <a:srgbClr val="000000">
                      <a:alpha val="43137"/>
                    </a:srgbClr>
                  </a:outerShdw>
                </a:effectLst>
                <a:latin typeface="Bookman Old Style" panose="02050604050505020204" pitchFamily="18" charset="0"/>
              </a:rPr>
              <a:t> You can nest them to create complex layouts</a:t>
            </a:r>
          </a:p>
          <a:p>
            <a:pPr marL="800100" lvl="1" indent="-34290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Styled with Flexbox: </a:t>
            </a:r>
            <a:r>
              <a:rPr lang="en-US" dirty="0">
                <a:effectLst>
                  <a:outerShdw blurRad="38100" dist="38100" dir="2700000" algn="tl">
                    <a:srgbClr val="000000">
                      <a:alpha val="43137"/>
                    </a:srgbClr>
                  </a:outerShdw>
                </a:effectLst>
                <a:latin typeface="Bookman Old Style" panose="02050604050505020204" pitchFamily="18" charset="0"/>
              </a:rPr>
              <a:t>Layout and positioning use the same Flexbox model as on the web</a:t>
            </a:r>
          </a:p>
        </p:txBody>
      </p:sp>
    </p:spTree>
    <p:extLst>
      <p:ext uri="{BB962C8B-B14F-4D97-AF65-F5344CB8AC3E}">
        <p14:creationId xmlns:p14="http://schemas.microsoft.com/office/powerpoint/2010/main" val="46861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D8DBD-CF53-2D76-31A7-DDEC0BC33D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15980A-2646-503C-A84A-2B80B95BBAF6}"/>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249F44C-832B-A936-10FC-E612A537143E}"/>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29EFABBB-6EE7-7FF6-3BD8-92803A252B69}"/>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Core Components</a:t>
            </a:r>
            <a:endParaRPr lang="en-CA" sz="2200" dirty="0">
              <a:solidFill>
                <a:srgbClr val="FFFF00"/>
              </a:solidFill>
            </a:endParaRPr>
          </a:p>
        </p:txBody>
      </p:sp>
      <p:sp>
        <p:nvSpPr>
          <p:cNvPr id="4" name="TextBox 3">
            <a:extLst>
              <a:ext uri="{FF2B5EF4-FFF2-40B4-BE49-F238E27FC236}">
                <a16:creationId xmlns:a16="http://schemas.microsoft.com/office/drawing/2014/main" id="{C8BC828A-B8C3-DC0D-981B-A973046F3C11}"/>
              </a:ext>
            </a:extLst>
          </p:cNvPr>
          <p:cNvSpPr txBox="1"/>
          <p:nvPr/>
        </p:nvSpPr>
        <p:spPr>
          <a:xfrm>
            <a:off x="89154" y="1499738"/>
            <a:ext cx="11852910" cy="465678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Common Core Components include:</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&lt;View&gt;: Container for layout, styling, touch handling</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&lt;Text&gt;: Displays styled text and supports nesting</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&lt;Image&gt;: Renders images from local assets or remote URIs</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a:t>
            </a:r>
            <a:r>
              <a:rPr lang="en-US" sz="2000" dirty="0" err="1">
                <a:effectLst>
                  <a:outerShdw blurRad="38100" dist="38100" dir="2700000" algn="tl">
                    <a:srgbClr val="000000">
                      <a:alpha val="43137"/>
                    </a:srgbClr>
                  </a:outerShdw>
                </a:effectLst>
                <a:latin typeface="Bookman Old Style" panose="02050604050505020204" pitchFamily="18" charset="0"/>
              </a:rPr>
              <a:t>ScrollView</a:t>
            </a:r>
            <a:r>
              <a:rPr lang="en-US" sz="2000" dirty="0">
                <a:effectLst>
                  <a:outerShdw blurRad="38100" dist="38100" dir="2700000" algn="tl">
                    <a:srgbClr val="000000">
                      <a:alpha val="43137"/>
                    </a:srgbClr>
                  </a:outerShdw>
                </a:effectLst>
                <a:latin typeface="Bookman Old Style" panose="02050604050505020204" pitchFamily="18" charset="0"/>
              </a:rPr>
              <a:t>&gt;: Scrollable container for content larger than the screen</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a:t>
            </a:r>
            <a:r>
              <a:rPr lang="en-US" sz="2000" dirty="0" err="1">
                <a:effectLst>
                  <a:outerShdw blurRad="38100" dist="38100" dir="2700000" algn="tl">
                    <a:srgbClr val="000000">
                      <a:alpha val="43137"/>
                    </a:srgbClr>
                  </a:outerShdw>
                </a:effectLst>
                <a:latin typeface="Bookman Old Style" panose="02050604050505020204" pitchFamily="18" charset="0"/>
              </a:rPr>
              <a:t>TextInput</a:t>
            </a:r>
            <a:r>
              <a:rPr lang="en-US" sz="2000" dirty="0">
                <a:effectLst>
                  <a:outerShdw blurRad="38100" dist="38100" dir="2700000" algn="tl">
                    <a:srgbClr val="000000">
                      <a:alpha val="43137"/>
                    </a:srgbClr>
                  </a:outerShdw>
                </a:effectLst>
                <a:latin typeface="Bookman Old Style" panose="02050604050505020204" pitchFamily="18" charset="0"/>
              </a:rPr>
              <a:t>&gt;: Single‑ or multi‑line text entry field</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a:t>
            </a:r>
            <a:r>
              <a:rPr lang="en-US" sz="2000" dirty="0" err="1">
                <a:effectLst>
                  <a:outerShdw blurRad="38100" dist="38100" dir="2700000" algn="tl">
                    <a:srgbClr val="000000">
                      <a:alpha val="43137"/>
                    </a:srgbClr>
                  </a:outerShdw>
                </a:effectLst>
                <a:latin typeface="Bookman Old Style" panose="02050604050505020204" pitchFamily="18" charset="0"/>
              </a:rPr>
              <a:t>TouchableOpacity</a:t>
            </a:r>
            <a:r>
              <a:rPr lang="en-US" sz="2000" dirty="0">
                <a:effectLst>
                  <a:outerShdw blurRad="38100" dist="38100" dir="2700000" algn="tl">
                    <a:srgbClr val="000000">
                      <a:alpha val="43137"/>
                    </a:srgbClr>
                  </a:outerShdw>
                </a:effectLst>
                <a:latin typeface="Bookman Old Style" panose="02050604050505020204" pitchFamily="18" charset="0"/>
              </a:rPr>
              <a:t>&gt;, &lt;Pressable&gt;: Wrap any component to make it touch‑responsive</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These primitives let you build rich, performant mobile UIs that </a:t>
            </a:r>
            <a:r>
              <a:rPr lang="en-US" sz="2000" b="1" dirty="0">
                <a:effectLst>
                  <a:outerShdw blurRad="38100" dist="38100" dir="2700000" algn="tl">
                    <a:srgbClr val="000000">
                      <a:alpha val="43137"/>
                    </a:srgbClr>
                  </a:outerShdw>
                </a:effectLst>
                <a:latin typeface="Bookman Old Style" panose="02050604050505020204" pitchFamily="18" charset="0"/>
              </a:rPr>
              <a:t>feel truly native </a:t>
            </a:r>
            <a:r>
              <a:rPr lang="en-US" sz="2000" dirty="0">
                <a:effectLst>
                  <a:outerShdw blurRad="38100" dist="38100" dir="2700000" algn="tl">
                    <a:srgbClr val="000000">
                      <a:alpha val="43137"/>
                    </a:srgbClr>
                  </a:outerShdw>
                </a:effectLst>
                <a:latin typeface="Bookman Old Style" panose="02050604050505020204" pitchFamily="18" charset="0"/>
              </a:rPr>
              <a:t>on both platforms</a:t>
            </a: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2687781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39AE-3A2A-0850-2433-A7F4877A4D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515CBE6-D825-4F16-B0DE-77D2E445341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5C364C5-C59E-3527-4FDE-A9363E47A2FA}"/>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BAB0D100-0F2D-7DC9-8D54-CEA6358DFD90}"/>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Core Components</a:t>
            </a:r>
            <a:endParaRPr lang="en-CA" sz="2200" dirty="0">
              <a:solidFill>
                <a:srgbClr val="FFFF00"/>
              </a:solidFill>
            </a:endParaRPr>
          </a:p>
        </p:txBody>
      </p:sp>
      <p:sp>
        <p:nvSpPr>
          <p:cNvPr id="4" name="TextBox 3">
            <a:extLst>
              <a:ext uri="{FF2B5EF4-FFF2-40B4-BE49-F238E27FC236}">
                <a16:creationId xmlns:a16="http://schemas.microsoft.com/office/drawing/2014/main" id="{580C99C7-4569-4945-5322-36654F7DB787}"/>
              </a:ext>
            </a:extLst>
          </p:cNvPr>
          <p:cNvSpPr txBox="1"/>
          <p:nvPr/>
        </p:nvSpPr>
        <p:spPr>
          <a:xfrm>
            <a:off x="89154" y="1499738"/>
            <a:ext cx="11852910" cy="23484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In this chapter, we’ll explore few commonly used components:</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&lt;View&gt;</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&lt;Text&gt;</a:t>
            </a:r>
          </a:p>
          <a:p>
            <a:pPr marL="800100" lvl="1" indent="-342900">
              <a:lnSpc>
                <a:spcPct val="150000"/>
              </a:lnSpc>
              <a:buFont typeface="Wingdings" panose="05000000000000000000" pitchFamily="2" charset="2"/>
              <a:buChar char="Ø"/>
            </a:pPr>
            <a:r>
              <a:rPr lang="en-US" sz="2000" dirty="0">
                <a:effectLst>
                  <a:outerShdw blurRad="38100" dist="38100" dir="2700000" algn="tl">
                    <a:srgbClr val="000000">
                      <a:alpha val="43137"/>
                    </a:srgbClr>
                  </a:outerShdw>
                </a:effectLst>
                <a:latin typeface="Bookman Old Style" panose="02050604050505020204" pitchFamily="18" charset="0"/>
              </a:rPr>
              <a:t>&lt;Image&gt;</a:t>
            </a: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382315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6B3D8-2595-92BB-F735-794B3DE65E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BAA51E-F3BF-64E5-8FAD-C66BB39F572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AA88368-5EB9-6B3D-67A8-16B399D856BF}"/>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C11353BF-400D-9811-6D99-0A14E0A7DE3F}"/>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E863E0A1-640D-E2D9-49F3-B285E93932BF}"/>
              </a:ext>
            </a:extLst>
          </p:cNvPr>
          <p:cNvSpPr txBox="1"/>
          <p:nvPr/>
        </p:nvSpPr>
        <p:spPr>
          <a:xfrm>
            <a:off x="89154" y="1499738"/>
            <a:ext cx="11852910" cy="419512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 </a:t>
            </a:r>
            <a:r>
              <a:rPr lang="en-US" sz="2000" b="1" dirty="0">
                <a:effectLst>
                  <a:outerShdw blurRad="38100" dist="38100" dir="2700000" algn="tl">
                    <a:srgbClr val="000000">
                      <a:alpha val="43137"/>
                    </a:srgbClr>
                  </a:outerShdw>
                </a:effectLst>
                <a:latin typeface="Bookman Old Style" panose="02050604050505020204" pitchFamily="18" charset="0"/>
              </a:rPr>
              <a:t>View component </a:t>
            </a:r>
            <a:r>
              <a:rPr lang="en-US" sz="2000" dirty="0">
                <a:effectLst>
                  <a:outerShdw blurRad="38100" dist="38100" dir="2700000" algn="tl">
                    <a:srgbClr val="000000">
                      <a:alpha val="43137"/>
                    </a:srgbClr>
                  </a:outerShdw>
                </a:effectLst>
                <a:latin typeface="Bookman Old Style" panose="02050604050505020204" pitchFamily="18" charset="0"/>
              </a:rPr>
              <a:t>is the </a:t>
            </a:r>
            <a:r>
              <a:rPr lang="en-US" sz="2000" b="1" dirty="0">
                <a:effectLst>
                  <a:outerShdw blurRad="38100" dist="38100" dir="2700000" algn="tl">
                    <a:srgbClr val="000000">
                      <a:alpha val="43137"/>
                    </a:srgbClr>
                  </a:outerShdw>
                </a:effectLst>
                <a:latin typeface="Bookman Old Style" panose="02050604050505020204" pitchFamily="18" charset="0"/>
              </a:rPr>
              <a:t>most fundamental building block for creating a UI in React Native</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It </a:t>
            </a:r>
            <a:r>
              <a:rPr lang="en-US" sz="2000" b="1" dirty="0">
                <a:effectLst>
                  <a:outerShdw blurRad="38100" dist="38100" dir="2700000" algn="tl">
                    <a:srgbClr val="000000">
                      <a:alpha val="43137"/>
                    </a:srgbClr>
                  </a:outerShdw>
                </a:effectLst>
                <a:latin typeface="Bookman Old Style" panose="02050604050505020204" pitchFamily="18" charset="0"/>
              </a:rPr>
              <a:t>acts as a container </a:t>
            </a:r>
            <a:r>
              <a:rPr lang="en-US" sz="2000" dirty="0">
                <a:effectLst>
                  <a:outerShdw blurRad="38100" dist="38100" dir="2700000" algn="tl">
                    <a:srgbClr val="000000">
                      <a:alpha val="43137"/>
                    </a:srgbClr>
                  </a:outerShdw>
                </a:effectLst>
                <a:latin typeface="Bookman Old Style" panose="02050604050505020204" pitchFamily="18" charset="0"/>
              </a:rPr>
              <a:t>that </a:t>
            </a:r>
            <a:r>
              <a:rPr lang="en-US" sz="2000" b="1" dirty="0">
                <a:effectLst>
                  <a:outerShdw blurRad="38100" dist="38100" dir="2700000" algn="tl">
                    <a:srgbClr val="000000">
                      <a:alpha val="43137"/>
                    </a:srgbClr>
                  </a:outerShdw>
                </a:effectLst>
                <a:latin typeface="Bookman Old Style" panose="02050604050505020204" pitchFamily="18" charset="0"/>
              </a:rPr>
              <a:t>supports layout using Flexbox, styles, basic touch handling, and accessibility features</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The View component directly maps to the native view of the platform, whether it's a </a:t>
            </a:r>
            <a:r>
              <a:rPr lang="en-US" sz="2000" dirty="0" err="1">
                <a:effectLst>
                  <a:outerShdw blurRad="38100" dist="38100" dir="2700000" algn="tl">
                    <a:srgbClr val="000000">
                      <a:alpha val="43137"/>
                    </a:srgbClr>
                  </a:outerShdw>
                </a:effectLst>
                <a:latin typeface="Bookman Old Style" panose="02050604050505020204" pitchFamily="18" charset="0"/>
              </a:rPr>
              <a:t>UIView</a:t>
            </a:r>
            <a:r>
              <a:rPr lang="en-US" sz="2000" dirty="0">
                <a:effectLst>
                  <a:outerShdw blurRad="38100" dist="38100" dir="2700000" algn="tl">
                    <a:srgbClr val="000000">
                      <a:alpha val="43137"/>
                    </a:srgbClr>
                  </a:outerShdw>
                </a:effectLst>
                <a:latin typeface="Bookman Old Style" panose="02050604050505020204" pitchFamily="18" charset="0"/>
              </a:rPr>
              <a:t> on iOS, a &lt;div&gt; on the web, or </a:t>
            </a:r>
            <a:r>
              <a:rPr lang="en-US" sz="2000" dirty="0" err="1">
                <a:effectLst>
                  <a:outerShdw blurRad="38100" dist="38100" dir="2700000" algn="tl">
                    <a:srgbClr val="000000">
                      <a:alpha val="43137"/>
                    </a:srgbClr>
                  </a:outerShdw>
                </a:effectLst>
                <a:latin typeface="Bookman Old Style" panose="02050604050505020204" pitchFamily="18" charset="0"/>
              </a:rPr>
              <a:t>android.view</a:t>
            </a:r>
            <a:r>
              <a:rPr lang="en-US" sz="2000" dirty="0">
                <a:effectLst>
                  <a:outerShdw blurRad="38100" dist="38100" dir="2700000" algn="tl">
                    <a:srgbClr val="000000">
                      <a:alpha val="43137"/>
                    </a:srgbClr>
                  </a:outerShdw>
                </a:effectLst>
                <a:latin typeface="Bookman Old Style" panose="02050604050505020204" pitchFamily="18" charset="0"/>
              </a:rPr>
              <a:t> on Android</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View is </a:t>
            </a:r>
            <a:r>
              <a:rPr lang="en-US" sz="2000" b="1" dirty="0">
                <a:effectLst>
                  <a:outerShdw blurRad="38100" dist="38100" dir="2700000" algn="tl">
                    <a:srgbClr val="000000">
                      <a:alpha val="43137"/>
                    </a:srgbClr>
                  </a:outerShdw>
                </a:effectLst>
                <a:latin typeface="Bookman Old Style" panose="02050604050505020204" pitchFamily="18" charset="0"/>
              </a:rPr>
              <a:t>designed to be nested within other views and can hold any number of child components</a:t>
            </a: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3638716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BF0DB-DE60-F1A3-4E71-4CA7AE4E722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7825C9-2D17-756A-27E6-168FEE0BE2BF}"/>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781D9D7A-DB8A-DAA7-C9B4-E463B427B184}"/>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42EE6766-8B8C-FB69-823B-5FE208081C91}"/>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4C4BE449-FE70-6393-38A1-E0D86D57CDD6}"/>
              </a:ext>
            </a:extLst>
          </p:cNvPr>
          <p:cNvSpPr txBox="1"/>
          <p:nvPr/>
        </p:nvSpPr>
        <p:spPr>
          <a:xfrm>
            <a:off x="89154" y="1499738"/>
            <a:ext cx="11852910" cy="511845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This example demonstrates how to create a </a:t>
            </a:r>
            <a:r>
              <a:rPr lang="en-US" sz="2000" b="1" dirty="0">
                <a:effectLst>
                  <a:outerShdw blurRad="38100" dist="38100" dir="2700000" algn="tl">
                    <a:srgbClr val="000000">
                      <a:alpha val="43137"/>
                    </a:srgbClr>
                  </a:outerShdw>
                </a:effectLst>
                <a:latin typeface="Bookman Old Style" panose="02050604050505020204" pitchFamily="18" charset="0"/>
              </a:rPr>
              <a:t>View that contains three colored boxes</a:t>
            </a: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Create a new React Native CLI application named ‘</a:t>
            </a:r>
            <a:r>
              <a:rPr lang="en-US" sz="2000" b="1" dirty="0" err="1">
                <a:effectLst>
                  <a:outerShdw blurRad="38100" dist="38100" dir="2700000" algn="tl">
                    <a:srgbClr val="000000">
                      <a:alpha val="43137"/>
                    </a:srgbClr>
                  </a:outerShdw>
                </a:effectLst>
                <a:latin typeface="Bookman Old Style" panose="02050604050505020204" pitchFamily="18" charset="0"/>
              </a:rPr>
              <a:t>DemoView</a:t>
            </a:r>
            <a:r>
              <a:rPr lang="en-US" sz="2000" dirty="0">
                <a:effectLst>
                  <a:outerShdw blurRad="38100" dist="38100" dir="2700000" algn="tl">
                    <a:srgbClr val="000000">
                      <a:alpha val="43137"/>
                    </a:srgbClr>
                  </a:outerShdw>
                </a:effectLst>
                <a:latin typeface="Bookman Old Style" panose="02050604050505020204" pitchFamily="18" charset="0"/>
              </a:rPr>
              <a:t>’</a:t>
            </a:r>
          </a:p>
          <a:p>
            <a:pPr>
              <a:lnSpc>
                <a:spcPct val="150000"/>
              </a:lnSpc>
            </a:pPr>
            <a:r>
              <a:rPr lang="en-US" sz="2000" dirty="0">
                <a:effectLst>
                  <a:outerShdw blurRad="38100" dist="38100" dir="2700000" algn="tl">
                    <a:srgbClr val="000000">
                      <a:alpha val="43137"/>
                    </a:srgbClr>
                  </a:outerShdw>
                </a:effectLst>
                <a:latin typeface="Bookman Old Style" panose="02050604050505020204" pitchFamily="18" charset="0"/>
              </a:rPr>
              <a:t>	</a:t>
            </a:r>
            <a:r>
              <a:rPr lang="en-US" sz="2000" b="1" dirty="0" err="1">
                <a:solidFill>
                  <a:srgbClr val="0070C0"/>
                </a:solidFill>
                <a:effectLst>
                  <a:outerShdw blurRad="38100" dist="38100" dir="2700000" algn="tl">
                    <a:srgbClr val="000000">
                      <a:alpha val="43137"/>
                    </a:srgbClr>
                  </a:outerShdw>
                </a:effectLst>
                <a:latin typeface="Bookman Old Style" panose="02050604050505020204" pitchFamily="18" charset="0"/>
              </a:rPr>
              <a:t>npx</a:t>
            </a:r>
            <a:r>
              <a:rPr lang="en-US" sz="2000" b="1" dirty="0">
                <a:effectLst>
                  <a:outerShdw blurRad="38100" dist="38100" dir="2700000" algn="tl">
                    <a:srgbClr val="000000">
                      <a:alpha val="43137"/>
                    </a:srgbClr>
                  </a:outerShdw>
                </a:effectLst>
                <a:latin typeface="Bookman Old Style" panose="02050604050505020204" pitchFamily="18" charset="0"/>
              </a:rPr>
              <a:t> @react-native-community/cli </a:t>
            </a:r>
            <a:r>
              <a:rPr lang="en-US" sz="2000" b="1" dirty="0" err="1">
                <a:effectLst>
                  <a:outerShdw blurRad="38100" dist="38100" dir="2700000" algn="tl">
                    <a:srgbClr val="000000">
                      <a:alpha val="43137"/>
                    </a:srgbClr>
                  </a:outerShdw>
                </a:effectLst>
                <a:latin typeface="Bookman Old Style" panose="02050604050505020204" pitchFamily="18" charset="0"/>
              </a:rPr>
              <a:t>init</a:t>
            </a:r>
            <a:r>
              <a:rPr lang="en-US" sz="2000" b="1" dirty="0">
                <a:effectLst>
                  <a:outerShdw blurRad="38100" dist="38100" dir="2700000" algn="tl">
                    <a:srgbClr val="000000">
                      <a:alpha val="43137"/>
                    </a:srgbClr>
                  </a:outerShdw>
                </a:effectLst>
                <a:latin typeface="Bookman Old Style" panose="02050604050505020204" pitchFamily="18" charset="0"/>
              </a:rPr>
              <a:t> </a:t>
            </a:r>
            <a:r>
              <a:rPr lang="en-US" sz="2000" b="1" dirty="0" err="1">
                <a:effectLst>
                  <a:outerShdw blurRad="38100" dist="38100" dir="2700000" algn="tl">
                    <a:srgbClr val="000000">
                      <a:alpha val="43137"/>
                    </a:srgbClr>
                  </a:outerShdw>
                </a:effectLst>
                <a:latin typeface="Bookman Old Style" panose="02050604050505020204" pitchFamily="18" charset="0"/>
              </a:rPr>
              <a:t>DemoView</a:t>
            </a:r>
            <a:endParaRPr lang="en-US" sz="2000" b="1"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sz="2000" b="1"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a:p>
            <a:pPr marL="342900" indent="-342900">
              <a:lnSpc>
                <a:spcPct val="150000"/>
              </a:lnSpc>
              <a:buFont typeface="Arial" panose="020B0604020202020204" pitchFamily="34" charset="0"/>
              <a:buChar char="•"/>
            </a:pPr>
            <a:endParaRPr lang="en-US" sz="2000" dirty="0">
              <a:effectLst>
                <a:outerShdw blurRad="38100" dist="38100" dir="2700000" algn="tl">
                  <a:srgbClr val="000000">
                    <a:alpha val="43137"/>
                  </a:srgbClr>
                </a:outerShdw>
              </a:effectLst>
              <a:latin typeface="Bookman Old Style" panose="02050604050505020204" pitchFamily="18" charset="0"/>
            </a:endParaRPr>
          </a:p>
          <a:p>
            <a:pPr marL="342900" indent="-342900">
              <a:lnSpc>
                <a:spcPct val="150000"/>
              </a:lnSpc>
              <a:buFont typeface="Arial" panose="020B0604020202020204" pitchFamily="34" charset="0"/>
              <a:buChar char="•"/>
            </a:pPr>
            <a:endParaRPr lang="en-US" sz="2000" dirty="0">
              <a:effectLst>
                <a:outerShdw blurRad="38100" dist="38100" dir="2700000" algn="tl">
                  <a:srgbClr val="000000">
                    <a:alpha val="43137"/>
                  </a:srgbClr>
                </a:outerShdw>
              </a:effectLst>
              <a:latin typeface="Bookman Old Style" panose="02050604050505020204" pitchFamily="18" charset="0"/>
            </a:endParaRPr>
          </a:p>
          <a:p>
            <a:pPr marL="342900" indent="-342900">
              <a:lnSpc>
                <a:spcPct val="150000"/>
              </a:lnSpc>
              <a:buFont typeface="Arial" panose="020B0604020202020204" pitchFamily="34" charset="0"/>
              <a:buChar char="•"/>
            </a:pPr>
            <a:endParaRPr lang="en-US" sz="2000"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Open the project in VS Code</a:t>
            </a:r>
          </a:p>
          <a:p>
            <a:pPr>
              <a:lnSpc>
                <a:spcPct val="150000"/>
              </a:lnSpc>
            </a:pPr>
            <a:endParaRPr lang="en-US" sz="2000" dirty="0">
              <a:effectLst>
                <a:outerShdw blurRad="38100" dist="38100" dir="2700000" algn="tl">
                  <a:srgbClr val="000000">
                    <a:alpha val="43137"/>
                  </a:srgbClr>
                </a:outerShdw>
              </a:effectLst>
              <a:latin typeface="Bookman Old Style" panose="02050604050505020204" pitchFamily="18" charset="0"/>
            </a:endParaRPr>
          </a:p>
        </p:txBody>
      </p:sp>
      <p:pic>
        <p:nvPicPr>
          <p:cNvPr id="7" name="Picture 6">
            <a:extLst>
              <a:ext uri="{FF2B5EF4-FFF2-40B4-BE49-F238E27FC236}">
                <a16:creationId xmlns:a16="http://schemas.microsoft.com/office/drawing/2014/main" id="{9D915A38-9919-2A8C-218B-96F083540E0D}"/>
              </a:ext>
            </a:extLst>
          </p:cNvPr>
          <p:cNvPicPr>
            <a:picLocks noChangeAspect="1"/>
          </p:cNvPicPr>
          <p:nvPr/>
        </p:nvPicPr>
        <p:blipFill>
          <a:blip r:embed="rId3"/>
          <a:stretch>
            <a:fillRect/>
          </a:stretch>
        </p:blipFill>
        <p:spPr>
          <a:xfrm>
            <a:off x="493775" y="3197784"/>
            <a:ext cx="8267900" cy="2380056"/>
          </a:xfrm>
          <a:prstGeom prst="rect">
            <a:avLst/>
          </a:prstGeom>
        </p:spPr>
      </p:pic>
    </p:spTree>
    <p:extLst>
      <p:ext uri="{BB962C8B-B14F-4D97-AF65-F5344CB8AC3E}">
        <p14:creationId xmlns:p14="http://schemas.microsoft.com/office/powerpoint/2010/main" val="811727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DD266-F888-9E91-C8F4-10BFB49578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460C07-45BB-F8B8-D773-1EC6A1C667F3}"/>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327090D-6AE4-5EEF-661C-F30175C1041E}"/>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C4CB8C26-0DB4-623A-2F10-2641C703FFBB}"/>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D38E50B2-10D2-C07F-B33A-5228433121E3}"/>
              </a:ext>
            </a:extLst>
          </p:cNvPr>
          <p:cNvSpPr txBox="1"/>
          <p:nvPr/>
        </p:nvSpPr>
        <p:spPr>
          <a:xfrm>
            <a:off x="89154" y="1499738"/>
            <a:ext cx="11852910" cy="443108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effectLst>
                  <a:outerShdw blurRad="38100" dist="38100" dir="2700000" algn="tl">
                    <a:srgbClr val="000000">
                      <a:alpha val="43137"/>
                    </a:srgbClr>
                  </a:outerShdw>
                </a:effectLst>
                <a:latin typeface="Bookman Old Style" panose="02050604050505020204" pitchFamily="18" charset="0"/>
              </a:rPr>
              <a:t>Replace </a:t>
            </a:r>
            <a:r>
              <a:rPr lang="en-US" sz="2000" b="1" dirty="0" err="1">
                <a:effectLst>
                  <a:outerShdw blurRad="38100" dist="38100" dir="2700000" algn="tl">
                    <a:srgbClr val="000000">
                      <a:alpha val="43137"/>
                    </a:srgbClr>
                  </a:outerShdw>
                </a:effectLst>
                <a:latin typeface="Bookman Old Style" panose="02050604050505020204" pitchFamily="18" charset="0"/>
              </a:rPr>
              <a:t>App.tsx</a:t>
            </a:r>
            <a:r>
              <a:rPr lang="en-US" sz="2000" b="1" dirty="0">
                <a:effectLst>
                  <a:outerShdw blurRad="38100" dist="38100" dir="2700000" algn="tl">
                    <a:srgbClr val="000000">
                      <a:alpha val="43137"/>
                    </a:srgbClr>
                  </a:outerShdw>
                </a:effectLst>
                <a:latin typeface="Bookman Old Style" panose="02050604050505020204" pitchFamily="18" charset="0"/>
              </a:rPr>
              <a:t> </a:t>
            </a:r>
            <a:r>
              <a:rPr lang="en-US" sz="2000" dirty="0">
                <a:effectLst>
                  <a:outerShdw blurRad="38100" dist="38100" dir="2700000" algn="tl">
                    <a:srgbClr val="000000">
                      <a:alpha val="43137"/>
                    </a:srgbClr>
                  </a:outerShdw>
                </a:effectLst>
                <a:latin typeface="Bookman Old Style" panose="02050604050505020204" pitchFamily="18" charset="0"/>
              </a:rPr>
              <a:t>with the below code</a:t>
            </a:r>
          </a:p>
          <a:p>
            <a:pPr marL="457200" indent="-457200">
              <a:lnSpc>
                <a:spcPct val="150000"/>
              </a:lnSpc>
              <a:buAutoNum type="arabicPeriod"/>
            </a:pPr>
            <a:r>
              <a:rPr lang="en-US" sz="2000" b="1" dirty="0">
                <a:effectLst>
                  <a:outerShdw blurRad="38100" dist="38100" dir="2700000" algn="tl">
                    <a:srgbClr val="000000">
                      <a:alpha val="43137"/>
                    </a:srgbClr>
                  </a:outerShdw>
                </a:effectLst>
                <a:latin typeface="Bookman Old Style" panose="02050604050505020204" pitchFamily="18" charset="0"/>
              </a:rPr>
              <a:t>Import the required modules:</a:t>
            </a:r>
          </a:p>
          <a:p>
            <a:pPr marL="457200" indent="-457200">
              <a:lnSpc>
                <a:spcPct val="150000"/>
              </a:lnSpc>
              <a:buAutoNum type="arabicPeriod"/>
            </a:pPr>
            <a:endParaRPr lang="en-US" sz="2000" b="1" dirty="0">
              <a:effectLst>
                <a:outerShdw blurRad="38100" dist="38100" dir="2700000" algn="tl">
                  <a:srgbClr val="000000">
                    <a:alpha val="43137"/>
                  </a:srgbClr>
                </a:outerShdw>
              </a:effectLst>
              <a:latin typeface="Bookman Old Style" panose="02050604050505020204" pitchFamily="18" charset="0"/>
            </a:endParaRPr>
          </a:p>
          <a:p>
            <a:pPr marL="457200" indent="-457200">
              <a:lnSpc>
                <a:spcPct val="150000"/>
              </a:lnSpc>
              <a:buAutoNum type="arabicPeriod"/>
            </a:pPr>
            <a:endParaRPr lang="en-US" sz="2000" b="1" dirty="0">
              <a:effectLst>
                <a:outerShdw blurRad="38100" dist="38100" dir="2700000" algn="tl">
                  <a:srgbClr val="000000">
                    <a:alpha val="43137"/>
                  </a:srgbClr>
                </a:outerShdw>
              </a:effectLst>
              <a:latin typeface="Bookman Old Style" panose="02050604050505020204" pitchFamily="18" charset="0"/>
            </a:endParaRPr>
          </a:p>
          <a:p>
            <a:pPr marL="457200" indent="-457200">
              <a:lnSpc>
                <a:spcPct val="150000"/>
              </a:lnSpc>
              <a:buAutoNum type="arabicPeriod"/>
            </a:pPr>
            <a:endParaRPr lang="en-US" sz="2000" b="1" dirty="0">
              <a:effectLst>
                <a:outerShdw blurRad="38100" dist="38100" dir="2700000" algn="tl">
                  <a:srgbClr val="000000">
                    <a:alpha val="43137"/>
                  </a:srgbClr>
                </a:outerShdw>
              </a:effectLst>
              <a:latin typeface="Bookman Old Style" panose="02050604050505020204" pitchFamily="18" charset="0"/>
            </a:endParaRPr>
          </a:p>
          <a:p>
            <a:pPr lvl="1">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Wingdings" panose="05000000000000000000" pitchFamily="2" charset="2"/>
              <a:buChar char="Ø"/>
            </a:pPr>
            <a:r>
              <a:rPr lang="en-US" b="1" dirty="0">
                <a:effectLst>
                  <a:outerShdw blurRad="38100" dist="38100" dir="2700000" algn="tl">
                    <a:srgbClr val="000000">
                      <a:alpha val="43137"/>
                    </a:srgbClr>
                  </a:outerShdw>
                </a:effectLst>
                <a:latin typeface="Bookman Old Style" panose="02050604050505020204" pitchFamily="18" charset="0"/>
              </a:rPr>
              <a:t>React: </a:t>
            </a:r>
            <a:r>
              <a:rPr lang="en-US" dirty="0">
                <a:effectLst>
                  <a:outerShdw blurRad="38100" dist="38100" dir="2700000" algn="tl">
                    <a:srgbClr val="000000">
                      <a:alpha val="43137"/>
                    </a:srgbClr>
                  </a:outerShdw>
                </a:effectLst>
                <a:latin typeface="Bookman Old Style" panose="02050604050505020204" pitchFamily="18" charset="0"/>
              </a:rPr>
              <a:t>Core library </a:t>
            </a:r>
            <a:r>
              <a:rPr lang="en-US" b="1" dirty="0">
                <a:effectLst>
                  <a:outerShdw blurRad="38100" dist="38100" dir="2700000" algn="tl">
                    <a:srgbClr val="000000">
                      <a:alpha val="43137"/>
                    </a:srgbClr>
                  </a:outerShdw>
                </a:effectLst>
                <a:latin typeface="Bookman Old Style" panose="02050604050505020204" pitchFamily="18" charset="0"/>
              </a:rPr>
              <a:t>to use React components</a:t>
            </a:r>
          </a:p>
          <a:p>
            <a:pPr marL="742950" lvl="1" indent="-285750">
              <a:lnSpc>
                <a:spcPct val="150000"/>
              </a:lnSpc>
              <a:buFont typeface="Wingdings" panose="05000000000000000000" pitchFamily="2" charset="2"/>
              <a:buChar char="Ø"/>
            </a:pPr>
            <a:r>
              <a:rPr lang="en-US" b="1" dirty="0">
                <a:effectLst>
                  <a:outerShdw blurRad="38100" dist="38100" dir="2700000" algn="tl">
                    <a:srgbClr val="000000">
                      <a:alpha val="43137"/>
                    </a:srgbClr>
                  </a:outerShdw>
                </a:effectLst>
                <a:latin typeface="Bookman Old Style" panose="02050604050505020204" pitchFamily="18" charset="0"/>
              </a:rPr>
              <a:t>View, Text: </a:t>
            </a:r>
            <a:r>
              <a:rPr lang="en-US" dirty="0">
                <a:effectLst>
                  <a:outerShdw blurRad="38100" dist="38100" dir="2700000" algn="tl">
                    <a:srgbClr val="000000">
                      <a:alpha val="43137"/>
                    </a:srgbClr>
                  </a:outerShdw>
                </a:effectLst>
                <a:latin typeface="Bookman Old Style" panose="02050604050505020204" pitchFamily="18" charset="0"/>
              </a:rPr>
              <a:t>React Native Core Components</a:t>
            </a:r>
          </a:p>
          <a:p>
            <a:pPr marL="742950" lvl="1" indent="-285750">
              <a:lnSpc>
                <a:spcPct val="150000"/>
              </a:lnSpc>
              <a:buFont typeface="Wingdings" panose="05000000000000000000" pitchFamily="2" charset="2"/>
              <a:buChar char="Ø"/>
            </a:pPr>
            <a:r>
              <a:rPr lang="en-US" b="1" dirty="0" err="1">
                <a:effectLst>
                  <a:outerShdw blurRad="38100" dist="38100" dir="2700000" algn="tl">
                    <a:srgbClr val="000000">
                      <a:alpha val="43137"/>
                    </a:srgbClr>
                  </a:outerShdw>
                </a:effectLst>
                <a:latin typeface="Bookman Old Style" panose="02050604050505020204" pitchFamily="18" charset="0"/>
              </a:rPr>
              <a:t>SafeAreaView</a:t>
            </a:r>
            <a:r>
              <a:rPr lang="en-US" b="1" dirty="0">
                <a:effectLst>
                  <a:outerShdw blurRad="38100" dist="38100" dir="2700000" algn="tl">
                    <a:srgbClr val="000000">
                      <a:alpha val="43137"/>
                    </a:srgbClr>
                  </a:outerShdw>
                </a:effectLst>
                <a:latin typeface="Bookman Old Style" panose="02050604050505020204" pitchFamily="18" charset="0"/>
              </a:rPr>
              <a:t>, </a:t>
            </a:r>
            <a:r>
              <a:rPr lang="en-US" b="1" dirty="0" err="1">
                <a:effectLst>
                  <a:outerShdw blurRad="38100" dist="38100" dir="2700000" algn="tl">
                    <a:srgbClr val="000000">
                      <a:alpha val="43137"/>
                    </a:srgbClr>
                  </a:outerShdw>
                </a:effectLst>
                <a:latin typeface="Bookman Old Style" panose="02050604050505020204" pitchFamily="18" charset="0"/>
              </a:rPr>
              <a:t>SafeAreaProvider</a:t>
            </a:r>
            <a:r>
              <a:rPr lang="en-US" b="1" dirty="0">
                <a:effectLst>
                  <a:outerShdw blurRad="38100" dist="38100" dir="2700000" algn="tl">
                    <a:srgbClr val="000000">
                      <a:alpha val="43137"/>
                    </a:srgbClr>
                  </a:outerShdw>
                </a:effectLst>
                <a:latin typeface="Bookman Old Style" panose="02050604050505020204" pitchFamily="18" charset="0"/>
              </a:rPr>
              <a:t>: </a:t>
            </a:r>
            <a:r>
              <a:rPr lang="en-US" dirty="0">
                <a:effectLst>
                  <a:outerShdw blurRad="38100" dist="38100" dir="2700000" algn="tl">
                    <a:srgbClr val="000000">
                      <a:alpha val="43137"/>
                    </a:srgbClr>
                  </a:outerShdw>
                </a:effectLst>
                <a:latin typeface="Bookman Old Style" panose="02050604050505020204" pitchFamily="18" charset="0"/>
              </a:rPr>
              <a:t>From react-native-safe-area-context, </a:t>
            </a:r>
            <a:r>
              <a:rPr lang="en-US" b="1" dirty="0">
                <a:effectLst>
                  <a:outerShdw blurRad="38100" dist="38100" dir="2700000" algn="tl">
                    <a:srgbClr val="000000">
                      <a:alpha val="43137"/>
                    </a:srgbClr>
                  </a:outerShdw>
                </a:effectLst>
                <a:latin typeface="Bookman Old Style" panose="02050604050505020204" pitchFamily="18" charset="0"/>
              </a:rPr>
              <a:t>used to prevent content from overlapping with notches, status bars, </a:t>
            </a:r>
            <a:r>
              <a:rPr lang="en-US" b="1" dirty="0" err="1">
                <a:effectLst>
                  <a:outerShdw blurRad="38100" dist="38100" dir="2700000" algn="tl">
                    <a:srgbClr val="000000">
                      <a:alpha val="43137"/>
                    </a:srgbClr>
                  </a:outerShdw>
                </a:effectLst>
                <a:latin typeface="Bookman Old Style" panose="02050604050505020204" pitchFamily="18" charset="0"/>
              </a:rPr>
              <a:t>etc</a:t>
            </a:r>
            <a:endParaRPr lang="en-US" b="1" dirty="0">
              <a:effectLst>
                <a:outerShdw blurRad="38100" dist="38100" dir="2700000" algn="tl">
                  <a:srgbClr val="000000">
                    <a:alpha val="43137"/>
                  </a:srgbClr>
                </a:outerShdw>
              </a:effectLst>
              <a:latin typeface="Bookman Old Style" panose="02050604050505020204" pitchFamily="18" charset="0"/>
            </a:endParaRPr>
          </a:p>
        </p:txBody>
      </p:sp>
      <p:pic>
        <p:nvPicPr>
          <p:cNvPr id="13" name="Picture 12">
            <a:extLst>
              <a:ext uri="{FF2B5EF4-FFF2-40B4-BE49-F238E27FC236}">
                <a16:creationId xmlns:a16="http://schemas.microsoft.com/office/drawing/2014/main" id="{BD139AF7-E68D-20FB-403C-96541569333A}"/>
              </a:ext>
            </a:extLst>
          </p:cNvPr>
          <p:cNvPicPr>
            <a:picLocks noChangeAspect="1"/>
          </p:cNvPicPr>
          <p:nvPr/>
        </p:nvPicPr>
        <p:blipFill>
          <a:blip r:embed="rId3"/>
          <a:stretch>
            <a:fillRect/>
          </a:stretch>
        </p:blipFill>
        <p:spPr>
          <a:xfrm>
            <a:off x="346860" y="2619262"/>
            <a:ext cx="11498280" cy="1619476"/>
          </a:xfrm>
          <a:prstGeom prst="rect">
            <a:avLst/>
          </a:prstGeom>
        </p:spPr>
      </p:pic>
    </p:spTree>
    <p:extLst>
      <p:ext uri="{BB962C8B-B14F-4D97-AF65-F5344CB8AC3E}">
        <p14:creationId xmlns:p14="http://schemas.microsoft.com/office/powerpoint/2010/main" val="361713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A74E6-479C-E544-8275-AB40D66826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CF5C7A-5437-43D0-F5D5-8E9A73A911B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9E8AADE4-8716-A634-87A2-F47436DA616F}"/>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6C5EF710-4832-B5D9-FE86-674A1F8E94C2}"/>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F0D48E94-BCF5-4536-8118-F7E5282AA348}"/>
              </a:ext>
            </a:extLst>
          </p:cNvPr>
          <p:cNvSpPr txBox="1"/>
          <p:nvPr/>
        </p:nvSpPr>
        <p:spPr>
          <a:xfrm>
            <a:off x="89154" y="1490594"/>
            <a:ext cx="11852910" cy="5490670"/>
          </a:xfrm>
          <a:prstGeom prst="rect">
            <a:avLst/>
          </a:prstGeom>
          <a:noFill/>
        </p:spPr>
        <p:txBody>
          <a:bodyPr wrap="square">
            <a:spAutoFit/>
          </a:bodyPr>
          <a:lstStyle/>
          <a:p>
            <a:pPr>
              <a:lnSpc>
                <a:spcPct val="150000"/>
              </a:lnSpc>
            </a:pPr>
            <a:r>
              <a:rPr lang="en-US" sz="2000" b="1" dirty="0">
                <a:effectLst>
                  <a:outerShdw blurRad="38100" dist="38100" dir="2700000" algn="tl">
                    <a:srgbClr val="000000">
                      <a:alpha val="43137"/>
                    </a:srgbClr>
                  </a:outerShdw>
                </a:effectLst>
                <a:latin typeface="Bookman Old Style" panose="02050604050505020204" pitchFamily="18" charset="0"/>
              </a:rPr>
              <a:t>2. </a:t>
            </a:r>
            <a:r>
              <a:rPr lang="en-US" sz="2000" b="1" dirty="0" err="1">
                <a:effectLst>
                  <a:outerShdw blurRad="38100" dist="38100" dir="2700000" algn="tl">
                    <a:srgbClr val="000000">
                      <a:alpha val="43137"/>
                    </a:srgbClr>
                  </a:outerShdw>
                </a:effectLst>
                <a:latin typeface="Bookman Old Style" panose="02050604050505020204" pitchFamily="18" charset="0"/>
              </a:rPr>
              <a:t>SafeAreaProvider</a:t>
            </a:r>
            <a:r>
              <a:rPr lang="en-US" sz="2000" b="1" dirty="0">
                <a:effectLst>
                  <a:outerShdw blurRad="38100" dist="38100" dir="2700000" algn="tl">
                    <a:srgbClr val="000000">
                      <a:alpha val="43137"/>
                    </a:srgbClr>
                  </a:outerShdw>
                </a:effectLst>
                <a:latin typeface="Bookman Old Style" panose="02050604050505020204" pitchFamily="18" charset="0"/>
              </a:rPr>
              <a:t>:</a:t>
            </a:r>
          </a:p>
          <a:p>
            <a:pPr marL="800100" lvl="1" indent="-34290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Acts as a </a:t>
            </a:r>
            <a:r>
              <a:rPr lang="en-US" b="1" dirty="0">
                <a:effectLst>
                  <a:outerShdw blurRad="38100" dist="38100" dir="2700000" algn="tl">
                    <a:srgbClr val="000000">
                      <a:alpha val="43137"/>
                    </a:srgbClr>
                  </a:outerShdw>
                </a:effectLst>
                <a:latin typeface="Bookman Old Style" panose="02050604050505020204" pitchFamily="18" charset="0"/>
              </a:rPr>
              <a:t>wrapper to provide safe area metrics </a:t>
            </a:r>
            <a:r>
              <a:rPr lang="en-US" dirty="0">
                <a:effectLst>
                  <a:outerShdw blurRad="38100" dist="38100" dir="2700000" algn="tl">
                    <a:srgbClr val="000000">
                      <a:alpha val="43137"/>
                    </a:srgbClr>
                  </a:outerShdw>
                </a:effectLst>
                <a:latin typeface="Bookman Old Style" panose="02050604050505020204" pitchFamily="18" charset="0"/>
              </a:rPr>
              <a:t>to child components</a:t>
            </a: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742950" lvl="1" indent="-285750">
              <a:lnSpc>
                <a:spcPct val="150000"/>
              </a:lnSpc>
              <a:buFont typeface="Wingdings" panose="05000000000000000000" pitchFamily="2" charset="2"/>
              <a:buChar char="Ø"/>
            </a:pPr>
            <a:r>
              <a:rPr lang="en-US" b="1" dirty="0" err="1">
                <a:effectLst>
                  <a:outerShdw blurRad="38100" dist="38100" dir="2700000" algn="tl">
                    <a:srgbClr val="000000">
                      <a:alpha val="43137"/>
                    </a:srgbClr>
                  </a:outerShdw>
                </a:effectLst>
                <a:latin typeface="Bookman Old Style" panose="02050604050505020204" pitchFamily="18" charset="0"/>
              </a:rPr>
              <a:t>ViewBoxes</a:t>
            </a:r>
            <a:r>
              <a:rPr lang="en-US" dirty="0">
                <a:effectLst>
                  <a:outerShdw blurRad="38100" dist="38100" dir="2700000" algn="tl">
                    <a:srgbClr val="000000">
                      <a:alpha val="43137"/>
                    </a:srgbClr>
                  </a:outerShdw>
                </a:effectLst>
                <a:latin typeface="Bookman Old Style" panose="02050604050505020204" pitchFamily="18" charset="0"/>
              </a:rPr>
              <a:t> is a </a:t>
            </a:r>
            <a:r>
              <a:rPr lang="en-US" b="1" dirty="0">
                <a:effectLst>
                  <a:outerShdw blurRad="38100" dist="38100" dir="2700000" algn="tl">
                    <a:srgbClr val="000000">
                      <a:alpha val="43137"/>
                    </a:srgbClr>
                  </a:outerShdw>
                </a:effectLst>
                <a:latin typeface="Bookman Old Style" panose="02050604050505020204" pitchFamily="18" charset="0"/>
              </a:rPr>
              <a:t>functional component (arrow function) that defines what the component renders </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In React Native, a </a:t>
            </a:r>
            <a:r>
              <a:rPr lang="en-US" b="1" dirty="0">
                <a:effectLst>
                  <a:outerShdw blurRad="38100" dist="38100" dir="2700000" algn="tl">
                    <a:srgbClr val="000000">
                      <a:alpha val="43137"/>
                    </a:srgbClr>
                  </a:outerShdw>
                </a:effectLst>
                <a:latin typeface="Bookman Old Style" panose="02050604050505020204" pitchFamily="18" charset="0"/>
              </a:rPr>
              <a:t>functional component is simply a JavaScript or TypeScript function that returns JSX (or TSX when using TypeScript) – a syntax used to describe the structure of the UI</a:t>
            </a:r>
          </a:p>
        </p:txBody>
      </p:sp>
      <p:pic>
        <p:nvPicPr>
          <p:cNvPr id="9" name="Picture 8">
            <a:extLst>
              <a:ext uri="{FF2B5EF4-FFF2-40B4-BE49-F238E27FC236}">
                <a16:creationId xmlns:a16="http://schemas.microsoft.com/office/drawing/2014/main" id="{309336CF-28B2-1C7C-4D95-1A35A5EE3676}"/>
              </a:ext>
            </a:extLst>
          </p:cNvPr>
          <p:cNvPicPr>
            <a:picLocks noChangeAspect="1"/>
          </p:cNvPicPr>
          <p:nvPr/>
        </p:nvPicPr>
        <p:blipFill>
          <a:blip r:embed="rId3"/>
          <a:stretch>
            <a:fillRect/>
          </a:stretch>
        </p:blipFill>
        <p:spPr>
          <a:xfrm>
            <a:off x="1020505" y="2403882"/>
            <a:ext cx="9010463" cy="2481198"/>
          </a:xfrm>
          <a:prstGeom prst="rect">
            <a:avLst/>
          </a:prstGeom>
        </p:spPr>
      </p:pic>
    </p:spTree>
    <p:extLst>
      <p:ext uri="{BB962C8B-B14F-4D97-AF65-F5344CB8AC3E}">
        <p14:creationId xmlns:p14="http://schemas.microsoft.com/office/powerpoint/2010/main" val="1160808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CA51-5EFF-58B1-D207-EF658D7322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9EEADB-89A6-247E-1F92-4A4E8EB812BD}"/>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5722660-4F63-96D6-B9E5-65D53BF2D3B0}"/>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F6A005B6-9A93-7A97-9291-E5E24CCF8FA3}"/>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5DEA2E87-2FEC-ED1A-C18F-DAEC5AE4157D}"/>
              </a:ext>
            </a:extLst>
          </p:cNvPr>
          <p:cNvSpPr txBox="1"/>
          <p:nvPr/>
        </p:nvSpPr>
        <p:spPr>
          <a:xfrm>
            <a:off x="89154" y="1499738"/>
            <a:ext cx="11852910" cy="3830921"/>
          </a:xfrm>
          <a:prstGeom prst="rect">
            <a:avLst/>
          </a:prstGeom>
          <a:noFill/>
        </p:spPr>
        <p:txBody>
          <a:bodyPr wrap="square">
            <a:spAutoFit/>
          </a:bodyPr>
          <a:lstStyle/>
          <a:p>
            <a:pPr>
              <a:lnSpc>
                <a:spcPct val="150000"/>
              </a:lnSpc>
            </a:pPr>
            <a:r>
              <a:rPr lang="en-US" sz="2000" b="1" dirty="0">
                <a:effectLst>
                  <a:outerShdw blurRad="38100" dist="38100" dir="2700000" algn="tl">
                    <a:srgbClr val="000000">
                      <a:alpha val="43137"/>
                    </a:srgbClr>
                  </a:outerShdw>
                </a:effectLst>
                <a:latin typeface="Bookman Old Style" panose="02050604050505020204" pitchFamily="18" charset="0"/>
              </a:rPr>
              <a:t>3. </a:t>
            </a:r>
            <a:r>
              <a:rPr lang="en-US" sz="2000" b="1" dirty="0" err="1">
                <a:effectLst>
                  <a:outerShdw blurRad="38100" dist="38100" dir="2700000" algn="tl">
                    <a:srgbClr val="000000">
                      <a:alpha val="43137"/>
                    </a:srgbClr>
                  </a:outerShdw>
                </a:effectLst>
                <a:latin typeface="Bookman Old Style" panose="02050604050505020204" pitchFamily="18" charset="0"/>
              </a:rPr>
              <a:t>SafeAreaView</a:t>
            </a:r>
            <a:r>
              <a:rPr lang="en-US" sz="2000" b="1" dirty="0">
                <a:effectLst>
                  <a:outerShdw blurRad="38100" dist="38100" dir="2700000" algn="tl">
                    <a:srgbClr val="000000">
                      <a:alpha val="43137"/>
                    </a:srgbClr>
                  </a:outerShdw>
                </a:effectLst>
                <a:latin typeface="Bookman Old Style" panose="02050604050505020204" pitchFamily="18" charset="0"/>
              </a:rPr>
              <a:t>:</a:t>
            </a:r>
          </a:p>
          <a:p>
            <a:pPr marL="800100" lvl="1" indent="-342900">
              <a:lnSpc>
                <a:spcPct val="150000"/>
              </a:lnSpc>
              <a:buFont typeface="Wingdings" panose="05000000000000000000" pitchFamily="2" charset="2"/>
              <a:buChar char="Ø"/>
            </a:pPr>
            <a:r>
              <a:rPr lang="en-US" b="1" dirty="0">
                <a:effectLst>
                  <a:outerShdw blurRad="38100" dist="38100" dir="2700000" algn="tl">
                    <a:srgbClr val="000000">
                      <a:alpha val="43137"/>
                    </a:srgbClr>
                  </a:outerShdw>
                </a:effectLst>
                <a:latin typeface="Bookman Old Style" panose="02050604050505020204" pitchFamily="18" charset="0"/>
              </a:rPr>
              <a:t>Ensures that the content inside doesn't overlap with unsafe areas like the notch or status bar</a:t>
            </a:r>
          </a:p>
          <a:p>
            <a:pPr marL="800100" lvl="1" indent="-34290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style={{ height: 100, </a:t>
            </a:r>
            <a:r>
              <a:rPr lang="en-US" dirty="0" err="1">
                <a:effectLst>
                  <a:outerShdw blurRad="38100" dist="38100" dir="2700000" algn="tl">
                    <a:srgbClr val="000000">
                      <a:alpha val="43137"/>
                    </a:srgbClr>
                  </a:outerShdw>
                </a:effectLst>
                <a:latin typeface="Bookman Old Style" panose="02050604050505020204" pitchFamily="18" charset="0"/>
              </a:rPr>
              <a:t>flexDirection</a:t>
            </a:r>
            <a:r>
              <a:rPr lang="en-US" dirty="0">
                <a:effectLst>
                  <a:outerShdw blurRad="38100" dist="38100" dir="2700000" algn="tl">
                    <a:srgbClr val="000000">
                      <a:alpha val="43137"/>
                    </a:srgbClr>
                  </a:outerShdw>
                </a:effectLst>
                <a:latin typeface="Bookman Old Style" panose="02050604050505020204" pitchFamily="18" charset="0"/>
              </a:rPr>
              <a:t>: '</a:t>
            </a:r>
            <a:r>
              <a:rPr lang="en-US" b="1" dirty="0">
                <a:effectLst>
                  <a:outerShdw blurRad="38100" dist="38100" dir="2700000" algn="tl">
                    <a:srgbClr val="000000">
                      <a:alpha val="43137"/>
                    </a:srgbClr>
                  </a:outerShdw>
                </a:effectLst>
                <a:latin typeface="Bookman Old Style" panose="02050604050505020204" pitchFamily="18" charset="0"/>
              </a:rPr>
              <a:t>row</a:t>
            </a:r>
            <a:r>
              <a:rPr lang="en-US" dirty="0">
                <a:effectLst>
                  <a:outerShdw blurRad="38100" dist="38100" dir="2700000" algn="tl">
                    <a:srgbClr val="000000">
                      <a:alpha val="43137"/>
                    </a:srgbClr>
                  </a:outerShdw>
                </a:effectLst>
                <a:latin typeface="Bookman Old Style" panose="02050604050505020204" pitchFamily="18" charset="0"/>
              </a:rPr>
              <a:t>' }} – The ‘style’ property (commonly called ‘</a:t>
            </a:r>
            <a:r>
              <a:rPr lang="en-US" b="1" dirty="0">
                <a:effectLst>
                  <a:outerShdw blurRad="38100" dist="38100" dir="2700000" algn="tl">
                    <a:srgbClr val="000000">
                      <a:alpha val="43137"/>
                    </a:srgbClr>
                  </a:outerShdw>
                </a:effectLst>
                <a:latin typeface="Bookman Old Style" panose="02050604050505020204" pitchFamily="18" charset="0"/>
              </a:rPr>
              <a:t>props</a:t>
            </a:r>
            <a:r>
              <a:rPr lang="en-US" dirty="0">
                <a:effectLst>
                  <a:outerShdw blurRad="38100" dist="38100" dir="2700000" algn="tl">
                    <a:srgbClr val="000000">
                      <a:alpha val="43137"/>
                    </a:srgbClr>
                  </a:outerShdw>
                </a:effectLst>
                <a:latin typeface="Bookman Old Style" panose="02050604050505020204" pitchFamily="18" charset="0"/>
              </a:rPr>
              <a:t>’) sets the height and </a:t>
            </a:r>
            <a:r>
              <a:rPr lang="en-US" b="1" dirty="0">
                <a:effectLst>
                  <a:outerShdw blurRad="38100" dist="38100" dir="2700000" algn="tl">
                    <a:srgbClr val="000000">
                      <a:alpha val="43137"/>
                    </a:srgbClr>
                  </a:outerShdw>
                </a:effectLst>
                <a:latin typeface="Bookman Old Style" panose="02050604050505020204" pitchFamily="18" charset="0"/>
              </a:rPr>
              <a:t>lays out children horizontally</a:t>
            </a:r>
          </a:p>
          <a:p>
            <a:pPr marL="1257300" lvl="2" indent="-342900">
              <a:lnSpc>
                <a:spcPct val="150000"/>
              </a:lnSpc>
              <a:buFont typeface="Wingdings" panose="05000000000000000000" pitchFamily="2" charset="2"/>
              <a:buChar char="§"/>
            </a:pPr>
            <a:r>
              <a:rPr lang="en-US" dirty="0">
                <a:effectLst>
                  <a:outerShdw blurRad="38100" dist="38100" dir="2700000" algn="tl">
                    <a:srgbClr val="000000">
                      <a:alpha val="43137"/>
                    </a:srgbClr>
                  </a:outerShdw>
                </a:effectLst>
                <a:latin typeface="Bookman Old Style" panose="02050604050505020204" pitchFamily="18" charset="0"/>
              </a:rPr>
              <a:t>In this case we are using an inline style with the components which is not the best practice for larger apps</a:t>
            </a:r>
          </a:p>
          <a:p>
            <a:pPr marL="1257300" lvl="2" indent="-342900">
              <a:lnSpc>
                <a:spcPct val="150000"/>
              </a:lnSpc>
              <a:buFont typeface="Wingdings" panose="05000000000000000000" pitchFamily="2" charset="2"/>
              <a:buChar char="§"/>
            </a:pPr>
            <a:r>
              <a:rPr lang="en-US" dirty="0">
                <a:effectLst>
                  <a:outerShdw blurRad="38100" dist="38100" dir="2700000" algn="tl">
                    <a:srgbClr val="000000">
                      <a:alpha val="43137"/>
                    </a:srgbClr>
                  </a:outerShdw>
                </a:effectLst>
                <a:latin typeface="Bookman Old Style" panose="02050604050505020204" pitchFamily="18" charset="0"/>
              </a:rPr>
              <a:t>In that case we’ll be using </a:t>
            </a:r>
            <a:r>
              <a:rPr lang="en-US" b="1" dirty="0">
                <a:effectLst>
                  <a:outerShdw blurRad="38100" dist="38100" dir="2700000" algn="tl">
                    <a:srgbClr val="000000">
                      <a:alpha val="43137"/>
                    </a:srgbClr>
                  </a:outerShdw>
                </a:effectLst>
                <a:latin typeface="Bookman Old Style" panose="02050604050505020204" pitchFamily="18" charset="0"/>
              </a:rPr>
              <a:t>Style Sheets instead of in-line styles </a:t>
            </a:r>
          </a:p>
          <a:p>
            <a:pPr marL="800100" lvl="1" indent="-34290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The </a:t>
            </a:r>
            <a:r>
              <a:rPr lang="en-US" b="1" dirty="0">
                <a:effectLst>
                  <a:outerShdw blurRad="38100" dist="38100" dir="2700000" algn="tl">
                    <a:srgbClr val="000000">
                      <a:alpha val="43137"/>
                    </a:srgbClr>
                  </a:outerShdw>
                </a:effectLst>
                <a:latin typeface="Bookman Old Style" panose="02050604050505020204" pitchFamily="18" charset="0"/>
              </a:rPr>
              <a:t>height</a:t>
            </a:r>
            <a:r>
              <a:rPr lang="en-US" dirty="0">
                <a:effectLst>
                  <a:outerShdw blurRad="38100" dist="38100" dir="2700000" algn="tl">
                    <a:srgbClr val="000000">
                      <a:alpha val="43137"/>
                    </a:srgbClr>
                  </a:outerShdw>
                </a:effectLst>
                <a:latin typeface="Bookman Old Style" panose="02050604050505020204" pitchFamily="18" charset="0"/>
              </a:rPr>
              <a:t> is in terms of </a:t>
            </a:r>
            <a:r>
              <a:rPr lang="en-US" b="1" dirty="0">
                <a:effectLst>
                  <a:outerShdw blurRad="38100" dist="38100" dir="2700000" algn="tl">
                    <a:srgbClr val="000000">
                      <a:alpha val="43137"/>
                    </a:srgbClr>
                  </a:outerShdw>
                </a:effectLst>
                <a:latin typeface="Bookman Old Style" panose="02050604050505020204" pitchFamily="18" charset="0"/>
              </a:rPr>
              <a:t>device independent pixels</a:t>
            </a:r>
          </a:p>
        </p:txBody>
      </p:sp>
    </p:spTree>
    <p:extLst>
      <p:ext uri="{BB962C8B-B14F-4D97-AF65-F5344CB8AC3E}">
        <p14:creationId xmlns:p14="http://schemas.microsoft.com/office/powerpoint/2010/main" val="3179553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EAE37-EEB9-3958-3923-B462C50162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018AC1-369E-C62A-4E52-4086EAFBB3E2}"/>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94A5B57D-AE07-9176-E409-155FEFB12322}"/>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7D308DCC-FADD-A5CC-2A20-2387A6464047}"/>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330EA51B-1D37-2A50-41BC-CBE3140B5A6A}"/>
              </a:ext>
            </a:extLst>
          </p:cNvPr>
          <p:cNvSpPr txBox="1"/>
          <p:nvPr/>
        </p:nvSpPr>
        <p:spPr>
          <a:xfrm>
            <a:off x="89154" y="1499738"/>
            <a:ext cx="11852910" cy="3369256"/>
          </a:xfrm>
          <a:prstGeom prst="rect">
            <a:avLst/>
          </a:prstGeom>
          <a:noFill/>
        </p:spPr>
        <p:txBody>
          <a:bodyPr wrap="square">
            <a:spAutoFit/>
          </a:bodyPr>
          <a:lstStyle/>
          <a:p>
            <a:pPr marL="800100" lvl="1" indent="-342900">
              <a:lnSpc>
                <a:spcPct val="150000"/>
              </a:lnSpc>
              <a:buFont typeface="Wingdings" panose="05000000000000000000" pitchFamily="2" charset="2"/>
              <a:buChar char="Ø"/>
            </a:pPr>
            <a:r>
              <a:rPr lang="en-CA" dirty="0">
                <a:effectLst>
                  <a:outerShdw blurRad="38100" dist="38100" dir="2700000" algn="tl">
                    <a:srgbClr val="000000">
                      <a:alpha val="43137"/>
                    </a:srgbClr>
                  </a:outerShdw>
                </a:effectLst>
                <a:latin typeface="Bookman Old Style" panose="02050604050505020204" pitchFamily="18" charset="0"/>
              </a:rPr>
              <a:t>We can also set </a:t>
            </a:r>
            <a:r>
              <a:rPr lang="en-CA" b="1" dirty="0">
                <a:effectLst>
                  <a:outerShdw blurRad="38100" dist="38100" dir="2700000" algn="tl">
                    <a:srgbClr val="000000">
                      <a:alpha val="43137"/>
                    </a:srgbClr>
                  </a:outerShdw>
                </a:effectLst>
                <a:latin typeface="Bookman Old Style" panose="02050604050505020204" pitchFamily="18" charset="0"/>
              </a:rPr>
              <a:t>flex: 1 </a:t>
            </a:r>
            <a:r>
              <a:rPr lang="en-CA" dirty="0">
                <a:effectLst>
                  <a:outerShdw blurRad="38100" dist="38100" dir="2700000" algn="tl">
                    <a:srgbClr val="000000">
                      <a:alpha val="43137"/>
                    </a:srgbClr>
                  </a:outerShdw>
                </a:effectLst>
                <a:latin typeface="Bookman Old Style" panose="02050604050505020204" pitchFamily="18" charset="0"/>
              </a:rPr>
              <a:t>instead of height </a:t>
            </a:r>
            <a:r>
              <a:rPr lang="en-US" dirty="0">
                <a:effectLst>
                  <a:outerShdw blurRad="38100" dist="38100" dir="2700000" algn="tl">
                    <a:srgbClr val="000000">
                      <a:alpha val="43137"/>
                    </a:srgbClr>
                  </a:outerShdw>
                </a:effectLst>
                <a:latin typeface="Bookman Old Style" panose="02050604050505020204" pitchFamily="18" charset="0"/>
              </a:rPr>
              <a:t>so that </a:t>
            </a:r>
            <a:r>
              <a:rPr lang="en-US" b="1" dirty="0">
                <a:effectLst>
                  <a:outerShdw blurRad="38100" dist="38100" dir="2700000" algn="tl">
                    <a:srgbClr val="000000">
                      <a:alpha val="43137"/>
                    </a:srgbClr>
                  </a:outerShdw>
                </a:effectLst>
                <a:latin typeface="Bookman Old Style" panose="02050604050505020204" pitchFamily="18" charset="0"/>
              </a:rPr>
              <a:t>it takes up the entire available screen height</a:t>
            </a:r>
          </a:p>
          <a:p>
            <a:pPr marL="800100" lvl="1" indent="-34290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The </a:t>
            </a:r>
            <a:r>
              <a:rPr lang="en-US" b="1" dirty="0">
                <a:effectLst>
                  <a:outerShdw blurRad="38100" dist="38100" dir="2700000" algn="tl">
                    <a:srgbClr val="000000">
                      <a:alpha val="43137"/>
                    </a:srgbClr>
                  </a:outerShdw>
                </a:effectLst>
                <a:latin typeface="Bookman Old Style" panose="02050604050505020204" pitchFamily="18" charset="0"/>
              </a:rPr>
              <a:t>child View elements will divide that space proportionally according to their individual flex values (0.3, 0.3, 0.4)</a:t>
            </a: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marL="800100" lvl="1" indent="-34290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We can also set the color using hex color code</a:t>
            </a:r>
          </a:p>
          <a:p>
            <a:pPr marL="800100" lvl="1" indent="-34290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p:txBody>
      </p:sp>
      <p:sp>
        <p:nvSpPr>
          <p:cNvPr id="7" name="TextBox 6">
            <a:extLst>
              <a:ext uri="{FF2B5EF4-FFF2-40B4-BE49-F238E27FC236}">
                <a16:creationId xmlns:a16="http://schemas.microsoft.com/office/drawing/2014/main" id="{270CD3B5-3F31-646F-1DF0-7A706BD7E4BB}"/>
              </a:ext>
            </a:extLst>
          </p:cNvPr>
          <p:cNvSpPr txBox="1"/>
          <p:nvPr/>
        </p:nvSpPr>
        <p:spPr>
          <a:xfrm>
            <a:off x="692658" y="2947015"/>
            <a:ext cx="9731502" cy="786497"/>
          </a:xfrm>
          <a:prstGeom prst="rect">
            <a:avLst/>
          </a:prstGeom>
          <a:noFill/>
        </p:spPr>
        <p:txBody>
          <a:bodyPr wrap="square">
            <a:spAutoFit/>
          </a:bodyPr>
          <a:lstStyle/>
          <a:p>
            <a:pPr>
              <a:lnSpc>
                <a:spcPts val="1800"/>
              </a:lnSpc>
              <a:buNone/>
            </a:pPr>
            <a:r>
              <a:rPr lang="en-CA"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&lt;View</a:t>
            </a:r>
            <a:r>
              <a:rPr lang="en-CA" sz="1600" b="0" dirty="0">
                <a:solidFill>
                  <a:srgbClr val="000000"/>
                </a:solidFill>
                <a:effectLst/>
                <a:latin typeface="Consolas" panose="020B0609020204030204" pitchFamily="49" charset="0"/>
              </a:rPr>
              <a:t> </a:t>
            </a:r>
            <a:r>
              <a:rPr lang="en-CA" sz="1600" b="0" dirty="0">
                <a:solidFill>
                  <a:srgbClr val="E50000"/>
                </a:solidFill>
                <a:effectLst/>
                <a:latin typeface="Consolas" panose="020B0609020204030204" pitchFamily="49" charset="0"/>
              </a:rPr>
              <a:t>style</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a:t>
            </a:r>
            <a:r>
              <a:rPr lang="en-CA" sz="1600" b="0" dirty="0" err="1">
                <a:solidFill>
                  <a:srgbClr val="000000"/>
                </a:solidFill>
                <a:effectLst/>
                <a:latin typeface="Consolas" panose="020B0609020204030204" pitchFamily="49" charset="0"/>
              </a:rPr>
              <a:t>backgroundColor</a:t>
            </a:r>
            <a:r>
              <a:rPr lang="en-CA" sz="1600" b="0" dirty="0">
                <a:solidFill>
                  <a:srgbClr val="000000"/>
                </a:solidFill>
                <a:effectLst/>
                <a:latin typeface="Consolas" panose="020B0609020204030204" pitchFamily="49" charset="0"/>
              </a:rPr>
              <a:t>: </a:t>
            </a:r>
            <a:r>
              <a:rPr lang="en-CA" sz="1600" b="0" dirty="0">
                <a:solidFill>
                  <a:srgbClr val="A31515"/>
                </a:solidFill>
                <a:effectLst/>
                <a:latin typeface="Consolas" panose="020B0609020204030204" pitchFamily="49" charset="0"/>
              </a:rPr>
              <a:t>'green'</a:t>
            </a:r>
            <a:r>
              <a:rPr lang="en-CA" sz="1600" b="0" dirty="0">
                <a:solidFill>
                  <a:srgbClr val="000000"/>
                </a:solidFill>
                <a:effectLst/>
                <a:latin typeface="Consolas" panose="020B0609020204030204" pitchFamily="49" charset="0"/>
              </a:rPr>
              <a:t>, flex: </a:t>
            </a:r>
            <a:r>
              <a:rPr lang="en-CA" sz="1600" b="0" dirty="0">
                <a:solidFill>
                  <a:srgbClr val="098658"/>
                </a:solidFill>
                <a:effectLst/>
                <a:latin typeface="Consolas" panose="020B0609020204030204" pitchFamily="49" charset="0"/>
              </a:rPr>
              <a:t>0.3</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/&gt;</a:t>
            </a:r>
            <a:endParaRPr lang="en-CA" sz="1600" b="0" dirty="0">
              <a:solidFill>
                <a:srgbClr val="000000"/>
              </a:solidFill>
              <a:effectLst/>
              <a:latin typeface="Consolas" panose="020B0609020204030204" pitchFamily="49" charset="0"/>
            </a:endParaRPr>
          </a:p>
          <a:p>
            <a:pPr>
              <a:lnSpc>
                <a:spcPts val="1800"/>
              </a:lnSpc>
              <a:buNone/>
            </a:pPr>
            <a:r>
              <a:rPr lang="en-CA" sz="1600"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&lt;View</a:t>
            </a:r>
            <a:r>
              <a:rPr lang="en-CA" sz="1600" b="0" dirty="0">
                <a:solidFill>
                  <a:srgbClr val="000000"/>
                </a:solidFill>
                <a:effectLst/>
                <a:latin typeface="Consolas" panose="020B0609020204030204" pitchFamily="49" charset="0"/>
              </a:rPr>
              <a:t> </a:t>
            </a:r>
            <a:r>
              <a:rPr lang="en-CA" sz="1600" b="0" dirty="0">
                <a:solidFill>
                  <a:srgbClr val="E50000"/>
                </a:solidFill>
                <a:effectLst/>
                <a:latin typeface="Consolas" panose="020B0609020204030204" pitchFamily="49" charset="0"/>
              </a:rPr>
              <a:t>style</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a:t>
            </a:r>
            <a:r>
              <a:rPr lang="en-CA" sz="1600" b="0" dirty="0" err="1">
                <a:solidFill>
                  <a:srgbClr val="000000"/>
                </a:solidFill>
                <a:effectLst/>
                <a:latin typeface="Consolas" panose="020B0609020204030204" pitchFamily="49" charset="0"/>
              </a:rPr>
              <a:t>backgroundColor</a:t>
            </a:r>
            <a:r>
              <a:rPr lang="en-CA" sz="1600" b="0" dirty="0">
                <a:solidFill>
                  <a:srgbClr val="000000"/>
                </a:solidFill>
                <a:effectLst/>
                <a:latin typeface="Consolas" panose="020B0609020204030204" pitchFamily="49" charset="0"/>
              </a:rPr>
              <a:t>: </a:t>
            </a:r>
            <a:r>
              <a:rPr lang="en-CA" sz="1600" b="0" dirty="0">
                <a:solidFill>
                  <a:srgbClr val="A31515"/>
                </a:solidFill>
                <a:effectLst/>
                <a:latin typeface="Consolas" panose="020B0609020204030204" pitchFamily="49" charset="0"/>
              </a:rPr>
              <a:t>'orange'</a:t>
            </a:r>
            <a:r>
              <a:rPr lang="en-CA" sz="1600" b="0" dirty="0">
                <a:solidFill>
                  <a:srgbClr val="000000"/>
                </a:solidFill>
                <a:effectLst/>
                <a:latin typeface="Consolas" panose="020B0609020204030204" pitchFamily="49" charset="0"/>
              </a:rPr>
              <a:t>, flex: </a:t>
            </a:r>
            <a:r>
              <a:rPr lang="en-CA" sz="1600" b="0" dirty="0">
                <a:solidFill>
                  <a:srgbClr val="098658"/>
                </a:solidFill>
                <a:effectLst/>
                <a:latin typeface="Consolas" panose="020B0609020204030204" pitchFamily="49" charset="0"/>
              </a:rPr>
              <a:t>0.3</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/&gt;</a:t>
            </a:r>
            <a:endParaRPr lang="en-CA" sz="1600" b="0" dirty="0">
              <a:solidFill>
                <a:srgbClr val="000000"/>
              </a:solidFill>
              <a:effectLst/>
              <a:latin typeface="Consolas" panose="020B0609020204030204" pitchFamily="49" charset="0"/>
            </a:endParaRPr>
          </a:p>
          <a:p>
            <a:pPr>
              <a:lnSpc>
                <a:spcPts val="1800"/>
              </a:lnSpc>
            </a:pPr>
            <a:r>
              <a:rPr lang="en-CA" sz="1600"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&lt;View</a:t>
            </a:r>
            <a:r>
              <a:rPr lang="en-CA" sz="1600" b="0" dirty="0">
                <a:solidFill>
                  <a:srgbClr val="000000"/>
                </a:solidFill>
                <a:effectLst/>
                <a:latin typeface="Consolas" panose="020B0609020204030204" pitchFamily="49" charset="0"/>
              </a:rPr>
              <a:t> </a:t>
            </a:r>
            <a:r>
              <a:rPr lang="en-CA" sz="1600" b="0" dirty="0">
                <a:solidFill>
                  <a:srgbClr val="E50000"/>
                </a:solidFill>
                <a:effectLst/>
                <a:latin typeface="Consolas" panose="020B0609020204030204" pitchFamily="49" charset="0"/>
              </a:rPr>
              <a:t>style</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a:t>
            </a:r>
            <a:r>
              <a:rPr lang="en-CA" sz="1600" b="0" dirty="0" err="1">
                <a:solidFill>
                  <a:srgbClr val="000000"/>
                </a:solidFill>
                <a:effectLst/>
                <a:latin typeface="Consolas" panose="020B0609020204030204" pitchFamily="49" charset="0"/>
              </a:rPr>
              <a:t>backgroundColor</a:t>
            </a:r>
            <a:r>
              <a:rPr lang="en-CA" sz="1600" b="0" dirty="0">
                <a:solidFill>
                  <a:srgbClr val="000000"/>
                </a:solidFill>
                <a:effectLst/>
                <a:latin typeface="Consolas" panose="020B0609020204030204" pitchFamily="49" charset="0"/>
              </a:rPr>
              <a:t>: </a:t>
            </a:r>
            <a:r>
              <a:rPr lang="en-CA" sz="1600" b="0" dirty="0">
                <a:solidFill>
                  <a:srgbClr val="A31515"/>
                </a:solidFill>
                <a:effectLst/>
                <a:latin typeface="Consolas" panose="020B0609020204030204" pitchFamily="49" charset="0"/>
              </a:rPr>
              <a:t>'purple'</a:t>
            </a:r>
            <a:r>
              <a:rPr lang="en-CA" sz="1600" b="0" dirty="0">
                <a:solidFill>
                  <a:srgbClr val="000000"/>
                </a:solidFill>
                <a:effectLst/>
                <a:latin typeface="Consolas" panose="020B0609020204030204" pitchFamily="49" charset="0"/>
              </a:rPr>
              <a:t>, flex: </a:t>
            </a:r>
            <a:r>
              <a:rPr lang="en-CA" sz="1600" b="0" dirty="0">
                <a:solidFill>
                  <a:srgbClr val="098658"/>
                </a:solidFill>
                <a:effectLst/>
                <a:latin typeface="Consolas" panose="020B0609020204030204" pitchFamily="49" charset="0"/>
              </a:rPr>
              <a:t>0.4</a:t>
            </a:r>
            <a:r>
              <a:rPr lang="en-CA" sz="1600" b="0" dirty="0">
                <a:solidFill>
                  <a:srgbClr val="000000"/>
                </a:solidFill>
                <a:effectLst/>
                <a:latin typeface="Consolas" panose="020B0609020204030204" pitchFamily="49" charset="0"/>
              </a:rPr>
              <a:t>}</a:t>
            </a:r>
            <a:r>
              <a:rPr lang="en-CA" sz="1600" b="0" dirty="0">
                <a:solidFill>
                  <a:srgbClr val="0000FF"/>
                </a:solidFill>
                <a:effectLst/>
                <a:latin typeface="Consolas" panose="020B0609020204030204" pitchFamily="49" charset="0"/>
              </a:rPr>
              <a:t>}</a:t>
            </a:r>
            <a:r>
              <a:rPr lang="en-CA" sz="1600" b="0" dirty="0">
                <a:solidFill>
                  <a:srgbClr val="000000"/>
                </a:solidFill>
                <a:effectLst/>
                <a:latin typeface="Consolas" panose="020B0609020204030204" pitchFamily="49" charset="0"/>
              </a:rPr>
              <a:t> </a:t>
            </a:r>
            <a:r>
              <a:rPr lang="en-CA" sz="1600" b="0" dirty="0">
                <a:solidFill>
                  <a:srgbClr val="800000"/>
                </a:solidFill>
                <a:effectLst/>
                <a:latin typeface="Consolas" panose="020B0609020204030204" pitchFamily="49" charset="0"/>
              </a:rPr>
              <a:t>/&gt;</a:t>
            </a:r>
            <a:endParaRPr lang="en-CA" sz="16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043C1C9-C7B2-2A51-8483-452A388F6F95}"/>
              </a:ext>
            </a:extLst>
          </p:cNvPr>
          <p:cNvSpPr txBox="1"/>
          <p:nvPr/>
        </p:nvSpPr>
        <p:spPr>
          <a:xfrm>
            <a:off x="692658" y="4623779"/>
            <a:ext cx="9886950" cy="324833"/>
          </a:xfrm>
          <a:prstGeom prst="rect">
            <a:avLst/>
          </a:prstGeom>
          <a:noFill/>
        </p:spPr>
        <p:txBody>
          <a:bodyPr wrap="square">
            <a:spAutoFit/>
          </a:bodyPr>
          <a:lstStyle/>
          <a:p>
            <a:pPr>
              <a:lnSpc>
                <a:spcPts val="1800"/>
              </a:lnSpc>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&lt;View</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style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backgroundColor</a:t>
            </a:r>
            <a:r>
              <a:rPr lang="en-US" b="0" dirty="0">
                <a:solidFill>
                  <a:srgbClr val="000000"/>
                </a:solidFill>
                <a:effectLst/>
                <a:latin typeface="Consolas" panose="020B0609020204030204" pitchFamily="49" charset="0"/>
              </a:rPr>
              <a:t>: </a:t>
            </a:r>
            <a:r>
              <a:rPr lang="en-US" b="0" dirty="0">
                <a:solidFill>
                  <a:srgbClr val="A31515"/>
                </a:solidFill>
                <a:effectLst/>
                <a:highlight>
                  <a:srgbClr val="FFFF00"/>
                </a:highlight>
                <a:latin typeface="Consolas" panose="020B0609020204030204" pitchFamily="49" charset="0"/>
              </a:rPr>
              <a:t>'#008000</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flex: </a:t>
            </a:r>
            <a:r>
              <a:rPr lang="en-US" b="0" dirty="0">
                <a:solidFill>
                  <a:srgbClr val="098658"/>
                </a:solidFill>
                <a:effectLst/>
                <a:latin typeface="Consolas" panose="020B0609020204030204" pitchFamily="49" charset="0"/>
              </a:rPr>
              <a:t>0.3</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02636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A6A74-7558-C21C-5603-0AB414B9B9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6EA2B5-686C-518A-B0CA-64D4A41498B9}"/>
              </a:ext>
            </a:extLst>
          </p:cNvPr>
          <p:cNvPicPr>
            <a:picLocks noChangeAspect="1"/>
          </p:cNvPicPr>
          <p:nvPr/>
        </p:nvPicPr>
        <p:blipFill>
          <a:blip r:embed="rId2"/>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24F12446-EF36-827F-841A-256D64BB3A69}"/>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0FAD764F-0016-A051-A123-82BB4C663474}"/>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493F52CB-B367-EC35-07E8-D32640AD6E00}"/>
              </a:ext>
            </a:extLst>
          </p:cNvPr>
          <p:cNvSpPr txBox="1"/>
          <p:nvPr/>
        </p:nvSpPr>
        <p:spPr>
          <a:xfrm>
            <a:off x="89154" y="1612599"/>
            <a:ext cx="11852910" cy="2999924"/>
          </a:xfrm>
          <a:prstGeom prst="rect">
            <a:avLst/>
          </a:prstGeom>
          <a:noFill/>
        </p:spPr>
        <p:txBody>
          <a:bodyPr wrap="square">
            <a:spAutoFit/>
          </a:bodyPr>
          <a:lstStyle/>
          <a:p>
            <a:pPr>
              <a:lnSpc>
                <a:spcPct val="150000"/>
              </a:lnSpc>
            </a:pPr>
            <a:r>
              <a:rPr lang="en-US" sz="2000" b="1" dirty="0">
                <a:effectLst>
                  <a:outerShdw blurRad="38100" dist="38100" dir="2700000" algn="tl">
                    <a:srgbClr val="000000">
                      <a:alpha val="43137"/>
                    </a:srgbClr>
                  </a:outerShdw>
                </a:effectLst>
                <a:latin typeface="Bookman Old Style" panose="02050604050505020204" pitchFamily="18" charset="0"/>
              </a:rPr>
              <a:t>Install react-native-safe-area-context </a:t>
            </a:r>
          </a:p>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react-native-safe-area-context</a:t>
            </a:r>
            <a:r>
              <a:rPr lang="en-US" dirty="0">
                <a:effectLst>
                  <a:outerShdw blurRad="38100" dist="38100" dir="2700000" algn="tl">
                    <a:srgbClr val="000000">
                      <a:alpha val="43137"/>
                    </a:srgbClr>
                  </a:outerShdw>
                </a:effectLst>
                <a:latin typeface="Bookman Old Style" panose="02050604050505020204" pitchFamily="18" charset="0"/>
              </a:rPr>
              <a:t> is a </a:t>
            </a:r>
            <a:r>
              <a:rPr lang="en-US" b="1" dirty="0">
                <a:effectLst>
                  <a:outerShdw blurRad="38100" dist="38100" dir="2700000" algn="tl">
                    <a:srgbClr val="000000">
                      <a:alpha val="43137"/>
                    </a:srgbClr>
                  </a:outerShdw>
                </a:effectLst>
                <a:latin typeface="Bookman Old Style" panose="02050604050505020204" pitchFamily="18" charset="0"/>
              </a:rPr>
              <a:t>library that helps your React Native app respect the safe areas </a:t>
            </a:r>
            <a:r>
              <a:rPr lang="en-US" dirty="0">
                <a:effectLst>
                  <a:outerShdw blurRad="38100" dist="38100" dir="2700000" algn="tl">
                    <a:srgbClr val="000000">
                      <a:alpha val="43137"/>
                    </a:srgbClr>
                  </a:outerShdw>
                </a:effectLst>
                <a:latin typeface="Bookman Old Style" panose="02050604050505020204" pitchFamily="18" charset="0"/>
              </a:rPr>
              <a:t>of devices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is especially important for modern smartphones with notches, rounded corners, and home indicators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Install safe-area-context at the root folder of the project by running the below command </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sp>
        <p:nvSpPr>
          <p:cNvPr id="9" name="TextBox 8">
            <a:extLst>
              <a:ext uri="{FF2B5EF4-FFF2-40B4-BE49-F238E27FC236}">
                <a16:creationId xmlns:a16="http://schemas.microsoft.com/office/drawing/2014/main" id="{6B611539-F93A-F80D-9BDA-5241AF04D693}"/>
              </a:ext>
            </a:extLst>
          </p:cNvPr>
          <p:cNvSpPr txBox="1"/>
          <p:nvPr/>
        </p:nvSpPr>
        <p:spPr>
          <a:xfrm>
            <a:off x="619506" y="4289357"/>
            <a:ext cx="9868662" cy="646331"/>
          </a:xfrm>
          <a:prstGeom prst="rect">
            <a:avLst/>
          </a:prstGeom>
          <a:noFill/>
        </p:spPr>
        <p:txBody>
          <a:bodyPr wrap="square">
            <a:spAutoFit/>
          </a:bodyPr>
          <a:lstStyle/>
          <a:p>
            <a:r>
              <a:rPr lang="en-CA" dirty="0" err="1">
                <a:solidFill>
                  <a:srgbClr val="0070C0"/>
                </a:solidFill>
              </a:rPr>
              <a:t>npm</a:t>
            </a:r>
            <a:r>
              <a:rPr lang="en-CA" dirty="0"/>
              <a:t> install react-native-safe-area-context        </a:t>
            </a:r>
            <a:r>
              <a:rPr lang="en-CA" dirty="0">
                <a:solidFill>
                  <a:srgbClr val="FF0000"/>
                </a:solidFill>
              </a:rPr>
              <a:t>OR</a:t>
            </a:r>
            <a:r>
              <a:rPr lang="en-CA" dirty="0"/>
              <a:t>       </a:t>
            </a:r>
            <a:r>
              <a:rPr lang="en-CA" b="1" dirty="0">
                <a:solidFill>
                  <a:srgbClr val="0070C0"/>
                </a:solidFill>
              </a:rPr>
              <a:t>yarn</a:t>
            </a:r>
            <a:r>
              <a:rPr lang="en-CA" b="1" dirty="0"/>
              <a:t> add react-native-safe-area-context</a:t>
            </a:r>
          </a:p>
          <a:p>
            <a:endParaRPr lang="en-CA" dirty="0"/>
          </a:p>
        </p:txBody>
      </p:sp>
      <p:pic>
        <p:nvPicPr>
          <p:cNvPr id="11" name="Picture 10">
            <a:extLst>
              <a:ext uri="{FF2B5EF4-FFF2-40B4-BE49-F238E27FC236}">
                <a16:creationId xmlns:a16="http://schemas.microsoft.com/office/drawing/2014/main" id="{14AD922A-6217-2E1C-B61D-420AB9B43381}"/>
              </a:ext>
            </a:extLst>
          </p:cNvPr>
          <p:cNvPicPr>
            <a:picLocks noChangeAspect="1"/>
          </p:cNvPicPr>
          <p:nvPr/>
        </p:nvPicPr>
        <p:blipFill>
          <a:blip r:embed="rId3"/>
          <a:stretch>
            <a:fillRect/>
          </a:stretch>
        </p:blipFill>
        <p:spPr>
          <a:xfrm>
            <a:off x="409956" y="4837440"/>
            <a:ext cx="10782300" cy="1717963"/>
          </a:xfrm>
          <a:prstGeom prst="rect">
            <a:avLst/>
          </a:prstGeom>
        </p:spPr>
      </p:pic>
    </p:spTree>
    <p:extLst>
      <p:ext uri="{BB962C8B-B14F-4D97-AF65-F5344CB8AC3E}">
        <p14:creationId xmlns:p14="http://schemas.microsoft.com/office/powerpoint/2010/main" val="4038193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EE544-FE2B-F743-A9A2-91F915222B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966857-84A8-4676-AE3E-CEC9F1A9466F}"/>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7325DE36-E064-6326-48E1-786CC7304DB8}"/>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ADF07CD7-1B6B-B002-15DB-18C493E9A886}"/>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4" name="TextBox 3">
            <a:extLst>
              <a:ext uri="{FF2B5EF4-FFF2-40B4-BE49-F238E27FC236}">
                <a16:creationId xmlns:a16="http://schemas.microsoft.com/office/drawing/2014/main" id="{978274B5-BC8C-73DC-C904-D031EFD14079}"/>
              </a:ext>
            </a:extLst>
          </p:cNvPr>
          <p:cNvSpPr txBox="1"/>
          <p:nvPr/>
        </p:nvSpPr>
        <p:spPr>
          <a:xfrm>
            <a:off x="162306" y="1612599"/>
            <a:ext cx="11852910" cy="786497"/>
          </a:xfrm>
          <a:prstGeom prst="rect">
            <a:avLst/>
          </a:prstGeom>
          <a:noFill/>
        </p:spPr>
        <p:txBody>
          <a:bodyPr wrap="square">
            <a:spAutoFit/>
          </a:bodyPr>
          <a:lstStyle/>
          <a:p>
            <a:pPr>
              <a:lnSpc>
                <a:spcPct val="150000"/>
              </a:lnSpc>
            </a:pPr>
            <a:r>
              <a:rPr lang="en-US" sz="2000" b="1" dirty="0">
                <a:effectLst>
                  <a:outerShdw blurRad="38100" dist="38100" dir="2700000" algn="tl">
                    <a:srgbClr val="000000">
                      <a:alpha val="43137"/>
                    </a:srgbClr>
                  </a:outerShdw>
                </a:effectLst>
                <a:latin typeface="Bookman Old Style" panose="02050604050505020204" pitchFamily="18" charset="0"/>
              </a:rPr>
              <a:t>4. Functional Component Exported:</a:t>
            </a:r>
          </a:p>
          <a:p>
            <a:pPr lvl="1">
              <a:lnSpc>
                <a:spcPts val="1800"/>
              </a:lnSpc>
            </a:pPr>
            <a:endParaRPr lang="en-CA" b="0" dirty="0">
              <a:solidFill>
                <a:srgbClr val="0000FF"/>
              </a:solidFill>
              <a:effectLst/>
              <a:latin typeface="Consolas" panose="020B0609020204030204" pitchFamily="49" charset="0"/>
            </a:endParaRPr>
          </a:p>
        </p:txBody>
      </p:sp>
      <p:pic>
        <p:nvPicPr>
          <p:cNvPr id="10" name="Picture 9">
            <a:extLst>
              <a:ext uri="{FF2B5EF4-FFF2-40B4-BE49-F238E27FC236}">
                <a16:creationId xmlns:a16="http://schemas.microsoft.com/office/drawing/2014/main" id="{EC774147-E515-4C45-E94F-CC8C2C09E06D}"/>
              </a:ext>
            </a:extLst>
          </p:cNvPr>
          <p:cNvPicPr>
            <a:picLocks noChangeAspect="1"/>
          </p:cNvPicPr>
          <p:nvPr/>
        </p:nvPicPr>
        <p:blipFill>
          <a:blip r:embed="rId4"/>
          <a:stretch>
            <a:fillRect/>
          </a:stretch>
        </p:blipFill>
        <p:spPr>
          <a:xfrm>
            <a:off x="457200" y="2274222"/>
            <a:ext cx="8970264" cy="3499770"/>
          </a:xfrm>
          <a:prstGeom prst="rect">
            <a:avLst/>
          </a:prstGeom>
        </p:spPr>
      </p:pic>
    </p:spTree>
    <p:extLst>
      <p:ext uri="{BB962C8B-B14F-4D97-AF65-F5344CB8AC3E}">
        <p14:creationId xmlns:p14="http://schemas.microsoft.com/office/powerpoint/2010/main" val="908950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D6E9-BCAC-E3E3-1DAF-D5F1718909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573A7D-B517-C613-8E0E-27612DF1596D}"/>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9C6970DD-21D0-65E6-2D92-E1F860E50475}"/>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39E5C4DB-E52A-4C0B-3A22-9B23CE7110B8}"/>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8" name="TextBox 7">
            <a:extLst>
              <a:ext uri="{FF2B5EF4-FFF2-40B4-BE49-F238E27FC236}">
                <a16:creationId xmlns:a16="http://schemas.microsoft.com/office/drawing/2014/main" id="{93185D13-F4B1-2B2F-A51C-9627007444F3}"/>
              </a:ext>
            </a:extLst>
          </p:cNvPr>
          <p:cNvSpPr txBox="1"/>
          <p:nvPr/>
        </p:nvSpPr>
        <p:spPr>
          <a:xfrm>
            <a:off x="185166" y="1660784"/>
            <a:ext cx="6140196" cy="324833"/>
          </a:xfrm>
          <a:prstGeom prst="rect">
            <a:avLst/>
          </a:prstGeom>
          <a:noFill/>
        </p:spPr>
        <p:txBody>
          <a:bodyPr wrap="square">
            <a:spAutoFit/>
          </a:bodyPr>
          <a:lstStyle/>
          <a:p>
            <a:pPr>
              <a:lnSpc>
                <a:spcPts val="1800"/>
              </a:lnSpc>
            </a:pPr>
            <a:r>
              <a:rPr lang="en-CA" b="0" dirty="0">
                <a:solidFill>
                  <a:srgbClr val="0000FF"/>
                </a:solidFill>
                <a:effectLst/>
                <a:latin typeface="Consolas" panose="020B0609020204030204" pitchFamily="49" charset="0"/>
              </a:rPr>
              <a:t>export</a:t>
            </a:r>
            <a:r>
              <a:rPr lang="en-CA" b="0" dirty="0">
                <a:solidFill>
                  <a:srgbClr val="000000"/>
                </a:solidFill>
                <a:effectLst/>
                <a:latin typeface="Consolas" panose="020B0609020204030204" pitchFamily="49" charset="0"/>
              </a:rPr>
              <a:t> </a:t>
            </a:r>
            <a:r>
              <a:rPr lang="en-CA" b="0" dirty="0">
                <a:solidFill>
                  <a:srgbClr val="0000FF"/>
                </a:solidFill>
                <a:effectLst/>
                <a:latin typeface="Consolas" panose="020B0609020204030204" pitchFamily="49" charset="0"/>
              </a:rPr>
              <a:t>default</a:t>
            </a:r>
            <a:r>
              <a:rPr lang="en-CA" b="0" dirty="0">
                <a:solidFill>
                  <a:srgbClr val="000000"/>
                </a:solidFill>
                <a:effectLst/>
                <a:latin typeface="Consolas" panose="020B0609020204030204" pitchFamily="49" charset="0"/>
              </a:rPr>
              <a:t> </a:t>
            </a:r>
            <a:r>
              <a:rPr lang="en-CA" b="0" dirty="0" err="1">
                <a:solidFill>
                  <a:srgbClr val="000000"/>
                </a:solidFill>
                <a:effectLst/>
                <a:latin typeface="Consolas" panose="020B0609020204030204" pitchFamily="49" charset="0"/>
              </a:rPr>
              <a:t>ViewBoxes</a:t>
            </a:r>
            <a:r>
              <a:rPr lang="en-CA"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8692E1A7-D69B-0E83-34E8-3E1988935630}"/>
              </a:ext>
            </a:extLst>
          </p:cNvPr>
          <p:cNvSpPr txBox="1"/>
          <p:nvPr/>
        </p:nvSpPr>
        <p:spPr>
          <a:xfrm>
            <a:off x="0" y="1905626"/>
            <a:ext cx="11738610" cy="4113177"/>
          </a:xfrm>
          <a:prstGeom prst="rect">
            <a:avLst/>
          </a:prstGeom>
          <a:noFill/>
        </p:spPr>
        <p:txBody>
          <a:bodyPr wrap="square">
            <a:spAutoFit/>
          </a:bodyPr>
          <a:lstStyle/>
          <a:p>
            <a:pPr marL="742950" lvl="1" indent="-285750">
              <a:lnSpc>
                <a:spcPct val="150000"/>
              </a:lnSpc>
              <a:buFont typeface="Wingdings" panose="05000000000000000000" pitchFamily="2" charset="2"/>
              <a:buChar char="Ø"/>
            </a:pPr>
            <a:r>
              <a:rPr lang="en-CA" b="1" dirty="0" err="1">
                <a:effectLst>
                  <a:outerShdw blurRad="38100" dist="38100" dir="2700000" algn="tl">
                    <a:srgbClr val="000000">
                      <a:alpha val="43137"/>
                    </a:srgbClr>
                  </a:outerShdw>
                </a:effectLst>
                <a:latin typeface="Bookman Old Style" panose="02050604050505020204" pitchFamily="18" charset="0"/>
              </a:rPr>
              <a:t>ViewBoxes</a:t>
            </a:r>
            <a:r>
              <a:rPr lang="en-CA" b="1" dirty="0">
                <a:effectLst>
                  <a:outerShdw blurRad="38100" dist="38100" dir="2700000" algn="tl">
                    <a:srgbClr val="000000">
                      <a:alpha val="43137"/>
                    </a:srgbClr>
                  </a:outerShdw>
                </a:effectLst>
                <a:latin typeface="Bookman Old Style" panose="02050604050505020204" pitchFamily="18" charset="0"/>
              </a:rPr>
              <a:t> </a:t>
            </a:r>
            <a:r>
              <a:rPr lang="en-CA" dirty="0">
                <a:effectLst>
                  <a:outerShdw blurRad="38100" dist="38100" dir="2700000" algn="tl">
                    <a:srgbClr val="000000">
                      <a:alpha val="43137"/>
                    </a:srgbClr>
                  </a:outerShdw>
                </a:effectLst>
                <a:latin typeface="Bookman Old Style" panose="02050604050505020204" pitchFamily="18" charset="0"/>
              </a:rPr>
              <a:t>is </a:t>
            </a:r>
            <a:r>
              <a:rPr lang="en-CA" b="1" dirty="0">
                <a:effectLst>
                  <a:outerShdw blurRad="38100" dist="38100" dir="2700000" algn="tl">
                    <a:srgbClr val="000000">
                      <a:alpha val="43137"/>
                    </a:srgbClr>
                  </a:outerShdw>
                </a:effectLst>
                <a:latin typeface="Bookman Old Style" panose="02050604050505020204" pitchFamily="18" charset="0"/>
              </a:rPr>
              <a:t>exported as the default functional component</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When we say the component is exported, it </a:t>
            </a:r>
            <a:r>
              <a:rPr lang="en-US" b="1" dirty="0">
                <a:effectLst>
                  <a:outerShdw blurRad="38100" dist="38100" dir="2700000" algn="tl">
                    <a:srgbClr val="000000">
                      <a:alpha val="43137"/>
                    </a:srgbClr>
                  </a:outerShdw>
                </a:effectLst>
                <a:latin typeface="Bookman Old Style" panose="02050604050505020204" pitchFamily="18" charset="0"/>
              </a:rPr>
              <a:t>means that the component is made available for use in other parts of the application, so it can be imported and used elsewhere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There are </a:t>
            </a:r>
            <a:r>
              <a:rPr lang="en-US" b="1" dirty="0">
                <a:effectLst>
                  <a:outerShdw blurRad="38100" dist="38100" dir="2700000" algn="tl">
                    <a:srgbClr val="000000">
                      <a:alpha val="43137"/>
                    </a:srgbClr>
                  </a:outerShdw>
                </a:effectLst>
                <a:latin typeface="Bookman Old Style" panose="02050604050505020204" pitchFamily="18" charset="0"/>
              </a:rPr>
              <a:t>two types of exports in JavaScript</a:t>
            </a:r>
            <a:r>
              <a:rPr lang="en-US" dirty="0">
                <a:effectLst>
                  <a:outerShdw blurRad="38100" dist="38100" dir="2700000" algn="tl">
                    <a:srgbClr val="000000">
                      <a:alpha val="43137"/>
                    </a:srgbClr>
                  </a:outerShdw>
                </a:effectLst>
                <a:latin typeface="Bookman Old Style" panose="02050604050505020204" pitchFamily="18" charset="0"/>
              </a:rPr>
              <a:t>: </a:t>
            </a:r>
            <a:r>
              <a:rPr lang="en-US" b="1" dirty="0">
                <a:effectLst>
                  <a:outerShdw blurRad="38100" dist="38100" dir="2700000" algn="tl">
                    <a:srgbClr val="000000">
                      <a:alpha val="43137"/>
                    </a:srgbClr>
                  </a:outerShdw>
                </a:effectLst>
                <a:latin typeface="Bookman Old Style" panose="02050604050505020204" pitchFamily="18" charset="0"/>
              </a:rPr>
              <a:t>named exports </a:t>
            </a:r>
            <a:r>
              <a:rPr lang="en-US" dirty="0">
                <a:effectLst>
                  <a:outerShdw blurRad="38100" dist="38100" dir="2700000" algn="tl">
                    <a:srgbClr val="000000">
                      <a:alpha val="43137"/>
                    </a:srgbClr>
                  </a:outerShdw>
                </a:effectLst>
                <a:latin typeface="Bookman Old Style" panose="02050604050505020204" pitchFamily="18" charset="0"/>
              </a:rPr>
              <a:t>and </a:t>
            </a:r>
            <a:r>
              <a:rPr lang="en-US" b="1" dirty="0">
                <a:effectLst>
                  <a:outerShdw blurRad="38100" dist="38100" dir="2700000" algn="tl">
                    <a:srgbClr val="000000">
                      <a:alpha val="43137"/>
                    </a:srgbClr>
                  </a:outerShdw>
                </a:effectLst>
                <a:latin typeface="Bookman Old Style" panose="02050604050505020204" pitchFamily="18" charset="0"/>
              </a:rPr>
              <a:t>default exports</a:t>
            </a:r>
          </a:p>
          <a:p>
            <a:pPr marL="742950" lvl="1" indent="-285750">
              <a:lnSpc>
                <a:spcPct val="150000"/>
              </a:lnSpc>
              <a:buFont typeface="Wingdings" panose="05000000000000000000" pitchFamily="2" charset="2"/>
              <a:buChar char="Ø"/>
            </a:pPr>
            <a:r>
              <a:rPr lang="en-US" b="1" dirty="0">
                <a:effectLst>
                  <a:outerShdw blurRad="38100" dist="38100" dir="2700000" algn="tl">
                    <a:srgbClr val="000000">
                      <a:alpha val="43137"/>
                    </a:srgbClr>
                  </a:outerShdw>
                </a:effectLst>
                <a:latin typeface="Bookman Old Style" panose="02050604050505020204" pitchFamily="18" charset="0"/>
              </a:rPr>
              <a:t>Default export </a:t>
            </a:r>
            <a:r>
              <a:rPr lang="en-US" dirty="0">
                <a:effectLst>
                  <a:outerShdw blurRad="38100" dist="38100" dir="2700000" algn="tl">
                    <a:srgbClr val="000000">
                      <a:alpha val="43137"/>
                    </a:srgbClr>
                  </a:outerShdw>
                </a:effectLst>
                <a:latin typeface="Bookman Old Style" panose="02050604050505020204" pitchFamily="18" charset="0"/>
              </a:rPr>
              <a:t>allows a </a:t>
            </a:r>
            <a:r>
              <a:rPr lang="en-US" b="1" dirty="0">
                <a:effectLst>
                  <a:outerShdw blurRad="38100" dist="38100" dir="2700000" algn="tl">
                    <a:srgbClr val="000000">
                      <a:alpha val="43137"/>
                    </a:srgbClr>
                  </a:outerShdw>
                </a:effectLst>
                <a:latin typeface="Bookman Old Style" panose="02050604050505020204" pitchFamily="18" charset="0"/>
              </a:rPr>
              <a:t>single entity (component) to be exported </a:t>
            </a:r>
            <a:r>
              <a:rPr lang="en-US" dirty="0">
                <a:effectLst>
                  <a:outerShdw blurRad="38100" dist="38100" dir="2700000" algn="tl">
                    <a:srgbClr val="000000">
                      <a:alpha val="43137"/>
                    </a:srgbClr>
                  </a:outerShdw>
                </a:effectLst>
                <a:latin typeface="Bookman Old Style" panose="02050604050505020204" pitchFamily="18" charset="0"/>
              </a:rPr>
              <a:t>from the file and imported in other files with any name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A </a:t>
            </a:r>
            <a:r>
              <a:rPr lang="en-US" b="1" dirty="0">
                <a:effectLst>
                  <a:outerShdw blurRad="38100" dist="38100" dir="2700000" algn="tl">
                    <a:srgbClr val="000000">
                      <a:alpha val="43137"/>
                    </a:srgbClr>
                  </a:outerShdw>
                </a:effectLst>
                <a:latin typeface="Bookman Old Style" panose="02050604050505020204" pitchFamily="18" charset="0"/>
              </a:rPr>
              <a:t>named export </a:t>
            </a:r>
            <a:r>
              <a:rPr lang="en-US" dirty="0">
                <a:effectLst>
                  <a:outerShdw blurRad="38100" dist="38100" dir="2700000" algn="tl">
                    <a:srgbClr val="000000">
                      <a:alpha val="43137"/>
                    </a:srgbClr>
                  </a:outerShdw>
                </a:effectLst>
                <a:latin typeface="Bookman Old Style" panose="02050604050505020204" pitchFamily="18" charset="0"/>
              </a:rPr>
              <a:t>allows you to </a:t>
            </a:r>
            <a:r>
              <a:rPr lang="en-US" b="1" dirty="0">
                <a:effectLst>
                  <a:outerShdw blurRad="38100" dist="38100" dir="2700000" algn="tl">
                    <a:srgbClr val="000000">
                      <a:alpha val="43137"/>
                    </a:srgbClr>
                  </a:outerShdw>
                </a:effectLst>
                <a:latin typeface="Bookman Old Style" panose="02050604050505020204" pitchFamily="18" charset="0"/>
              </a:rPr>
              <a:t>export multiple variables, functions, or components </a:t>
            </a:r>
            <a:r>
              <a:rPr lang="en-US" dirty="0">
                <a:effectLst>
                  <a:outerShdw blurRad="38100" dist="38100" dir="2700000" algn="tl">
                    <a:srgbClr val="000000">
                      <a:alpha val="43137"/>
                    </a:srgbClr>
                  </a:outerShdw>
                </a:effectLst>
                <a:latin typeface="Bookman Old Style" panose="02050604050505020204" pitchFamily="18" charset="0"/>
              </a:rPr>
              <a:t>from a single file </a:t>
            </a:r>
            <a:r>
              <a:rPr lang="en-US" b="1" dirty="0">
                <a:effectLst>
                  <a:outerShdw blurRad="38100" dist="38100" dir="2700000" algn="tl">
                    <a:srgbClr val="000000">
                      <a:alpha val="43137"/>
                    </a:srgbClr>
                  </a:outerShdw>
                </a:effectLst>
                <a:latin typeface="Bookman Old Style" panose="02050604050505020204" pitchFamily="18" charset="0"/>
              </a:rPr>
              <a:t>by their names</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They must be imported using the same names in the file where they are used</a:t>
            </a:r>
          </a:p>
          <a:p>
            <a:pPr marL="1200150" lvl="2" indent="-285750">
              <a:lnSpc>
                <a:spcPct val="150000"/>
              </a:lnSpc>
              <a:buFont typeface="Wingdings" panose="05000000000000000000" pitchFamily="2" charset="2"/>
              <a:buChar char="§"/>
            </a:pPr>
            <a:r>
              <a:rPr lang="en-US" sz="1600" dirty="0">
                <a:effectLst>
                  <a:outerShdw blurRad="38100" dist="38100" dir="2700000" algn="tl">
                    <a:srgbClr val="000000">
                      <a:alpha val="43137"/>
                    </a:srgbClr>
                  </a:outerShdw>
                </a:effectLst>
                <a:latin typeface="Bookman Old Style" panose="02050604050505020204" pitchFamily="18" charset="0"/>
              </a:rPr>
              <a:t>We’ll discuss named exports later</a:t>
            </a:r>
          </a:p>
        </p:txBody>
      </p:sp>
    </p:spTree>
    <p:extLst>
      <p:ext uri="{BB962C8B-B14F-4D97-AF65-F5344CB8AC3E}">
        <p14:creationId xmlns:p14="http://schemas.microsoft.com/office/powerpoint/2010/main" val="4028939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3512-2928-6294-FC04-6AF2116BE6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963E2B-AA98-DF48-5543-3A2AFC6CCB14}"/>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33F5825-329D-F482-E2F4-0EF65AB61641}"/>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918CFF92-42DB-A302-E536-9955F93E60F6}"/>
              </a:ext>
            </a:extLst>
          </p:cNvPr>
          <p:cNvSpPr/>
          <p:nvPr/>
        </p:nvSpPr>
        <p:spPr>
          <a:xfrm>
            <a:off x="0" y="1161578"/>
            <a:ext cx="32552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&lt;View&gt; Element</a:t>
            </a:r>
            <a:endParaRPr lang="en-CA" sz="2200" dirty="0">
              <a:solidFill>
                <a:srgbClr val="FFFF00"/>
              </a:solidFill>
            </a:endParaRPr>
          </a:p>
        </p:txBody>
      </p:sp>
      <p:sp>
        <p:nvSpPr>
          <p:cNvPr id="8" name="TextBox 7">
            <a:extLst>
              <a:ext uri="{FF2B5EF4-FFF2-40B4-BE49-F238E27FC236}">
                <a16:creationId xmlns:a16="http://schemas.microsoft.com/office/drawing/2014/main" id="{6A145E71-98FA-208F-6984-4EF1CFBC6061}"/>
              </a:ext>
            </a:extLst>
          </p:cNvPr>
          <p:cNvSpPr txBox="1"/>
          <p:nvPr/>
        </p:nvSpPr>
        <p:spPr>
          <a:xfrm>
            <a:off x="0" y="1743080"/>
            <a:ext cx="1497330" cy="328680"/>
          </a:xfrm>
          <a:prstGeom prst="rect">
            <a:avLst/>
          </a:prstGeom>
          <a:noFill/>
        </p:spPr>
        <p:txBody>
          <a:bodyPr wrap="square">
            <a:spAutoFit/>
          </a:bodyPr>
          <a:lstStyle/>
          <a:p>
            <a:pPr>
              <a:lnSpc>
                <a:spcPts val="1800"/>
              </a:lnSpc>
            </a:pPr>
            <a:r>
              <a:rPr lang="en-CA" sz="2000" b="1" dirty="0">
                <a:effectLst>
                  <a:outerShdw blurRad="38100" dist="38100" dir="2700000" algn="tl">
                    <a:srgbClr val="000000">
                      <a:alpha val="43137"/>
                    </a:srgbClr>
                  </a:outerShdw>
                </a:effectLst>
                <a:latin typeface="Bookman Old Style" panose="02050604050505020204" pitchFamily="18" charset="0"/>
              </a:rPr>
              <a:t>Output:</a:t>
            </a:r>
          </a:p>
        </p:txBody>
      </p:sp>
      <p:pic>
        <p:nvPicPr>
          <p:cNvPr id="4" name="Picture 3">
            <a:extLst>
              <a:ext uri="{FF2B5EF4-FFF2-40B4-BE49-F238E27FC236}">
                <a16:creationId xmlns:a16="http://schemas.microsoft.com/office/drawing/2014/main" id="{97FC7782-2C1B-3DC8-F196-E35DA9CBD0AB}"/>
              </a:ext>
            </a:extLst>
          </p:cNvPr>
          <p:cNvPicPr>
            <a:picLocks noChangeAspect="1"/>
          </p:cNvPicPr>
          <p:nvPr/>
        </p:nvPicPr>
        <p:blipFill>
          <a:blip r:embed="rId4"/>
          <a:stretch>
            <a:fillRect/>
          </a:stretch>
        </p:blipFill>
        <p:spPr>
          <a:xfrm>
            <a:off x="82996" y="2062212"/>
            <a:ext cx="6317803" cy="545482"/>
          </a:xfrm>
          <a:prstGeom prst="rect">
            <a:avLst/>
          </a:prstGeom>
        </p:spPr>
      </p:pic>
      <p:pic>
        <p:nvPicPr>
          <p:cNvPr id="10" name="Picture 9">
            <a:extLst>
              <a:ext uri="{FF2B5EF4-FFF2-40B4-BE49-F238E27FC236}">
                <a16:creationId xmlns:a16="http://schemas.microsoft.com/office/drawing/2014/main" id="{859A686E-4ACE-6E44-AB71-DD126751A1CE}"/>
              </a:ext>
            </a:extLst>
          </p:cNvPr>
          <p:cNvPicPr>
            <a:picLocks noChangeAspect="1"/>
          </p:cNvPicPr>
          <p:nvPr/>
        </p:nvPicPr>
        <p:blipFill>
          <a:blip r:embed="rId5"/>
          <a:stretch>
            <a:fillRect/>
          </a:stretch>
        </p:blipFill>
        <p:spPr>
          <a:xfrm>
            <a:off x="688826" y="3500609"/>
            <a:ext cx="1272359" cy="2718580"/>
          </a:xfrm>
          <a:prstGeom prst="rect">
            <a:avLst/>
          </a:prstGeom>
        </p:spPr>
      </p:pic>
      <p:sp>
        <p:nvSpPr>
          <p:cNvPr id="11" name="TextBox 10">
            <a:extLst>
              <a:ext uri="{FF2B5EF4-FFF2-40B4-BE49-F238E27FC236}">
                <a16:creationId xmlns:a16="http://schemas.microsoft.com/office/drawing/2014/main" id="{FADC4096-9DFE-8464-69CF-CBF8C9F16B06}"/>
              </a:ext>
            </a:extLst>
          </p:cNvPr>
          <p:cNvSpPr txBox="1"/>
          <p:nvPr/>
        </p:nvSpPr>
        <p:spPr>
          <a:xfrm>
            <a:off x="93382" y="6219189"/>
            <a:ext cx="3768542" cy="542456"/>
          </a:xfrm>
          <a:prstGeom prst="rect">
            <a:avLst/>
          </a:prstGeom>
          <a:noFill/>
        </p:spPr>
        <p:txBody>
          <a:bodyPr wrap="square">
            <a:spAutoFit/>
          </a:bodyPr>
          <a:lstStyle/>
          <a:p>
            <a:pPr>
              <a:lnSpc>
                <a:spcPts val="1800"/>
              </a:lnSpc>
            </a:pP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SafeAreaView</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style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r>
              <a:rPr lang="en-US" sz="1400" b="0" dirty="0">
                <a:solidFill>
                  <a:srgbClr val="000000"/>
                </a:solidFill>
                <a:effectLst/>
                <a:highlight>
                  <a:srgbClr val="FFFF00"/>
                </a:highlight>
                <a:latin typeface="Consolas" panose="020B0609020204030204" pitchFamily="49" charset="0"/>
              </a:rPr>
              <a:t>height: </a:t>
            </a:r>
            <a:r>
              <a:rPr lang="en-US" sz="1400" b="0" dirty="0">
                <a:solidFill>
                  <a:srgbClr val="098658"/>
                </a:solidFill>
                <a:effectLst/>
                <a:highlight>
                  <a:srgbClr val="FFFF00"/>
                </a:highlight>
                <a:latin typeface="Consolas" panose="020B0609020204030204" pitchFamily="49" charset="0"/>
              </a:rPr>
              <a:t>100</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flexDirection</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'column'</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61686F0E-750F-C59D-8A03-3D0D1190945F}"/>
              </a:ext>
            </a:extLst>
          </p:cNvPr>
          <p:cNvPicPr>
            <a:picLocks noChangeAspect="1"/>
          </p:cNvPicPr>
          <p:nvPr/>
        </p:nvPicPr>
        <p:blipFill>
          <a:blip r:embed="rId6"/>
          <a:stretch>
            <a:fillRect/>
          </a:stretch>
        </p:blipFill>
        <p:spPr>
          <a:xfrm>
            <a:off x="4868203" y="3500609"/>
            <a:ext cx="1386292" cy="2718579"/>
          </a:xfrm>
          <a:prstGeom prst="rect">
            <a:avLst/>
          </a:prstGeom>
        </p:spPr>
      </p:pic>
      <p:sp>
        <p:nvSpPr>
          <p:cNvPr id="15" name="TextBox 14">
            <a:extLst>
              <a:ext uri="{FF2B5EF4-FFF2-40B4-BE49-F238E27FC236}">
                <a16:creationId xmlns:a16="http://schemas.microsoft.com/office/drawing/2014/main" id="{374D6FD4-B8DB-73D4-2C45-C88473E91814}"/>
              </a:ext>
            </a:extLst>
          </p:cNvPr>
          <p:cNvSpPr txBox="1"/>
          <p:nvPr/>
        </p:nvSpPr>
        <p:spPr>
          <a:xfrm>
            <a:off x="3966210" y="6232886"/>
            <a:ext cx="3522181" cy="542456"/>
          </a:xfrm>
          <a:prstGeom prst="rect">
            <a:avLst/>
          </a:prstGeom>
          <a:noFill/>
        </p:spPr>
        <p:txBody>
          <a:bodyPr wrap="square">
            <a:spAutoFit/>
          </a:bodyPr>
          <a:lstStyle/>
          <a:p>
            <a:pPr>
              <a:lnSpc>
                <a:spcPts val="1800"/>
              </a:lnSpc>
            </a:pP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SafeAreaView</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style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r>
              <a:rPr lang="en-US" sz="1400" b="0" dirty="0">
                <a:solidFill>
                  <a:srgbClr val="000000"/>
                </a:solidFill>
                <a:effectLst/>
                <a:highlight>
                  <a:srgbClr val="FFFF00"/>
                </a:highlight>
                <a:latin typeface="Consolas" panose="020B0609020204030204" pitchFamily="49" charset="0"/>
              </a:rPr>
              <a:t>flex: </a:t>
            </a:r>
            <a:r>
              <a:rPr lang="en-US" sz="1400" b="0" dirty="0">
                <a:solidFill>
                  <a:srgbClr val="098658"/>
                </a:solidFill>
                <a:effectLst/>
                <a:highlight>
                  <a:srgbClr val="FFFF00"/>
                </a:highligh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flexDirection</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a:t>
            </a:r>
            <a:r>
              <a:rPr lang="en-US" sz="1400" b="0" dirty="0">
                <a:solidFill>
                  <a:srgbClr val="A31515"/>
                </a:solidFill>
                <a:effectLst/>
                <a:highlight>
                  <a:srgbClr val="FFFF00"/>
                </a:highlight>
                <a:latin typeface="Consolas" panose="020B0609020204030204" pitchFamily="49" charset="0"/>
              </a:rPr>
              <a:t>column</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p:txBody>
      </p:sp>
      <p:pic>
        <p:nvPicPr>
          <p:cNvPr id="17" name="Picture 16">
            <a:extLst>
              <a:ext uri="{FF2B5EF4-FFF2-40B4-BE49-F238E27FC236}">
                <a16:creationId xmlns:a16="http://schemas.microsoft.com/office/drawing/2014/main" id="{74267471-C874-67B2-5235-213AFFBE4109}"/>
              </a:ext>
            </a:extLst>
          </p:cNvPr>
          <p:cNvPicPr>
            <a:picLocks noChangeAspect="1"/>
          </p:cNvPicPr>
          <p:nvPr/>
        </p:nvPicPr>
        <p:blipFill>
          <a:blip r:embed="rId7"/>
          <a:stretch>
            <a:fillRect/>
          </a:stretch>
        </p:blipFill>
        <p:spPr>
          <a:xfrm>
            <a:off x="8840730" y="3454796"/>
            <a:ext cx="1272359" cy="2773411"/>
          </a:xfrm>
          <a:prstGeom prst="rect">
            <a:avLst/>
          </a:prstGeom>
        </p:spPr>
      </p:pic>
      <p:sp>
        <p:nvSpPr>
          <p:cNvPr id="19" name="TextBox 18">
            <a:extLst>
              <a:ext uri="{FF2B5EF4-FFF2-40B4-BE49-F238E27FC236}">
                <a16:creationId xmlns:a16="http://schemas.microsoft.com/office/drawing/2014/main" id="{FF0ADDA3-6A33-E6A1-DA1C-343BA64D3DB8}"/>
              </a:ext>
            </a:extLst>
          </p:cNvPr>
          <p:cNvSpPr txBox="1"/>
          <p:nvPr/>
        </p:nvSpPr>
        <p:spPr>
          <a:xfrm>
            <a:off x="8324197" y="6234155"/>
            <a:ext cx="3389267" cy="542456"/>
          </a:xfrm>
          <a:prstGeom prst="rect">
            <a:avLst/>
          </a:prstGeom>
          <a:noFill/>
        </p:spPr>
        <p:txBody>
          <a:bodyPr wrap="square">
            <a:spAutoFit/>
          </a:bodyPr>
          <a:lstStyle/>
          <a:p>
            <a:pPr>
              <a:lnSpc>
                <a:spcPts val="1800"/>
              </a:lnSpc>
            </a:pP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SafeAreaView</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style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{flex: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flexDirection</a:t>
            </a:r>
            <a:r>
              <a:rPr lang="en-US" sz="1400" b="0" dirty="0">
                <a:solidFill>
                  <a:srgbClr val="000000"/>
                </a:solidFill>
                <a:effectLst/>
                <a:latin typeface="Consolas" panose="020B0609020204030204" pitchFamily="49" charset="0"/>
              </a:rPr>
              <a:t>: </a:t>
            </a:r>
            <a:r>
              <a:rPr lang="en-US" sz="1400" b="0" dirty="0">
                <a:solidFill>
                  <a:srgbClr val="A31515"/>
                </a:solidFill>
                <a:effectLst/>
                <a:highlight>
                  <a:srgbClr val="FFFF00"/>
                </a:highlight>
                <a:latin typeface="Consolas" panose="020B0609020204030204" pitchFamily="49" charset="0"/>
              </a:rPr>
              <a:t>'row'</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p:txBody>
      </p:sp>
      <p:pic>
        <p:nvPicPr>
          <p:cNvPr id="7" name="Picture 6">
            <a:extLst>
              <a:ext uri="{FF2B5EF4-FFF2-40B4-BE49-F238E27FC236}">
                <a16:creationId xmlns:a16="http://schemas.microsoft.com/office/drawing/2014/main" id="{F7117029-F9A8-6D5B-15EB-6B40F2614C03}"/>
              </a:ext>
            </a:extLst>
          </p:cNvPr>
          <p:cNvPicPr>
            <a:picLocks noChangeAspect="1"/>
          </p:cNvPicPr>
          <p:nvPr/>
        </p:nvPicPr>
        <p:blipFill>
          <a:blip r:embed="rId8"/>
          <a:stretch>
            <a:fillRect/>
          </a:stretch>
        </p:blipFill>
        <p:spPr>
          <a:xfrm>
            <a:off x="77831" y="2900534"/>
            <a:ext cx="7776757" cy="524366"/>
          </a:xfrm>
          <a:prstGeom prst="rect">
            <a:avLst/>
          </a:prstGeom>
        </p:spPr>
      </p:pic>
      <p:sp>
        <p:nvSpPr>
          <p:cNvPr id="2" name="TextBox 1">
            <a:extLst>
              <a:ext uri="{FF2B5EF4-FFF2-40B4-BE49-F238E27FC236}">
                <a16:creationId xmlns:a16="http://schemas.microsoft.com/office/drawing/2014/main" id="{DA101227-4188-0E4A-BF90-71BBBC5C8486}"/>
              </a:ext>
            </a:extLst>
          </p:cNvPr>
          <p:cNvSpPr txBox="1"/>
          <p:nvPr/>
        </p:nvSpPr>
        <p:spPr>
          <a:xfrm>
            <a:off x="2857893" y="2610778"/>
            <a:ext cx="1497330" cy="328680"/>
          </a:xfrm>
          <a:prstGeom prst="rect">
            <a:avLst/>
          </a:prstGeom>
          <a:noFill/>
        </p:spPr>
        <p:txBody>
          <a:bodyPr wrap="square">
            <a:spAutoFit/>
          </a:bodyPr>
          <a:lstStyle/>
          <a:p>
            <a:pPr>
              <a:lnSpc>
                <a:spcPts val="1800"/>
              </a:lnSpc>
            </a:pPr>
            <a:r>
              <a:rPr lang="en-CA" sz="2000" b="1" dirty="0">
                <a:effectLst>
                  <a:outerShdw blurRad="38100" dist="38100" dir="2700000" algn="tl">
                    <a:srgbClr val="000000">
                      <a:alpha val="43137"/>
                    </a:srgbClr>
                  </a:outerShdw>
                </a:effectLst>
                <a:latin typeface="Bookman Old Style" panose="02050604050505020204" pitchFamily="18" charset="0"/>
              </a:rPr>
              <a:t>OR</a:t>
            </a:r>
          </a:p>
        </p:txBody>
      </p:sp>
    </p:spTree>
    <p:extLst>
      <p:ext uri="{BB962C8B-B14F-4D97-AF65-F5344CB8AC3E}">
        <p14:creationId xmlns:p14="http://schemas.microsoft.com/office/powerpoint/2010/main" val="1777575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246C9-7545-F99B-E1B5-ED50CA8E01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53D046-6E96-7C2A-F131-8CBED139F6B2}"/>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619AC9DE-309B-9200-3E38-EF4B739C8D47}"/>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DC6431EE-417A-D046-C957-E0F89B96CB6F}"/>
              </a:ext>
            </a:extLst>
          </p:cNvPr>
          <p:cNvSpPr/>
          <p:nvPr/>
        </p:nvSpPr>
        <p:spPr>
          <a:xfrm>
            <a:off x="0" y="1161578"/>
            <a:ext cx="2962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&lt;Text&gt; Element</a:t>
            </a:r>
            <a:endParaRPr lang="en-CA" sz="2200" dirty="0">
              <a:solidFill>
                <a:srgbClr val="FFFF00"/>
              </a:solidFill>
            </a:endParaRPr>
          </a:p>
        </p:txBody>
      </p:sp>
      <p:sp>
        <p:nvSpPr>
          <p:cNvPr id="7" name="TextBox 6">
            <a:extLst>
              <a:ext uri="{FF2B5EF4-FFF2-40B4-BE49-F238E27FC236}">
                <a16:creationId xmlns:a16="http://schemas.microsoft.com/office/drawing/2014/main" id="{FE021A20-EA9E-DEBE-99D8-9257E8F5325E}"/>
              </a:ext>
            </a:extLst>
          </p:cNvPr>
          <p:cNvSpPr txBox="1"/>
          <p:nvPr/>
        </p:nvSpPr>
        <p:spPr>
          <a:xfrm>
            <a:off x="82296" y="1612599"/>
            <a:ext cx="11738610" cy="20818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The </a:t>
            </a:r>
            <a:r>
              <a:rPr lang="en-US" b="1" dirty="0">
                <a:effectLst>
                  <a:outerShdw blurRad="38100" dist="38100" dir="2700000" algn="tl">
                    <a:srgbClr val="000000">
                      <a:alpha val="43137"/>
                    </a:srgbClr>
                  </a:outerShdw>
                </a:effectLst>
                <a:latin typeface="Bookman Old Style" panose="02050604050505020204" pitchFamily="18" charset="0"/>
              </a:rPr>
              <a:t>Text component in React Native </a:t>
            </a:r>
            <a:r>
              <a:rPr lang="en-US" dirty="0">
                <a:effectLst>
                  <a:outerShdw blurRad="38100" dist="38100" dir="2700000" algn="tl">
                    <a:srgbClr val="000000">
                      <a:alpha val="43137"/>
                    </a:srgbClr>
                  </a:outerShdw>
                </a:effectLst>
                <a:latin typeface="Bookman Old Style" panose="02050604050505020204" pitchFamily="18" charset="0"/>
              </a:rPr>
              <a:t>is used </a:t>
            </a:r>
            <a:r>
              <a:rPr lang="en-US" b="1" dirty="0">
                <a:effectLst>
                  <a:outerShdw blurRad="38100" dist="38100" dir="2700000" algn="tl">
                    <a:srgbClr val="000000">
                      <a:alpha val="43137"/>
                    </a:srgbClr>
                  </a:outerShdw>
                </a:effectLst>
                <a:latin typeface="Bookman Old Style" panose="02050604050505020204" pitchFamily="18" charset="0"/>
              </a:rPr>
              <a:t>to display textual content on the screen</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a:t>
            </a:r>
            <a:r>
              <a:rPr lang="en-US" b="1" dirty="0">
                <a:effectLst>
                  <a:outerShdw blurRad="38100" dist="38100" dir="2700000" algn="tl">
                    <a:srgbClr val="000000">
                      <a:alpha val="43137"/>
                    </a:srgbClr>
                  </a:outerShdw>
                </a:effectLst>
                <a:latin typeface="Bookman Old Style" panose="02050604050505020204" pitchFamily="18" charset="0"/>
              </a:rPr>
              <a:t>works similarly </a:t>
            </a:r>
            <a:r>
              <a:rPr lang="en-US" dirty="0">
                <a:effectLst>
                  <a:outerShdw blurRad="38100" dist="38100" dir="2700000" algn="tl">
                    <a:srgbClr val="000000">
                      <a:alpha val="43137"/>
                    </a:srgbClr>
                  </a:outerShdw>
                </a:effectLst>
                <a:latin typeface="Bookman Old Style" panose="02050604050505020204" pitchFamily="18" charset="0"/>
              </a:rPr>
              <a:t>to a </a:t>
            </a:r>
            <a:r>
              <a:rPr lang="en-US" b="1" dirty="0">
                <a:effectLst>
                  <a:outerShdw blurRad="38100" dist="38100" dir="2700000" algn="tl">
                    <a:srgbClr val="000000">
                      <a:alpha val="43137"/>
                    </a:srgbClr>
                  </a:outerShdw>
                </a:effectLst>
                <a:latin typeface="Bookman Old Style" panose="02050604050505020204" pitchFamily="18" charset="0"/>
              </a:rPr>
              <a:t>&lt;p&gt; or &lt;span&gt; tag in HTML</a:t>
            </a:r>
          </a:p>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Supports styling, nesting, and event handling (like </a:t>
            </a:r>
            <a:r>
              <a:rPr lang="en-US" b="1" dirty="0" err="1">
                <a:effectLst>
                  <a:outerShdw blurRad="38100" dist="38100" dir="2700000" algn="tl">
                    <a:srgbClr val="000000">
                      <a:alpha val="43137"/>
                    </a:srgbClr>
                  </a:outerShdw>
                </a:effectLst>
                <a:latin typeface="Bookman Old Style" panose="02050604050505020204" pitchFamily="18" charset="0"/>
              </a:rPr>
              <a:t>onPress</a:t>
            </a:r>
            <a:r>
              <a:rPr lang="en-US" b="1" dirty="0">
                <a:effectLst>
                  <a:outerShdw blurRad="38100" dist="38100" dir="2700000" algn="tl">
                    <a:srgbClr val="000000">
                      <a:alpha val="43137"/>
                    </a:srgbClr>
                  </a:outerShdw>
                </a:effectLst>
                <a:latin typeface="Bookman Old Style" panose="02050604050505020204" pitchFamily="18" charset="0"/>
              </a:rPr>
              <a: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Consider that we're creating a Welcome Screen for a mobile banking app:</a:t>
            </a:r>
          </a:p>
          <a:p>
            <a:pPr marL="285750" indent="-285750">
              <a:lnSpc>
                <a:spcPct val="150000"/>
              </a:lnSpc>
              <a:buFont typeface="Arial" panose="020B0604020202020204" pitchFamily="34" charset="0"/>
              <a:buChar char="•"/>
            </a:pPr>
            <a:endParaRPr lang="en-US" sz="1600" dirty="0">
              <a:effectLst>
                <a:outerShdw blurRad="38100" dist="38100" dir="2700000" algn="tl">
                  <a:srgbClr val="000000">
                    <a:alpha val="43137"/>
                  </a:srgbClr>
                </a:outerShdw>
              </a:effectLst>
              <a:latin typeface="Bookman Old Style" panose="02050604050505020204" pitchFamily="18" charset="0"/>
            </a:endParaRPr>
          </a:p>
        </p:txBody>
      </p:sp>
      <p:pic>
        <p:nvPicPr>
          <p:cNvPr id="4" name="Picture 3">
            <a:extLst>
              <a:ext uri="{FF2B5EF4-FFF2-40B4-BE49-F238E27FC236}">
                <a16:creationId xmlns:a16="http://schemas.microsoft.com/office/drawing/2014/main" id="{A5C3CE9B-E8FD-856D-D75A-3D29D00D0825}"/>
              </a:ext>
            </a:extLst>
          </p:cNvPr>
          <p:cNvPicPr>
            <a:picLocks noChangeAspect="1"/>
          </p:cNvPicPr>
          <p:nvPr/>
        </p:nvPicPr>
        <p:blipFill>
          <a:blip r:embed="rId4"/>
          <a:stretch>
            <a:fillRect/>
          </a:stretch>
        </p:blipFill>
        <p:spPr>
          <a:xfrm>
            <a:off x="518398" y="3630169"/>
            <a:ext cx="8598170" cy="1735630"/>
          </a:xfrm>
          <a:prstGeom prst="rect">
            <a:avLst/>
          </a:prstGeom>
        </p:spPr>
      </p:pic>
    </p:spTree>
    <p:extLst>
      <p:ext uri="{BB962C8B-B14F-4D97-AF65-F5344CB8AC3E}">
        <p14:creationId xmlns:p14="http://schemas.microsoft.com/office/powerpoint/2010/main" val="3076214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BE221-4B0F-0D1A-E2C2-5C861166E2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103D892-88F1-B389-19D9-EE56598B186D}"/>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AD3985F0-1213-51EB-BC33-FB626123D707}"/>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02FDC8CD-C30E-DC27-0734-A2C37EEAD6B7}"/>
              </a:ext>
            </a:extLst>
          </p:cNvPr>
          <p:cNvSpPr/>
          <p:nvPr/>
        </p:nvSpPr>
        <p:spPr>
          <a:xfrm>
            <a:off x="0" y="1161578"/>
            <a:ext cx="2962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&lt;Text&gt; Element</a:t>
            </a:r>
            <a:endParaRPr lang="en-CA" sz="2200" dirty="0">
              <a:solidFill>
                <a:srgbClr val="FFFF00"/>
              </a:solidFill>
            </a:endParaRPr>
          </a:p>
        </p:txBody>
      </p:sp>
      <p:sp>
        <p:nvSpPr>
          <p:cNvPr id="9" name="TextBox 8">
            <a:extLst>
              <a:ext uri="{FF2B5EF4-FFF2-40B4-BE49-F238E27FC236}">
                <a16:creationId xmlns:a16="http://schemas.microsoft.com/office/drawing/2014/main" id="{B2091857-3D1A-ED8D-D43D-231B3D39B668}"/>
              </a:ext>
            </a:extLst>
          </p:cNvPr>
          <p:cNvSpPr txBox="1"/>
          <p:nvPr/>
        </p:nvSpPr>
        <p:spPr>
          <a:xfrm>
            <a:off x="162306" y="5362490"/>
            <a:ext cx="11738610" cy="12917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have used three Text elements: one for a headline and two for subtexts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have </a:t>
            </a:r>
            <a:r>
              <a:rPr lang="en-US" b="1" dirty="0">
                <a:effectLst>
                  <a:outerShdw blurRad="38100" dist="38100" dir="2700000" algn="tl">
                    <a:srgbClr val="000000">
                      <a:alpha val="43137"/>
                    </a:srgbClr>
                  </a:outerShdw>
                </a:effectLst>
                <a:latin typeface="Bookman Old Style" panose="02050604050505020204" pitchFamily="18" charset="0"/>
              </a:rPr>
              <a:t>not applied any styling to these Text elements </a:t>
            </a:r>
            <a:r>
              <a:rPr lang="en-US" dirty="0">
                <a:effectLst>
                  <a:outerShdw blurRad="38100" dist="38100" dir="2700000" algn="tl">
                    <a:srgbClr val="000000">
                      <a:alpha val="43137"/>
                    </a:srgbClr>
                  </a:outerShdw>
                </a:effectLst>
                <a:latin typeface="Bookman Old Style" panose="02050604050505020204" pitchFamily="18" charset="0"/>
              </a:rPr>
              <a:t>and so </a:t>
            </a:r>
            <a:r>
              <a:rPr lang="en-US" b="1" dirty="0">
                <a:effectLst>
                  <a:outerShdw blurRad="38100" dist="38100" dir="2700000" algn="tl">
                    <a:srgbClr val="000000">
                      <a:alpha val="43137"/>
                    </a:srgbClr>
                  </a:outerShdw>
                </a:effectLst>
                <a:latin typeface="Bookman Old Style" panose="02050604050505020204" pitchFamily="18" charset="0"/>
              </a:rPr>
              <a:t>we cannot see any visual effect of header and sub header</a:t>
            </a:r>
          </a:p>
        </p:txBody>
      </p:sp>
      <p:pic>
        <p:nvPicPr>
          <p:cNvPr id="11" name="Picture 10">
            <a:extLst>
              <a:ext uri="{FF2B5EF4-FFF2-40B4-BE49-F238E27FC236}">
                <a16:creationId xmlns:a16="http://schemas.microsoft.com/office/drawing/2014/main" id="{B72248A7-CC68-31BA-C4F0-7D9F9CF5EF54}"/>
              </a:ext>
            </a:extLst>
          </p:cNvPr>
          <p:cNvPicPr>
            <a:picLocks noChangeAspect="1"/>
          </p:cNvPicPr>
          <p:nvPr/>
        </p:nvPicPr>
        <p:blipFill>
          <a:blip r:embed="rId4"/>
          <a:stretch>
            <a:fillRect/>
          </a:stretch>
        </p:blipFill>
        <p:spPr>
          <a:xfrm>
            <a:off x="237744" y="1777292"/>
            <a:ext cx="8181015" cy="3462220"/>
          </a:xfrm>
          <a:prstGeom prst="rect">
            <a:avLst/>
          </a:prstGeom>
        </p:spPr>
      </p:pic>
      <p:pic>
        <p:nvPicPr>
          <p:cNvPr id="15" name="Picture 14">
            <a:extLst>
              <a:ext uri="{FF2B5EF4-FFF2-40B4-BE49-F238E27FC236}">
                <a16:creationId xmlns:a16="http://schemas.microsoft.com/office/drawing/2014/main" id="{C8586056-533C-1227-51B7-E2E4DDABF6EA}"/>
              </a:ext>
            </a:extLst>
          </p:cNvPr>
          <p:cNvPicPr>
            <a:picLocks noChangeAspect="1"/>
          </p:cNvPicPr>
          <p:nvPr/>
        </p:nvPicPr>
        <p:blipFill>
          <a:blip r:embed="rId5"/>
          <a:stretch>
            <a:fillRect/>
          </a:stretch>
        </p:blipFill>
        <p:spPr>
          <a:xfrm>
            <a:off x="9173886" y="1633456"/>
            <a:ext cx="2293058" cy="3749891"/>
          </a:xfrm>
          <a:prstGeom prst="rect">
            <a:avLst/>
          </a:prstGeom>
        </p:spPr>
      </p:pic>
    </p:spTree>
    <p:extLst>
      <p:ext uri="{BB962C8B-B14F-4D97-AF65-F5344CB8AC3E}">
        <p14:creationId xmlns:p14="http://schemas.microsoft.com/office/powerpoint/2010/main" val="393964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2F6F4-2329-678F-539A-4E483D8BD8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00635F-93BB-5331-8B4E-85E2F67A59C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F3612E1-8739-28E0-CDFF-C9280F438CFC}"/>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7FECA980-5AA5-AD87-2F49-D995B7E83A3F}"/>
              </a:ext>
            </a:extLst>
          </p:cNvPr>
          <p:cNvSpPr/>
          <p:nvPr/>
        </p:nvSpPr>
        <p:spPr>
          <a:xfrm>
            <a:off x="0" y="1161578"/>
            <a:ext cx="2962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&lt;Text&gt; Element</a:t>
            </a:r>
            <a:endParaRPr lang="en-CA" sz="2200" dirty="0">
              <a:solidFill>
                <a:srgbClr val="FFFF00"/>
              </a:solidFill>
            </a:endParaRPr>
          </a:p>
        </p:txBody>
      </p:sp>
      <p:sp>
        <p:nvSpPr>
          <p:cNvPr id="9" name="TextBox 8">
            <a:extLst>
              <a:ext uri="{FF2B5EF4-FFF2-40B4-BE49-F238E27FC236}">
                <a16:creationId xmlns:a16="http://schemas.microsoft.com/office/drawing/2014/main" id="{53FC9F5A-D103-FAF1-7684-01CCB735B294}"/>
              </a:ext>
            </a:extLst>
          </p:cNvPr>
          <p:cNvSpPr txBox="1"/>
          <p:nvPr/>
        </p:nvSpPr>
        <p:spPr>
          <a:xfrm>
            <a:off x="0" y="1612599"/>
            <a:ext cx="11738610" cy="29537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&lt;View&gt; </a:t>
            </a:r>
            <a:r>
              <a:rPr lang="en-US" dirty="0">
                <a:effectLst>
                  <a:outerShdw blurRad="38100" dist="38100" dir="2700000" algn="tl">
                    <a:srgbClr val="000000">
                      <a:alpha val="43137"/>
                    </a:srgbClr>
                  </a:outerShdw>
                </a:effectLst>
                <a:latin typeface="Bookman Old Style" panose="02050604050505020204" pitchFamily="18" charset="0"/>
              </a:rPr>
              <a:t>plays a </a:t>
            </a:r>
            <a:r>
              <a:rPr lang="en-US" b="1" dirty="0">
                <a:effectLst>
                  <a:outerShdw blurRad="38100" dist="38100" dir="2700000" algn="tl">
                    <a:srgbClr val="000000">
                      <a:alpha val="43137"/>
                    </a:srgbClr>
                  </a:outerShdw>
                </a:effectLst>
                <a:latin typeface="Bookman Old Style" panose="02050604050505020204" pitchFamily="18" charset="0"/>
              </a:rPr>
              <a:t>similar role </a:t>
            </a:r>
            <a:r>
              <a:rPr lang="en-US" dirty="0">
                <a:effectLst>
                  <a:outerShdw blurRad="38100" dist="38100" dir="2700000" algn="tl">
                    <a:srgbClr val="000000">
                      <a:alpha val="43137"/>
                    </a:srgbClr>
                  </a:outerShdw>
                </a:effectLst>
                <a:latin typeface="Bookman Old Style" panose="02050604050505020204" pitchFamily="18" charset="0"/>
              </a:rPr>
              <a:t>to </a:t>
            </a:r>
            <a:r>
              <a:rPr lang="en-US" b="1" dirty="0">
                <a:effectLst>
                  <a:outerShdw blurRad="38100" dist="38100" dir="2700000" algn="tl">
                    <a:srgbClr val="000000">
                      <a:alpha val="43137"/>
                    </a:srgbClr>
                  </a:outerShdw>
                </a:effectLst>
                <a:latin typeface="Bookman Old Style" panose="02050604050505020204" pitchFamily="18" charset="0"/>
              </a:rPr>
              <a:t>&lt;div&gt; </a:t>
            </a:r>
            <a:r>
              <a:rPr lang="en-US" dirty="0">
                <a:effectLst>
                  <a:outerShdw blurRad="38100" dist="38100" dir="2700000" algn="tl">
                    <a:srgbClr val="000000">
                      <a:alpha val="43137"/>
                    </a:srgbClr>
                  </a:outerShdw>
                </a:effectLst>
                <a:latin typeface="Bookman Old Style" panose="02050604050505020204" pitchFamily="18" charset="0"/>
              </a:rPr>
              <a:t>in web development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this specific case, &lt;View&gt; is used to:</a:t>
            </a:r>
          </a:p>
          <a:p>
            <a:pPr marL="742950" lvl="1" indent="-285750">
              <a:lnSpc>
                <a:spcPct val="150000"/>
              </a:lnSpc>
              <a:buFont typeface="Wingdings" panose="05000000000000000000" pitchFamily="2" charset="2"/>
              <a:buChar char="q"/>
            </a:pPr>
            <a:r>
              <a:rPr lang="en-US" b="1" dirty="0">
                <a:effectLst>
                  <a:outerShdw blurRad="38100" dist="38100" dir="2700000" algn="tl">
                    <a:srgbClr val="000000">
                      <a:alpha val="43137"/>
                    </a:srgbClr>
                  </a:outerShdw>
                </a:effectLst>
                <a:latin typeface="Bookman Old Style" panose="02050604050505020204" pitchFamily="18" charset="0"/>
              </a:rPr>
              <a:t>Group multiple &lt;Text&gt; elements</a:t>
            </a:r>
            <a:r>
              <a:rPr lang="en-US" dirty="0">
                <a:effectLst>
                  <a:outerShdw blurRad="38100" dist="38100" dir="2700000" algn="tl">
                    <a:srgbClr val="000000">
                      <a:alpha val="43137"/>
                    </a:srgbClr>
                  </a:outerShdw>
                </a:effectLst>
                <a:latin typeface="Bookman Old Style" panose="02050604050505020204" pitchFamily="18" charset="0"/>
              </a:rPr>
              <a:t>:</a:t>
            </a:r>
          </a:p>
          <a:p>
            <a:pPr marL="1200150" lvl="2" indent="-285750">
              <a:lnSpc>
                <a:spcPct val="150000"/>
              </a:lnSpc>
              <a:buFont typeface="Wingdings" panose="05000000000000000000" pitchFamily="2" charset="2"/>
              <a:buChar char="§"/>
            </a:pPr>
            <a:r>
              <a:rPr lang="en-US" dirty="0">
                <a:effectLst>
                  <a:outerShdw blurRad="38100" dist="38100" dir="2700000" algn="tl">
                    <a:srgbClr val="000000">
                      <a:alpha val="43137"/>
                    </a:srgbClr>
                  </a:outerShdw>
                </a:effectLst>
                <a:latin typeface="Bookman Old Style" panose="02050604050505020204" pitchFamily="18" charset="0"/>
              </a:rPr>
              <a:t>React Native </a:t>
            </a:r>
            <a:r>
              <a:rPr lang="en-US" b="1" dirty="0">
                <a:effectLst>
                  <a:outerShdw blurRad="38100" dist="38100" dir="2700000" algn="tl">
                    <a:srgbClr val="000000">
                      <a:alpha val="43137"/>
                    </a:srgbClr>
                  </a:outerShdw>
                </a:effectLst>
                <a:latin typeface="Bookman Old Style" panose="02050604050505020204" pitchFamily="18" charset="0"/>
              </a:rPr>
              <a:t>requires a single root component </a:t>
            </a:r>
            <a:r>
              <a:rPr lang="en-US" dirty="0">
                <a:effectLst>
                  <a:outerShdw blurRad="38100" dist="38100" dir="2700000" algn="tl">
                    <a:srgbClr val="000000">
                      <a:alpha val="43137"/>
                    </a:srgbClr>
                  </a:outerShdw>
                </a:effectLst>
                <a:latin typeface="Bookman Old Style" panose="02050604050505020204" pitchFamily="18" charset="0"/>
              </a:rPr>
              <a:t>in a return block</a:t>
            </a:r>
          </a:p>
          <a:p>
            <a:pPr marL="1200150" lvl="2" indent="-285750">
              <a:lnSpc>
                <a:spcPct val="150000"/>
              </a:lnSpc>
              <a:buFont typeface="Wingdings" panose="05000000000000000000" pitchFamily="2" charset="2"/>
              <a:buChar char="§"/>
            </a:pPr>
            <a:r>
              <a:rPr lang="en-US" dirty="0">
                <a:effectLst>
                  <a:outerShdw blurRad="38100" dist="38100" dir="2700000" algn="tl">
                    <a:srgbClr val="000000">
                      <a:alpha val="43137"/>
                    </a:srgbClr>
                  </a:outerShdw>
                </a:effectLst>
                <a:latin typeface="Bookman Old Style" panose="02050604050505020204" pitchFamily="18" charset="0"/>
              </a:rPr>
              <a:t>You </a:t>
            </a:r>
            <a:r>
              <a:rPr lang="en-US" b="1" dirty="0">
                <a:effectLst>
                  <a:outerShdw blurRad="38100" dist="38100" dir="2700000" algn="tl">
                    <a:srgbClr val="000000">
                      <a:alpha val="43137"/>
                    </a:srgbClr>
                  </a:outerShdw>
                </a:effectLst>
                <a:latin typeface="Bookman Old Style" panose="02050604050505020204" pitchFamily="18" charset="0"/>
              </a:rPr>
              <a:t>cannot return multiple &lt;Text&gt; elements side by side without wrapping them in a parent</a:t>
            </a:r>
          </a:p>
          <a:p>
            <a:pPr marL="1200150" lvl="2" indent="-285750">
              <a:lnSpc>
                <a:spcPct val="150000"/>
              </a:lnSpc>
              <a:buFont typeface="Wingdings" panose="05000000000000000000" pitchFamily="2" charset="2"/>
              <a:buChar char="§"/>
            </a:pPr>
            <a:r>
              <a:rPr lang="en-US" dirty="0">
                <a:effectLst>
                  <a:outerShdw blurRad="38100" dist="38100" dir="2700000" algn="tl">
                    <a:srgbClr val="000000">
                      <a:alpha val="43137"/>
                    </a:srgbClr>
                  </a:outerShdw>
                </a:effectLst>
                <a:latin typeface="Bookman Old Style" panose="02050604050505020204" pitchFamily="18" charset="0"/>
              </a:rPr>
              <a:t>Here &lt;View&gt; serves that purpose</a:t>
            </a:r>
          </a:p>
        </p:txBody>
      </p:sp>
    </p:spTree>
    <p:extLst>
      <p:ext uri="{BB962C8B-B14F-4D97-AF65-F5344CB8AC3E}">
        <p14:creationId xmlns:p14="http://schemas.microsoft.com/office/powerpoint/2010/main" val="2714912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3B6D-F2B6-5C1A-C50F-4EF0F6E4E2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7CF775-B209-7B3D-7C0C-E5F9ABFDD1C6}"/>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82336A37-9A46-023B-5872-6D4C4E60D1F3}"/>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00838EA0-7176-0743-E37C-D775F0590EEE}"/>
              </a:ext>
            </a:extLst>
          </p:cNvPr>
          <p:cNvSpPr/>
          <p:nvPr/>
        </p:nvSpPr>
        <p:spPr>
          <a:xfrm>
            <a:off x="0" y="1161578"/>
            <a:ext cx="43068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StyleSheets</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in React Native</a:t>
            </a:r>
            <a:endParaRPr lang="en-CA" sz="2200" dirty="0">
              <a:solidFill>
                <a:srgbClr val="FFFF00"/>
              </a:solidFill>
            </a:endParaRPr>
          </a:p>
        </p:txBody>
      </p:sp>
      <p:sp>
        <p:nvSpPr>
          <p:cNvPr id="9" name="TextBox 8">
            <a:extLst>
              <a:ext uri="{FF2B5EF4-FFF2-40B4-BE49-F238E27FC236}">
                <a16:creationId xmlns:a16="http://schemas.microsoft.com/office/drawing/2014/main" id="{CAB04F43-04F9-E7C2-D9F9-662623CC920D}"/>
              </a:ext>
            </a:extLst>
          </p:cNvPr>
          <p:cNvSpPr txBox="1"/>
          <p:nvPr/>
        </p:nvSpPr>
        <p:spPr>
          <a:xfrm>
            <a:off x="0" y="1612599"/>
            <a:ext cx="11738610" cy="33692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React Native, </a:t>
            </a:r>
            <a:r>
              <a:rPr lang="en-US" b="1" dirty="0" err="1">
                <a:effectLst>
                  <a:outerShdw blurRad="38100" dist="38100" dir="2700000" algn="tl">
                    <a:srgbClr val="000000">
                      <a:alpha val="43137"/>
                    </a:srgbClr>
                  </a:outerShdw>
                </a:effectLst>
                <a:latin typeface="Bookman Old Style" panose="02050604050505020204" pitchFamily="18" charset="0"/>
              </a:rPr>
              <a:t>StyleSheet</a:t>
            </a:r>
            <a:r>
              <a:rPr lang="en-US" b="1" dirty="0">
                <a:effectLst>
                  <a:outerShdw blurRad="38100" dist="38100" dir="2700000" algn="tl">
                    <a:srgbClr val="000000">
                      <a:alpha val="43137"/>
                    </a:srgbClr>
                  </a:outerShdw>
                </a:effectLst>
                <a:latin typeface="Bookman Old Style" panose="02050604050505020204" pitchFamily="18" charset="0"/>
              </a:rPr>
              <a:t> is used to define styles for components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is </a:t>
            </a:r>
            <a:r>
              <a:rPr lang="en-US" b="1" dirty="0">
                <a:effectLst>
                  <a:outerShdw blurRad="38100" dist="38100" dir="2700000" algn="tl">
                    <a:srgbClr val="000000">
                      <a:alpha val="43137"/>
                    </a:srgbClr>
                  </a:outerShdw>
                </a:effectLst>
                <a:latin typeface="Bookman Old Style" panose="02050604050505020204" pitchFamily="18" charset="0"/>
              </a:rPr>
              <a:t>similar to CSS on the web</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Instead of using inline styles everywhere (which can get messy), we define all styles in one place using </a:t>
            </a:r>
            <a:r>
              <a:rPr lang="en-US" b="1" dirty="0" err="1">
                <a:effectLst>
                  <a:outerShdw blurRad="38100" dist="38100" dir="2700000" algn="tl">
                    <a:srgbClr val="000000">
                      <a:alpha val="43137"/>
                    </a:srgbClr>
                  </a:outerShdw>
                </a:effectLst>
                <a:latin typeface="Bookman Old Style" panose="02050604050505020204" pitchFamily="18" charset="0"/>
              </a:rPr>
              <a:t>StyleSheet.create</a:t>
            </a:r>
            <a:r>
              <a:rPr lang="en-US" b="1" dirty="0">
                <a:effectLst>
                  <a:outerShdw blurRad="38100" dist="38100" dir="2700000" algn="tl">
                    <a:srgbClr val="000000">
                      <a:alpha val="43137"/>
                    </a:srgbClr>
                  </a:outerShdw>
                </a:effectLst>
                <a:latin typeface="Bookman Old Style" panose="02050604050505020204" pitchFamily="18" charset="0"/>
              </a:rPr>
              <a:t>() </a:t>
            </a:r>
            <a:r>
              <a:rPr lang="en-US" dirty="0">
                <a:effectLst>
                  <a:outerShdw blurRad="38100" dist="38100" dir="2700000" algn="tl">
                    <a:srgbClr val="000000">
                      <a:alpha val="43137"/>
                    </a:srgbClr>
                  </a:outerShdw>
                </a:effectLst>
                <a:latin typeface="Bookman Old Style" panose="02050604050505020204" pitchFamily="18" charset="0"/>
              </a:rPr>
              <a:t>and apply them with the ‘</a:t>
            </a:r>
            <a:r>
              <a:rPr lang="en-US" b="1" dirty="0">
                <a:effectLst>
                  <a:outerShdw blurRad="38100" dist="38100" dir="2700000" algn="tl">
                    <a:srgbClr val="000000">
                      <a:alpha val="43137"/>
                    </a:srgbClr>
                  </a:outerShdw>
                </a:effectLst>
                <a:latin typeface="Bookman Old Style" panose="02050604050505020204" pitchFamily="18" charset="0"/>
              </a:rPr>
              <a:t>style</a:t>
            </a:r>
            <a:r>
              <a:rPr lang="en-US" dirty="0">
                <a:effectLst>
                  <a:outerShdw blurRad="38100" dist="38100" dir="2700000" algn="tl">
                    <a:srgbClr val="000000">
                      <a:alpha val="43137"/>
                    </a:srgbClr>
                  </a:outerShdw>
                </a:effectLst>
                <a:latin typeface="Bookman Old Style" panose="02050604050505020204" pitchFamily="18" charset="0"/>
              </a:rPr>
              <a:t>’ </a:t>
            </a:r>
            <a:r>
              <a:rPr lang="en-US" b="1" dirty="0">
                <a:effectLst>
                  <a:outerShdw blurRad="38100" dist="38100" dir="2700000" algn="tl">
                    <a:srgbClr val="000000">
                      <a:alpha val="43137"/>
                    </a:srgbClr>
                  </a:outerShdw>
                </a:effectLst>
                <a:latin typeface="Bookman Old Style" panose="02050604050505020204" pitchFamily="18" charset="0"/>
              </a:rPr>
              <a:t>prop</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approach offers:</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Cleaner code </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Better readability</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Performance optimizations </a:t>
            </a:r>
          </a:p>
        </p:txBody>
      </p:sp>
    </p:spTree>
    <p:extLst>
      <p:ext uri="{BB962C8B-B14F-4D97-AF65-F5344CB8AC3E}">
        <p14:creationId xmlns:p14="http://schemas.microsoft.com/office/powerpoint/2010/main" val="3573143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F195F-BA60-C91B-6289-AFE595824A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3C151B-720F-0C79-D5E8-E849DF75E6C6}"/>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2A71FE7A-B832-549A-D995-FE6647371576}"/>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951FBB3A-B033-585D-146A-01F956965095}"/>
              </a:ext>
            </a:extLst>
          </p:cNvPr>
          <p:cNvSpPr/>
          <p:nvPr/>
        </p:nvSpPr>
        <p:spPr>
          <a:xfrm>
            <a:off x="0" y="1161578"/>
            <a:ext cx="43068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StyleSheets</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in React Native</a:t>
            </a:r>
            <a:endParaRPr lang="en-CA" sz="2200" dirty="0">
              <a:solidFill>
                <a:srgbClr val="FFFF00"/>
              </a:solidFill>
            </a:endParaRPr>
          </a:p>
        </p:txBody>
      </p:sp>
      <p:sp>
        <p:nvSpPr>
          <p:cNvPr id="9" name="TextBox 8">
            <a:extLst>
              <a:ext uri="{FF2B5EF4-FFF2-40B4-BE49-F238E27FC236}">
                <a16:creationId xmlns:a16="http://schemas.microsoft.com/office/drawing/2014/main" id="{5F70E742-7DA3-9D8B-0AC3-E048CDF67946}"/>
              </a:ext>
            </a:extLst>
          </p:cNvPr>
          <p:cNvSpPr txBox="1"/>
          <p:nvPr/>
        </p:nvSpPr>
        <p:spPr>
          <a:xfrm>
            <a:off x="0" y="1612599"/>
            <a:ext cx="11738610" cy="12917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Let’s now refactor our “Welcome Screen" to use </a:t>
            </a:r>
            <a:r>
              <a:rPr lang="en-US" dirty="0" err="1">
                <a:effectLst>
                  <a:outerShdw blurRad="38100" dist="38100" dir="2700000" algn="tl">
                    <a:srgbClr val="000000">
                      <a:alpha val="43137"/>
                    </a:srgbClr>
                  </a:outerShdw>
                </a:effectLst>
                <a:latin typeface="Bookman Old Style" panose="02050604050505020204" pitchFamily="18" charset="0"/>
              </a:rPr>
              <a:t>StyleSheet</a:t>
            </a:r>
            <a:r>
              <a:rPr lang="en-US" dirty="0">
                <a:effectLst>
                  <a:outerShdw blurRad="38100" dist="38100" dir="2700000" algn="tl">
                    <a:srgbClr val="000000">
                      <a:alpha val="43137"/>
                    </a:srgbClr>
                  </a:outerShdw>
                </a:effectLst>
                <a:latin typeface="Bookman Old Style" panose="02050604050505020204" pitchFamily="18" charset="0"/>
              </a:rPr>
              <a:t> to style the &lt;View&gt; and &lt;Text&gt; elements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Create a new </a:t>
            </a:r>
            <a:r>
              <a:rPr lang="en-US" dirty="0" err="1">
                <a:effectLst>
                  <a:outerShdw blurRad="38100" dist="38100" dir="2700000" algn="tl">
                    <a:srgbClr val="000000">
                      <a:alpha val="43137"/>
                    </a:srgbClr>
                  </a:outerShdw>
                </a:effectLst>
                <a:latin typeface="Bookman Old Style" panose="02050604050505020204" pitchFamily="18" charset="0"/>
              </a:rPr>
              <a:t>StyleSheet</a:t>
            </a: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8" name="Picture 7">
            <a:extLst>
              <a:ext uri="{FF2B5EF4-FFF2-40B4-BE49-F238E27FC236}">
                <a16:creationId xmlns:a16="http://schemas.microsoft.com/office/drawing/2014/main" id="{A7A2DB13-A50C-61C4-068F-AD188C38C852}"/>
              </a:ext>
            </a:extLst>
          </p:cNvPr>
          <p:cNvPicPr>
            <a:picLocks noChangeAspect="1"/>
          </p:cNvPicPr>
          <p:nvPr/>
        </p:nvPicPr>
        <p:blipFill>
          <a:blip r:embed="rId4"/>
          <a:stretch>
            <a:fillRect/>
          </a:stretch>
        </p:blipFill>
        <p:spPr>
          <a:xfrm>
            <a:off x="2540757" y="2635706"/>
            <a:ext cx="4143507" cy="3953637"/>
          </a:xfrm>
          <a:prstGeom prst="rect">
            <a:avLst/>
          </a:prstGeom>
        </p:spPr>
      </p:pic>
    </p:spTree>
    <p:extLst>
      <p:ext uri="{BB962C8B-B14F-4D97-AF65-F5344CB8AC3E}">
        <p14:creationId xmlns:p14="http://schemas.microsoft.com/office/powerpoint/2010/main" val="655495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DAF2-58CF-F3ED-DC40-65B62A8BCD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781492-CEAE-2F21-9039-C3988137FEBA}"/>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B7DFAE24-9053-0BC1-DBA8-AE0101394C8B}"/>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452CC776-3A81-3879-107B-B1CEE57EC09D}"/>
              </a:ext>
            </a:extLst>
          </p:cNvPr>
          <p:cNvSpPr/>
          <p:nvPr/>
        </p:nvSpPr>
        <p:spPr>
          <a:xfrm>
            <a:off x="0" y="1161578"/>
            <a:ext cx="43068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StyleSheets</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in React Native</a:t>
            </a:r>
            <a:endParaRPr lang="en-CA" sz="2200" dirty="0">
              <a:solidFill>
                <a:srgbClr val="FFFF00"/>
              </a:solidFill>
            </a:endParaRPr>
          </a:p>
        </p:txBody>
      </p:sp>
      <p:sp>
        <p:nvSpPr>
          <p:cNvPr id="9" name="TextBox 8">
            <a:extLst>
              <a:ext uri="{FF2B5EF4-FFF2-40B4-BE49-F238E27FC236}">
                <a16:creationId xmlns:a16="http://schemas.microsoft.com/office/drawing/2014/main" id="{3957A0AF-761C-1776-70DE-6AF1AB5C6485}"/>
              </a:ext>
            </a:extLst>
          </p:cNvPr>
          <p:cNvSpPr txBox="1"/>
          <p:nvPr/>
        </p:nvSpPr>
        <p:spPr>
          <a:xfrm>
            <a:off x="0" y="1612599"/>
            <a:ext cx="11738610" cy="46157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Import the </a:t>
            </a:r>
            <a:r>
              <a:rPr lang="en-US" dirty="0" err="1">
                <a:effectLst>
                  <a:outerShdw blurRad="38100" dist="38100" dir="2700000" algn="tl">
                    <a:srgbClr val="000000">
                      <a:alpha val="43137"/>
                    </a:srgbClr>
                  </a:outerShdw>
                </a:effectLst>
                <a:latin typeface="Bookman Old Style" panose="02050604050505020204" pitchFamily="18" charset="0"/>
              </a:rPr>
              <a:t>StyleSheet</a:t>
            </a:r>
            <a:r>
              <a:rPr lang="en-US" dirty="0">
                <a:effectLst>
                  <a:outerShdw blurRad="38100" dist="38100" dir="2700000" algn="tl">
                    <a:srgbClr val="000000">
                      <a:alpha val="43137"/>
                    </a:srgbClr>
                  </a:outerShdw>
                </a:effectLst>
                <a:latin typeface="Bookman Old Style" panose="02050604050505020204" pitchFamily="18" charset="0"/>
              </a:rPr>
              <a:t> module from react-native package</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CA" b="0" dirty="0">
                <a:solidFill>
                  <a:srgbClr val="0000FF"/>
                </a:solidFill>
                <a:effectLst/>
                <a:latin typeface="Consolas" panose="020B0609020204030204" pitchFamily="49" charset="0"/>
              </a:rPr>
              <a:t>const</a:t>
            </a:r>
            <a:r>
              <a:rPr lang="en-CA" b="0" dirty="0">
                <a:solidFill>
                  <a:srgbClr val="000000"/>
                </a:solidFill>
                <a:effectLst/>
                <a:latin typeface="Consolas" panose="020B0609020204030204" pitchFamily="49" charset="0"/>
              </a:rPr>
              <a:t> </a:t>
            </a:r>
            <a:r>
              <a:rPr lang="en-CA" b="1" dirty="0">
                <a:solidFill>
                  <a:srgbClr val="000000"/>
                </a:solidFill>
                <a:effectLst/>
                <a:latin typeface="Consolas" panose="020B0609020204030204" pitchFamily="49" charset="0"/>
              </a:rPr>
              <a:t>styles</a:t>
            </a:r>
            <a:r>
              <a:rPr lang="en-CA" b="0" dirty="0">
                <a:solidFill>
                  <a:srgbClr val="000000"/>
                </a:solidFill>
                <a:effectLst/>
                <a:latin typeface="Consolas" panose="020B0609020204030204" pitchFamily="49" charset="0"/>
              </a:rPr>
              <a:t> = </a:t>
            </a:r>
            <a:r>
              <a:rPr lang="en-CA" b="0" dirty="0" err="1">
                <a:solidFill>
                  <a:srgbClr val="000000"/>
                </a:solidFill>
                <a:effectLst/>
                <a:latin typeface="Consolas" panose="020B0609020204030204" pitchFamily="49" charset="0"/>
              </a:rPr>
              <a:t>StyleSheet.create</a:t>
            </a:r>
            <a:r>
              <a:rPr lang="en-CA" b="0" dirty="0">
                <a:solidFill>
                  <a:srgbClr val="000000"/>
                </a:solidFill>
                <a:effectLst/>
                <a:latin typeface="Consolas" panose="020B0609020204030204" pitchFamily="49" charset="0"/>
              </a:rPr>
              <a:t>({...}): </a:t>
            </a:r>
            <a:r>
              <a:rPr lang="en-US" dirty="0">
                <a:effectLst>
                  <a:outerShdw blurRad="38100" dist="38100" dir="2700000" algn="tl">
                    <a:srgbClr val="000000">
                      <a:alpha val="43137"/>
                    </a:srgbClr>
                  </a:outerShdw>
                </a:effectLst>
                <a:latin typeface="Bookman Old Style" panose="02050604050505020204" pitchFamily="18" charset="0"/>
              </a:rPr>
              <a:t>Creates a centralized style object named ‘</a:t>
            </a:r>
            <a:r>
              <a:rPr lang="en-US" b="1" dirty="0">
                <a:effectLst>
                  <a:outerShdw blurRad="38100" dist="38100" dir="2700000" algn="tl">
                    <a:srgbClr val="000000">
                      <a:alpha val="43137"/>
                    </a:srgbClr>
                  </a:outerShdw>
                </a:effectLst>
                <a:latin typeface="Bookman Old Style" panose="02050604050505020204" pitchFamily="18" charset="0"/>
              </a:rPr>
              <a:t>styles</a:t>
            </a:r>
            <a:r>
              <a:rPr lang="en-US" dirty="0">
                <a:effectLst>
                  <a:outerShdw blurRad="38100" dist="38100" dir="2700000" algn="tl">
                    <a:srgbClr val="000000">
                      <a:alpha val="43137"/>
                    </a:srgbClr>
                  </a:outerShdw>
                </a:effectLst>
                <a:latin typeface="Bookman Old Style" panose="02050604050505020204" pitchFamily="18" charset="0"/>
              </a:rPr>
              <a:t>’ using React Native's </a:t>
            </a:r>
            <a:r>
              <a:rPr lang="en-US" dirty="0" err="1">
                <a:effectLst>
                  <a:outerShdw blurRad="38100" dist="38100" dir="2700000" algn="tl">
                    <a:srgbClr val="000000">
                      <a:alpha val="43137"/>
                    </a:srgbClr>
                  </a:outerShdw>
                </a:effectLst>
                <a:latin typeface="Bookman Old Style" panose="02050604050505020204" pitchFamily="18" charset="0"/>
              </a:rPr>
              <a:t>StyleSheet</a:t>
            </a:r>
            <a:r>
              <a:rPr lang="en-US" dirty="0">
                <a:effectLst>
                  <a:outerShdw blurRad="38100" dist="38100" dir="2700000" algn="tl">
                    <a:srgbClr val="000000">
                      <a:alpha val="43137"/>
                    </a:srgbClr>
                  </a:outerShdw>
                </a:effectLst>
                <a:latin typeface="Bookman Old Style" panose="02050604050505020204" pitchFamily="18" charset="0"/>
              </a:rPr>
              <a:t> API</a:t>
            </a:r>
          </a:p>
          <a:p>
            <a:pPr marL="285750" indent="-285750">
              <a:lnSpc>
                <a:spcPct val="150000"/>
              </a:lnSpc>
              <a:buFont typeface="Arial" panose="020B0604020202020204" pitchFamily="34" charset="0"/>
              <a:buChar char="•"/>
            </a:pPr>
            <a:r>
              <a:rPr lang="en-US" b="1" dirty="0">
                <a:effectLst>
                  <a:outerShdw blurRad="38100" dist="38100" dir="2700000" algn="tl">
                    <a:srgbClr val="000000">
                      <a:alpha val="43137"/>
                    </a:srgbClr>
                  </a:outerShdw>
                </a:effectLst>
                <a:latin typeface="Bookman Old Style" panose="02050604050505020204" pitchFamily="18" charset="0"/>
              </a:rPr>
              <a:t>container, title, </a:t>
            </a:r>
            <a:r>
              <a:rPr lang="en-US" b="1" dirty="0" err="1">
                <a:effectLst>
                  <a:outerShdw blurRad="38100" dist="38100" dir="2700000" algn="tl">
                    <a:srgbClr val="000000">
                      <a:alpha val="43137"/>
                    </a:srgbClr>
                  </a:outerShdw>
                </a:effectLst>
                <a:latin typeface="Bookman Old Style" panose="02050604050505020204" pitchFamily="18" charset="0"/>
              </a:rPr>
              <a:t>userInfo</a:t>
            </a:r>
            <a:r>
              <a:rPr lang="en-US" b="1" dirty="0">
                <a:effectLst>
                  <a:outerShdw blurRad="38100" dist="38100" dir="2700000" algn="tl">
                    <a:srgbClr val="000000">
                      <a:alpha val="43137"/>
                    </a:srgbClr>
                  </a:outerShdw>
                </a:effectLst>
                <a:latin typeface="Bookman Old Style" panose="02050604050505020204" pitchFamily="18" charset="0"/>
              </a:rPr>
              <a:t>, and balance: </a:t>
            </a:r>
            <a:r>
              <a:rPr lang="en-US" dirty="0">
                <a:effectLst>
                  <a:outerShdw blurRad="38100" dist="38100" dir="2700000" algn="tl">
                    <a:srgbClr val="000000">
                      <a:alpha val="43137"/>
                    </a:srgbClr>
                  </a:outerShdw>
                </a:effectLst>
                <a:latin typeface="Bookman Old Style" panose="02050604050505020204" pitchFamily="18" charset="0"/>
              </a:rPr>
              <a:t>These are </a:t>
            </a:r>
            <a:r>
              <a:rPr lang="en-US" b="1" dirty="0">
                <a:effectLst>
                  <a:outerShdw blurRad="38100" dist="38100" dir="2700000" algn="tl">
                    <a:srgbClr val="000000">
                      <a:alpha val="43137"/>
                    </a:srgbClr>
                  </a:outerShdw>
                </a:effectLst>
                <a:latin typeface="Bookman Old Style" panose="02050604050505020204" pitchFamily="18" charset="0"/>
              </a:rPr>
              <a:t>named style objects </a:t>
            </a:r>
            <a:r>
              <a:rPr lang="en-US" dirty="0">
                <a:effectLst>
                  <a:outerShdw blurRad="38100" dist="38100" dir="2700000" algn="tl">
                    <a:srgbClr val="000000">
                      <a:alpha val="43137"/>
                    </a:srgbClr>
                  </a:outerShdw>
                </a:effectLst>
                <a:latin typeface="Bookman Old Style" panose="02050604050505020204" pitchFamily="18" charset="0"/>
              </a:rPr>
              <a:t>created to organize and apply consistent styling to different parts of the UI, such as the layout (container), headings (title), user details (</a:t>
            </a:r>
            <a:r>
              <a:rPr lang="en-US" dirty="0" err="1">
                <a:effectLst>
                  <a:outerShdw blurRad="38100" dist="38100" dir="2700000" algn="tl">
                    <a:srgbClr val="000000">
                      <a:alpha val="43137"/>
                    </a:srgbClr>
                  </a:outerShdw>
                </a:effectLst>
                <a:latin typeface="Bookman Old Style" panose="02050604050505020204" pitchFamily="18" charset="0"/>
              </a:rPr>
              <a:t>userInfo</a:t>
            </a:r>
            <a:r>
              <a:rPr lang="en-US" dirty="0">
                <a:effectLst>
                  <a:outerShdw blurRad="38100" dist="38100" dir="2700000" algn="tl">
                    <a:srgbClr val="000000">
                      <a:alpha val="43137"/>
                    </a:srgbClr>
                  </a:outerShdw>
                </a:effectLst>
                <a:latin typeface="Bookman Old Style" panose="02050604050505020204" pitchFamily="18" charset="0"/>
              </a:rPr>
              <a:t>) etc.</a:t>
            </a:r>
          </a:p>
        </p:txBody>
      </p:sp>
      <p:pic>
        <p:nvPicPr>
          <p:cNvPr id="7" name="Picture 6">
            <a:extLst>
              <a:ext uri="{FF2B5EF4-FFF2-40B4-BE49-F238E27FC236}">
                <a16:creationId xmlns:a16="http://schemas.microsoft.com/office/drawing/2014/main" id="{94F1594A-67F5-613D-9F87-852B2565666B}"/>
              </a:ext>
            </a:extLst>
          </p:cNvPr>
          <p:cNvPicPr>
            <a:picLocks noChangeAspect="1"/>
          </p:cNvPicPr>
          <p:nvPr/>
        </p:nvPicPr>
        <p:blipFill>
          <a:blip r:embed="rId4"/>
          <a:stretch>
            <a:fillRect/>
          </a:stretch>
        </p:blipFill>
        <p:spPr>
          <a:xfrm>
            <a:off x="281950" y="2173016"/>
            <a:ext cx="8871194" cy="1533739"/>
          </a:xfrm>
          <a:prstGeom prst="rect">
            <a:avLst/>
          </a:prstGeom>
        </p:spPr>
      </p:pic>
    </p:spTree>
    <p:extLst>
      <p:ext uri="{BB962C8B-B14F-4D97-AF65-F5344CB8AC3E}">
        <p14:creationId xmlns:p14="http://schemas.microsoft.com/office/powerpoint/2010/main" val="1172393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29F1C-3D17-F4C5-8216-A0EA7B4B8A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11EF17-E886-1DFD-46FF-87543DFC78C9}"/>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326B121B-9AAA-10D6-02FF-1A87740AADF9}"/>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3FF4684F-C517-08DC-4504-EA8D025BD47A}"/>
              </a:ext>
            </a:extLst>
          </p:cNvPr>
          <p:cNvSpPr/>
          <p:nvPr/>
        </p:nvSpPr>
        <p:spPr>
          <a:xfrm>
            <a:off x="0" y="1161578"/>
            <a:ext cx="43068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StyleSheets</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in React Native</a:t>
            </a:r>
            <a:endParaRPr lang="en-CA" sz="2200" dirty="0">
              <a:solidFill>
                <a:srgbClr val="FFFF00"/>
              </a:solidFill>
            </a:endParaRPr>
          </a:p>
        </p:txBody>
      </p:sp>
      <p:sp>
        <p:nvSpPr>
          <p:cNvPr id="9" name="TextBox 8">
            <a:extLst>
              <a:ext uri="{FF2B5EF4-FFF2-40B4-BE49-F238E27FC236}">
                <a16:creationId xmlns:a16="http://schemas.microsoft.com/office/drawing/2014/main" id="{5A535EE0-0596-FFA9-B972-57B0292F300F}"/>
              </a:ext>
            </a:extLst>
          </p:cNvPr>
          <p:cNvSpPr txBox="1"/>
          <p:nvPr/>
        </p:nvSpPr>
        <p:spPr>
          <a:xfrm>
            <a:off x="0" y="1612599"/>
            <a:ext cx="12192000" cy="503124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Apply the predefined styles to components </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style={</a:t>
            </a:r>
            <a:r>
              <a:rPr lang="en-US" dirty="0" err="1">
                <a:effectLst>
                  <a:outerShdw blurRad="38100" dist="38100" dir="2700000" algn="tl">
                    <a:srgbClr val="000000">
                      <a:alpha val="43137"/>
                    </a:srgbClr>
                  </a:outerShdw>
                </a:effectLst>
                <a:latin typeface="Bookman Old Style" panose="02050604050505020204" pitchFamily="18" charset="0"/>
              </a:rPr>
              <a:t>styles.container</a:t>
            </a:r>
            <a:r>
              <a:rPr lang="en-US" dirty="0">
                <a:effectLst>
                  <a:outerShdw blurRad="38100" dist="38100" dir="2700000" algn="tl">
                    <a:srgbClr val="000000">
                      <a:alpha val="43137"/>
                    </a:srgbClr>
                  </a:outerShdw>
                </a:effectLst>
                <a:latin typeface="Bookman Old Style" panose="02050604050505020204" pitchFamily="18" charset="0"/>
              </a:rPr>
              <a:t>} is applying a set of predefined styles to the &lt;View&gt; component using the  named style object called container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line tells React Native, “Use the layout and design defined in the container style for this View</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can also reuse the same style across multiple components or screens</a:t>
            </a:r>
          </a:p>
        </p:txBody>
      </p:sp>
      <p:pic>
        <p:nvPicPr>
          <p:cNvPr id="4" name="Picture 3">
            <a:extLst>
              <a:ext uri="{FF2B5EF4-FFF2-40B4-BE49-F238E27FC236}">
                <a16:creationId xmlns:a16="http://schemas.microsoft.com/office/drawing/2014/main" id="{17E18DB6-CEB1-0FAC-DFD8-2DE747B6110A}"/>
              </a:ext>
            </a:extLst>
          </p:cNvPr>
          <p:cNvPicPr>
            <a:picLocks noChangeAspect="1"/>
          </p:cNvPicPr>
          <p:nvPr/>
        </p:nvPicPr>
        <p:blipFill>
          <a:blip r:embed="rId4"/>
          <a:stretch>
            <a:fillRect/>
          </a:stretch>
        </p:blipFill>
        <p:spPr>
          <a:xfrm>
            <a:off x="326898" y="2173348"/>
            <a:ext cx="7399782" cy="2722205"/>
          </a:xfrm>
          <a:prstGeom prst="rect">
            <a:avLst/>
          </a:prstGeom>
        </p:spPr>
      </p:pic>
      <p:pic>
        <p:nvPicPr>
          <p:cNvPr id="10" name="Picture 9">
            <a:extLst>
              <a:ext uri="{FF2B5EF4-FFF2-40B4-BE49-F238E27FC236}">
                <a16:creationId xmlns:a16="http://schemas.microsoft.com/office/drawing/2014/main" id="{4154F285-D6DC-18D7-C24E-9EE13A597BCE}"/>
              </a:ext>
            </a:extLst>
          </p:cNvPr>
          <p:cNvPicPr>
            <a:picLocks noChangeAspect="1"/>
          </p:cNvPicPr>
          <p:nvPr/>
        </p:nvPicPr>
        <p:blipFill>
          <a:blip r:embed="rId5"/>
          <a:stretch>
            <a:fillRect/>
          </a:stretch>
        </p:blipFill>
        <p:spPr>
          <a:xfrm>
            <a:off x="8847303" y="1612599"/>
            <a:ext cx="1951761" cy="3418167"/>
          </a:xfrm>
          <a:prstGeom prst="rect">
            <a:avLst/>
          </a:prstGeom>
        </p:spPr>
      </p:pic>
    </p:spTree>
    <p:extLst>
      <p:ext uri="{BB962C8B-B14F-4D97-AF65-F5344CB8AC3E}">
        <p14:creationId xmlns:p14="http://schemas.microsoft.com/office/powerpoint/2010/main" val="638067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897D-16DD-176A-D73D-6EEE725BCF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4C3D10-CCC6-531C-0B02-4D350BCE02FE}"/>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37FA44D-DCB2-42F8-7621-1EC623504244}"/>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C08B0C66-9B18-C741-43E7-E4F3D399F878}"/>
              </a:ext>
            </a:extLst>
          </p:cNvPr>
          <p:cNvSpPr/>
          <p:nvPr/>
        </p:nvSpPr>
        <p:spPr>
          <a:xfrm>
            <a:off x="0" y="1161578"/>
            <a:ext cx="2286000"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State Variable</a:t>
            </a:r>
            <a:endParaRPr lang="en-CA" sz="2200" dirty="0">
              <a:solidFill>
                <a:srgbClr val="FFFF00"/>
              </a:solidFill>
            </a:endParaRPr>
          </a:p>
        </p:txBody>
      </p:sp>
      <p:sp>
        <p:nvSpPr>
          <p:cNvPr id="9" name="TextBox 8">
            <a:extLst>
              <a:ext uri="{FF2B5EF4-FFF2-40B4-BE49-F238E27FC236}">
                <a16:creationId xmlns:a16="http://schemas.microsoft.com/office/drawing/2014/main" id="{90DEC170-5AF7-1A08-78B0-FA84E2CBDDF6}"/>
              </a:ext>
            </a:extLst>
          </p:cNvPr>
          <p:cNvSpPr txBox="1"/>
          <p:nvPr/>
        </p:nvSpPr>
        <p:spPr>
          <a:xfrm>
            <a:off x="0" y="1612599"/>
            <a:ext cx="12192000" cy="42002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React Native, a </a:t>
            </a:r>
            <a:r>
              <a:rPr lang="en-US" b="1" dirty="0">
                <a:effectLst>
                  <a:outerShdw blurRad="38100" dist="38100" dir="2700000" algn="tl">
                    <a:srgbClr val="000000">
                      <a:alpha val="43137"/>
                    </a:srgbClr>
                  </a:outerShdw>
                </a:effectLst>
                <a:latin typeface="Bookman Old Style" panose="02050604050505020204" pitchFamily="18" charset="0"/>
              </a:rPr>
              <a:t>state variable </a:t>
            </a:r>
            <a:r>
              <a:rPr lang="en-US" dirty="0">
                <a:effectLst>
                  <a:outerShdw blurRad="38100" dist="38100" dir="2700000" algn="tl">
                    <a:srgbClr val="000000">
                      <a:alpha val="43137"/>
                    </a:srgbClr>
                  </a:outerShdw>
                </a:effectLst>
                <a:latin typeface="Bookman Old Style" panose="02050604050505020204" pitchFamily="18" charset="0"/>
              </a:rPr>
              <a:t>is a </a:t>
            </a:r>
            <a:r>
              <a:rPr lang="en-US" b="1" dirty="0">
                <a:effectLst>
                  <a:outerShdw blurRad="38100" dist="38100" dir="2700000" algn="tl">
                    <a:srgbClr val="000000">
                      <a:alpha val="43137"/>
                    </a:srgbClr>
                  </a:outerShdw>
                </a:effectLst>
                <a:latin typeface="Bookman Old Style" panose="02050604050505020204" pitchFamily="18" charset="0"/>
              </a:rPr>
              <a:t>special variable that allows a component to hold and manage dynamic data that can change over time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When the </a:t>
            </a:r>
            <a:r>
              <a:rPr lang="en-US" b="1" dirty="0">
                <a:effectLst>
                  <a:outerShdw blurRad="38100" dist="38100" dir="2700000" algn="tl">
                    <a:srgbClr val="000000">
                      <a:alpha val="43137"/>
                    </a:srgbClr>
                  </a:outerShdw>
                </a:effectLst>
                <a:latin typeface="Bookman Old Style" panose="02050604050505020204" pitchFamily="18" charset="0"/>
              </a:rPr>
              <a:t>state changes, the component automatically re-renders to reflect the updated data</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 </a:t>
            </a:r>
            <a:r>
              <a:rPr lang="en-US" b="1" dirty="0">
                <a:effectLst>
                  <a:outerShdw blurRad="38100" dist="38100" dir="2700000" algn="tl">
                    <a:srgbClr val="000000">
                      <a:alpha val="43137"/>
                    </a:srgbClr>
                  </a:outerShdw>
                </a:effectLst>
                <a:latin typeface="Bookman Old Style" panose="02050604050505020204" pitchFamily="18" charset="0"/>
              </a:rPr>
              <a:t>state variable </a:t>
            </a:r>
            <a:r>
              <a:rPr lang="en-US" dirty="0">
                <a:effectLst>
                  <a:outerShdw blurRad="38100" dist="38100" dir="2700000" algn="tl">
                    <a:srgbClr val="000000">
                      <a:alpha val="43137"/>
                    </a:srgbClr>
                  </a:outerShdw>
                </a:effectLst>
                <a:latin typeface="Bookman Old Style" panose="02050604050505020204" pitchFamily="18" charset="0"/>
              </a:rPr>
              <a:t>is </a:t>
            </a:r>
            <a:r>
              <a:rPr lang="en-US" b="1" dirty="0">
                <a:effectLst>
                  <a:outerShdw blurRad="38100" dist="38100" dir="2700000" algn="tl">
                    <a:srgbClr val="000000">
                      <a:alpha val="43137"/>
                    </a:srgbClr>
                  </a:outerShdw>
                </a:effectLst>
                <a:latin typeface="Bookman Old Style" panose="02050604050505020204" pitchFamily="18" charset="0"/>
              </a:rPr>
              <a:t>declared using the ‘</a:t>
            </a:r>
            <a:r>
              <a:rPr lang="en-US" b="1" dirty="0" err="1">
                <a:effectLst>
                  <a:outerShdw blurRad="38100" dist="38100" dir="2700000" algn="tl">
                    <a:srgbClr val="000000">
                      <a:alpha val="43137"/>
                    </a:srgbClr>
                  </a:outerShdw>
                </a:effectLst>
                <a:latin typeface="Bookman Old Style" panose="02050604050505020204" pitchFamily="18" charset="0"/>
              </a:rPr>
              <a:t>useState</a:t>
            </a:r>
            <a:r>
              <a:rPr lang="en-US" b="1" dirty="0">
                <a:effectLst>
                  <a:outerShdw blurRad="38100" dist="38100" dir="2700000" algn="tl">
                    <a:srgbClr val="000000">
                      <a:alpha val="43137"/>
                    </a:srgbClr>
                  </a:outerShdw>
                </a:effectLst>
                <a:latin typeface="Bookman Old Style" panose="02050604050505020204" pitchFamily="18" charset="0"/>
              </a:rPr>
              <a:t>’ hook </a:t>
            </a:r>
            <a:r>
              <a:rPr lang="en-US" dirty="0">
                <a:effectLst>
                  <a:outerShdw blurRad="38100" dist="38100" dir="2700000" algn="tl">
                    <a:srgbClr val="000000">
                      <a:alpha val="43137"/>
                    </a:srgbClr>
                  </a:outerShdw>
                </a:effectLst>
                <a:latin typeface="Bookman Old Style" panose="02050604050505020204" pitchFamily="18" charset="0"/>
              </a:rPr>
              <a:t>in a functional component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React (and React Native), a </a:t>
            </a:r>
            <a:r>
              <a:rPr lang="en-US" b="1" dirty="0">
                <a:effectLst>
                  <a:outerShdw blurRad="38100" dist="38100" dir="2700000" algn="tl">
                    <a:srgbClr val="000000">
                      <a:alpha val="43137"/>
                    </a:srgbClr>
                  </a:outerShdw>
                </a:effectLst>
                <a:latin typeface="Bookman Old Style" panose="02050604050505020204" pitchFamily="18" charset="0"/>
              </a:rPr>
              <a:t>hook is a special function that lets you “hook into” React features from inside a functional component, without using classes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 hook is a </a:t>
            </a:r>
            <a:r>
              <a:rPr lang="en-US" b="1" dirty="0">
                <a:effectLst>
                  <a:outerShdw blurRad="38100" dist="38100" dir="2700000" algn="tl">
                    <a:srgbClr val="000000">
                      <a:alpha val="43137"/>
                    </a:srgbClr>
                  </a:outerShdw>
                </a:effectLst>
                <a:latin typeface="Bookman Old Style" panose="02050604050505020204" pitchFamily="18" charset="0"/>
              </a:rPr>
              <a:t>built-in function </a:t>
            </a:r>
            <a:r>
              <a:rPr lang="en-US" dirty="0">
                <a:effectLst>
                  <a:outerShdw blurRad="38100" dist="38100" dir="2700000" algn="tl">
                    <a:srgbClr val="000000">
                      <a:alpha val="43137"/>
                    </a:srgbClr>
                  </a:outerShdw>
                </a:effectLst>
                <a:latin typeface="Bookman Old Style" panose="02050604050505020204" pitchFamily="18" charset="0"/>
              </a:rPr>
              <a:t>(like </a:t>
            </a:r>
            <a:r>
              <a:rPr lang="en-US" b="1" dirty="0" err="1">
                <a:effectLst>
                  <a:outerShdw blurRad="38100" dist="38100" dir="2700000" algn="tl">
                    <a:srgbClr val="000000">
                      <a:alpha val="43137"/>
                    </a:srgbClr>
                  </a:outerShdw>
                </a:effectLst>
                <a:latin typeface="Bookman Old Style" panose="02050604050505020204" pitchFamily="18" charset="0"/>
              </a:rPr>
              <a:t>useState</a:t>
            </a:r>
            <a:r>
              <a:rPr lang="en-US" b="1" dirty="0">
                <a:effectLst>
                  <a:outerShdw blurRad="38100" dist="38100" dir="2700000" algn="tl">
                    <a:srgbClr val="000000">
                      <a:alpha val="43137"/>
                    </a:srgbClr>
                  </a:outerShdw>
                </a:effectLst>
                <a:latin typeface="Bookman Old Style" panose="02050604050505020204" pitchFamily="18" charset="0"/>
              </a:rPr>
              <a:t>, </a:t>
            </a:r>
            <a:r>
              <a:rPr lang="en-US" b="1" dirty="0" err="1">
                <a:effectLst>
                  <a:outerShdw blurRad="38100" dist="38100" dir="2700000" algn="tl">
                    <a:srgbClr val="000000">
                      <a:alpha val="43137"/>
                    </a:srgbClr>
                  </a:outerShdw>
                </a:effectLst>
                <a:latin typeface="Bookman Old Style" panose="02050604050505020204" pitchFamily="18" charset="0"/>
              </a:rPr>
              <a:t>useEffect</a:t>
            </a:r>
            <a:r>
              <a:rPr lang="en-US" dirty="0">
                <a:effectLst>
                  <a:outerShdw blurRad="38100" dist="38100" dir="2700000" algn="tl">
                    <a:srgbClr val="000000">
                      <a:alpha val="43137"/>
                    </a:srgbClr>
                  </a:outerShdw>
                </a:effectLst>
                <a:latin typeface="Bookman Old Style" panose="02050604050505020204" pitchFamily="18" charset="0"/>
              </a:rPr>
              <a:t>, etc.) that allows functional components to:</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Store state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Run side effects</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Access context</a:t>
            </a:r>
          </a:p>
        </p:txBody>
      </p:sp>
    </p:spTree>
    <p:extLst>
      <p:ext uri="{BB962C8B-B14F-4D97-AF65-F5344CB8AC3E}">
        <p14:creationId xmlns:p14="http://schemas.microsoft.com/office/powerpoint/2010/main" val="656463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48590-336D-6BAB-16E4-3B5ECE5028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4E15CC-749A-1A1A-F820-45A7B420712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F2F47B4D-F941-6CCE-A9E3-EAF149C9FDC0}"/>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BA31F53E-83D4-4AD4-ADBC-7BB105CA2D68}"/>
              </a:ext>
            </a:extLst>
          </p:cNvPr>
          <p:cNvSpPr/>
          <p:nvPr/>
        </p:nvSpPr>
        <p:spPr>
          <a:xfrm>
            <a:off x="0" y="1161578"/>
            <a:ext cx="2514600"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Common Hooks</a:t>
            </a:r>
            <a:endParaRPr lang="en-CA" sz="2200" dirty="0">
              <a:solidFill>
                <a:srgbClr val="FFFF00"/>
              </a:solidFill>
            </a:endParaRPr>
          </a:p>
        </p:txBody>
      </p:sp>
      <p:graphicFrame>
        <p:nvGraphicFramePr>
          <p:cNvPr id="4" name="Table 3">
            <a:extLst>
              <a:ext uri="{FF2B5EF4-FFF2-40B4-BE49-F238E27FC236}">
                <a16:creationId xmlns:a16="http://schemas.microsoft.com/office/drawing/2014/main" id="{D59D8DAA-F96E-7321-0D15-814997B2EC0C}"/>
              </a:ext>
            </a:extLst>
          </p:cNvPr>
          <p:cNvGraphicFramePr>
            <a:graphicFrameLocks noGrp="1"/>
          </p:cNvGraphicFramePr>
          <p:nvPr>
            <p:extLst>
              <p:ext uri="{D42A27DB-BD31-4B8C-83A1-F6EECF244321}">
                <p14:modId xmlns:p14="http://schemas.microsoft.com/office/powerpoint/2010/main" val="800779535"/>
              </p:ext>
            </p:extLst>
          </p:nvPr>
        </p:nvGraphicFramePr>
        <p:xfrm>
          <a:off x="379476" y="1968373"/>
          <a:ext cx="8817864" cy="2240916"/>
        </p:xfrm>
        <a:graphic>
          <a:graphicData uri="http://schemas.openxmlformats.org/drawingml/2006/table">
            <a:tbl>
              <a:tblPr firstRow="1" firstCol="1" bandRow="1">
                <a:tableStyleId>{5C22544A-7EE6-4342-B048-85BDC9FD1C3A}</a:tableStyleId>
              </a:tblPr>
              <a:tblGrid>
                <a:gridCol w="2148697">
                  <a:extLst>
                    <a:ext uri="{9D8B030D-6E8A-4147-A177-3AD203B41FA5}">
                      <a16:colId xmlns:a16="http://schemas.microsoft.com/office/drawing/2014/main" val="938141526"/>
                    </a:ext>
                  </a:extLst>
                </a:gridCol>
                <a:gridCol w="6669167">
                  <a:extLst>
                    <a:ext uri="{9D8B030D-6E8A-4147-A177-3AD203B41FA5}">
                      <a16:colId xmlns:a16="http://schemas.microsoft.com/office/drawing/2014/main" val="2885690220"/>
                    </a:ext>
                  </a:extLst>
                </a:gridCol>
              </a:tblGrid>
              <a:tr h="373486">
                <a:tc>
                  <a:txBody>
                    <a:bodyPr/>
                    <a:lstStyle/>
                    <a:p>
                      <a:pPr>
                        <a:lnSpc>
                          <a:spcPct val="115000"/>
                        </a:lnSpc>
                        <a:spcAft>
                          <a:spcPts val="800"/>
                        </a:spcAft>
                        <a:buNone/>
                      </a:pPr>
                      <a:r>
                        <a:rPr lang="en-CA" sz="1800" kern="100" dirty="0">
                          <a:solidFill>
                            <a:srgbClr val="FFC000"/>
                          </a:solidFill>
                          <a:effectLst/>
                        </a:rPr>
                        <a:t>Hook</a:t>
                      </a:r>
                      <a:endParaRPr lang="en-CA" sz="1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dirty="0">
                          <a:solidFill>
                            <a:srgbClr val="FFC000"/>
                          </a:solidFill>
                          <a:effectLst/>
                        </a:rPr>
                        <a:t>Purpose</a:t>
                      </a:r>
                      <a:endParaRPr lang="en-CA" sz="1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77676896"/>
                  </a:ext>
                </a:extLst>
              </a:tr>
              <a:tr h="373486">
                <a:tc>
                  <a:txBody>
                    <a:bodyPr/>
                    <a:lstStyle/>
                    <a:p>
                      <a:pPr>
                        <a:lnSpc>
                          <a:spcPct val="115000"/>
                        </a:lnSpc>
                        <a:spcAft>
                          <a:spcPts val="800"/>
                        </a:spcAft>
                        <a:buNone/>
                      </a:pPr>
                      <a:r>
                        <a:rPr lang="en-CA" sz="1800" kern="100">
                          <a:effectLst/>
                        </a:rPr>
                        <a:t>useState()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a:effectLst/>
                        </a:rPr>
                        <a:t>Adds local state to a component</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24955914"/>
                  </a:ext>
                </a:extLst>
              </a:tr>
              <a:tr h="373486">
                <a:tc>
                  <a:txBody>
                    <a:bodyPr/>
                    <a:lstStyle/>
                    <a:p>
                      <a:pPr>
                        <a:lnSpc>
                          <a:spcPct val="115000"/>
                        </a:lnSpc>
                        <a:spcAft>
                          <a:spcPts val="800"/>
                        </a:spcAft>
                        <a:buNone/>
                      </a:pPr>
                      <a:r>
                        <a:rPr lang="en-CA" sz="1800" kern="100">
                          <a:effectLst/>
                        </a:rPr>
                        <a:t>useEffect()</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dirty="0">
                          <a:effectLst/>
                        </a:rPr>
                        <a:t>Handles side effects like fetching data or timers</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5447382"/>
                  </a:ext>
                </a:extLst>
              </a:tr>
              <a:tr h="373486">
                <a:tc>
                  <a:txBody>
                    <a:bodyPr/>
                    <a:lstStyle/>
                    <a:p>
                      <a:pPr>
                        <a:lnSpc>
                          <a:spcPct val="115000"/>
                        </a:lnSpc>
                        <a:spcAft>
                          <a:spcPts val="800"/>
                        </a:spcAft>
                        <a:buNone/>
                      </a:pPr>
                      <a:r>
                        <a:rPr lang="en-CA" sz="1800" kern="100">
                          <a:effectLst/>
                        </a:rPr>
                        <a:t>useContext()</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a:effectLst/>
                        </a:rPr>
                        <a:t>Access context values without prop drilling</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0842078"/>
                  </a:ext>
                </a:extLst>
              </a:tr>
              <a:tr h="373486">
                <a:tc>
                  <a:txBody>
                    <a:bodyPr/>
                    <a:lstStyle/>
                    <a:p>
                      <a:pPr>
                        <a:lnSpc>
                          <a:spcPct val="115000"/>
                        </a:lnSpc>
                        <a:spcAft>
                          <a:spcPts val="800"/>
                        </a:spcAft>
                        <a:buNone/>
                      </a:pPr>
                      <a:r>
                        <a:rPr lang="en-CA" sz="1800" kern="100">
                          <a:effectLst/>
                        </a:rPr>
                        <a:t>useRef()</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a:effectLst/>
                        </a:rPr>
                        <a:t>Access or persist values without re-rendering</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4023461"/>
                  </a:ext>
                </a:extLst>
              </a:tr>
              <a:tr h="373486">
                <a:tc>
                  <a:txBody>
                    <a:bodyPr/>
                    <a:lstStyle/>
                    <a:p>
                      <a:pPr>
                        <a:lnSpc>
                          <a:spcPct val="115000"/>
                        </a:lnSpc>
                        <a:spcAft>
                          <a:spcPts val="800"/>
                        </a:spcAft>
                        <a:buNone/>
                      </a:pPr>
                      <a:r>
                        <a:rPr lang="en-CA" sz="1800" kern="100">
                          <a:effectLst/>
                        </a:rPr>
                        <a:t>useMemo()</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CA" sz="1800" kern="100" dirty="0">
                          <a:effectLst/>
                        </a:rPr>
                        <a:t>Optimize performance by memorizing expensive calculations</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40692750"/>
                  </a:ext>
                </a:extLst>
              </a:tr>
            </a:tbl>
          </a:graphicData>
        </a:graphic>
      </p:graphicFrame>
      <p:sp>
        <p:nvSpPr>
          <p:cNvPr id="7" name="Rectangle 1">
            <a:extLst>
              <a:ext uri="{FF2B5EF4-FFF2-40B4-BE49-F238E27FC236}">
                <a16:creationId xmlns:a16="http://schemas.microsoft.com/office/drawing/2014/main" id="{C218720F-017C-6914-76DF-D1D3716F69D5}"/>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698C45DD-5E9E-F229-2C5D-C151A7D487EE}"/>
              </a:ext>
            </a:extLst>
          </p:cNvPr>
          <p:cNvSpPr txBox="1"/>
          <p:nvPr/>
        </p:nvSpPr>
        <p:spPr>
          <a:xfrm>
            <a:off x="0" y="4404658"/>
            <a:ext cx="12192000" cy="17072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A" b="1" dirty="0">
                <a:effectLst>
                  <a:outerShdw blurRad="38100" dist="38100" dir="2700000" algn="tl">
                    <a:srgbClr val="000000">
                      <a:alpha val="43137"/>
                    </a:srgbClr>
                  </a:outerShdw>
                </a:effectLst>
                <a:latin typeface="Bookman Old Style" panose="02050604050505020204" pitchFamily="18" charset="0"/>
              </a:rPr>
              <a:t>Hooks</a:t>
            </a:r>
            <a:r>
              <a:rPr lang="en-CA" dirty="0">
                <a:effectLst>
                  <a:outerShdw blurRad="38100" dist="38100" dir="2700000" algn="tl">
                    <a:srgbClr val="000000">
                      <a:alpha val="43137"/>
                    </a:srgbClr>
                  </a:outerShdw>
                </a:effectLst>
                <a:latin typeface="Bookman Old Style" panose="02050604050505020204" pitchFamily="18" charset="0"/>
              </a:rPr>
              <a:t> can only be </a:t>
            </a:r>
            <a:r>
              <a:rPr lang="en-CA" b="1" dirty="0">
                <a:effectLst>
                  <a:outerShdw blurRad="38100" dist="38100" dir="2700000" algn="tl">
                    <a:srgbClr val="000000">
                      <a:alpha val="43137"/>
                    </a:srgbClr>
                  </a:outerShdw>
                </a:effectLst>
                <a:latin typeface="Bookman Old Style" panose="02050604050505020204" pitchFamily="18" charset="0"/>
              </a:rPr>
              <a:t>used in functional components </a:t>
            </a:r>
            <a:r>
              <a:rPr lang="en-CA" dirty="0">
                <a:effectLst>
                  <a:outerShdw blurRad="38100" dist="38100" dir="2700000" algn="tl">
                    <a:srgbClr val="000000">
                      <a:alpha val="43137"/>
                    </a:srgbClr>
                  </a:outerShdw>
                </a:effectLst>
                <a:latin typeface="Bookman Old Style" panose="02050604050505020204" pitchFamily="18" charset="0"/>
              </a:rPr>
              <a:t>(not in classes)</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They </a:t>
            </a:r>
            <a:r>
              <a:rPr lang="en-CA" b="1" dirty="0">
                <a:effectLst>
                  <a:outerShdw blurRad="38100" dist="38100" dir="2700000" algn="tl">
                    <a:srgbClr val="000000">
                      <a:alpha val="43137"/>
                    </a:srgbClr>
                  </a:outerShdw>
                </a:effectLst>
                <a:latin typeface="Bookman Old Style" panose="02050604050505020204" pitchFamily="18" charset="0"/>
              </a:rPr>
              <a:t>must be called at the top level of the component </a:t>
            </a:r>
            <a:r>
              <a:rPr lang="en-CA" dirty="0">
                <a:effectLst>
                  <a:outerShdw blurRad="38100" dist="38100" dir="2700000" algn="tl">
                    <a:srgbClr val="000000">
                      <a:alpha val="43137"/>
                    </a:srgbClr>
                  </a:outerShdw>
                </a:effectLst>
                <a:latin typeface="Bookman Old Style" panose="02050604050505020204" pitchFamily="18" charset="0"/>
              </a:rPr>
              <a:t>(not inside loops, conditions, or nested functions)</a:t>
            </a:r>
          </a:p>
          <a:p>
            <a:pPr marL="285750" indent="-285750">
              <a:lnSpc>
                <a:spcPct val="150000"/>
              </a:lnSpc>
              <a:buFont typeface="Arial" panose="020B0604020202020204" pitchFamily="34" charset="0"/>
              <a:buChar char="•"/>
            </a:pPr>
            <a:r>
              <a:rPr lang="en-CA" dirty="0">
                <a:effectLst>
                  <a:outerShdw blurRad="38100" dist="38100" dir="2700000" algn="tl">
                    <a:srgbClr val="000000">
                      <a:alpha val="43137"/>
                    </a:srgbClr>
                  </a:outerShdw>
                </a:effectLst>
                <a:latin typeface="Bookman Old Style" panose="02050604050505020204" pitchFamily="18" charset="0"/>
              </a:rPr>
              <a:t>Hooks </a:t>
            </a:r>
            <a:r>
              <a:rPr lang="en-CA" b="1" dirty="0">
                <a:effectLst>
                  <a:outerShdw blurRad="38100" dist="38100" dir="2700000" algn="tl">
                    <a:srgbClr val="000000">
                      <a:alpha val="43137"/>
                    </a:srgbClr>
                  </a:outerShdw>
                </a:effectLst>
                <a:latin typeface="Bookman Old Style" panose="02050604050505020204" pitchFamily="18" charset="0"/>
              </a:rPr>
              <a:t>make functional components powerful and flexible, like class components</a:t>
            </a:r>
          </a:p>
        </p:txBody>
      </p:sp>
    </p:spTree>
    <p:extLst>
      <p:ext uri="{BB962C8B-B14F-4D97-AF65-F5344CB8AC3E}">
        <p14:creationId xmlns:p14="http://schemas.microsoft.com/office/powerpoint/2010/main" val="3324539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925DE-1713-3BA8-388C-3584071CE8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E187A1-A57A-4799-1EFD-E40EB3B81CC6}"/>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B9641871-3CF1-A6CE-8DC2-C1D4F57B3347}"/>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F5538962-9E1C-C0BD-B6EC-3514713249BE}"/>
              </a:ext>
            </a:extLst>
          </p:cNvPr>
          <p:cNvSpPr/>
          <p:nvPr/>
        </p:nvSpPr>
        <p:spPr>
          <a:xfrm>
            <a:off x="0" y="1161578"/>
            <a:ext cx="49926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State Variable –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useState</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 Hook</a:t>
            </a:r>
            <a:endParaRPr lang="en-CA" sz="2200" dirty="0">
              <a:solidFill>
                <a:srgbClr val="FFFF00"/>
              </a:solidFill>
            </a:endParaRPr>
          </a:p>
        </p:txBody>
      </p:sp>
      <p:sp>
        <p:nvSpPr>
          <p:cNvPr id="7" name="Rectangle 1">
            <a:extLst>
              <a:ext uri="{FF2B5EF4-FFF2-40B4-BE49-F238E27FC236}">
                <a16:creationId xmlns:a16="http://schemas.microsoft.com/office/drawing/2014/main" id="{F3ECC613-47B5-B7CC-3C7B-C8C562288D0F}"/>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660A6BE2-35C1-2C41-F7FA-3F27666BDDC5}"/>
              </a:ext>
            </a:extLst>
          </p:cNvPr>
          <p:cNvSpPr txBox="1"/>
          <p:nvPr/>
        </p:nvSpPr>
        <p:spPr>
          <a:xfrm>
            <a:off x="0" y="1612599"/>
            <a:ext cx="12192000" cy="29537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 </a:t>
            </a:r>
            <a:r>
              <a:rPr lang="en-US" b="1" dirty="0">
                <a:effectLst>
                  <a:outerShdw blurRad="38100" dist="38100" dir="2700000" algn="tl">
                    <a:srgbClr val="000000">
                      <a:alpha val="43137"/>
                    </a:srgbClr>
                  </a:outerShdw>
                </a:effectLst>
                <a:latin typeface="Bookman Old Style" panose="02050604050505020204" pitchFamily="18" charset="0"/>
              </a:rPr>
              <a:t>state variable </a:t>
            </a:r>
            <a:r>
              <a:rPr lang="en-US" dirty="0">
                <a:effectLst>
                  <a:outerShdw blurRad="38100" dist="38100" dir="2700000" algn="tl">
                    <a:srgbClr val="000000">
                      <a:alpha val="43137"/>
                    </a:srgbClr>
                  </a:outerShdw>
                </a:effectLst>
                <a:latin typeface="Bookman Old Style" panose="02050604050505020204" pitchFamily="18" charset="0"/>
              </a:rPr>
              <a:t>is </a:t>
            </a:r>
            <a:r>
              <a:rPr lang="en-US" b="1" dirty="0">
                <a:effectLst>
                  <a:outerShdw blurRad="38100" dist="38100" dir="2700000" algn="tl">
                    <a:srgbClr val="000000">
                      <a:alpha val="43137"/>
                    </a:srgbClr>
                  </a:outerShdw>
                </a:effectLst>
                <a:latin typeface="Bookman Old Style" panose="02050604050505020204" pitchFamily="18" charset="0"/>
              </a:rPr>
              <a:t>declared using the ‘</a:t>
            </a:r>
            <a:r>
              <a:rPr lang="en-US" b="1" dirty="0" err="1">
                <a:effectLst>
                  <a:outerShdw blurRad="38100" dist="38100" dir="2700000" algn="tl">
                    <a:srgbClr val="000000">
                      <a:alpha val="43137"/>
                    </a:srgbClr>
                  </a:outerShdw>
                </a:effectLst>
                <a:latin typeface="Bookman Old Style" panose="02050604050505020204" pitchFamily="18" charset="0"/>
              </a:rPr>
              <a:t>useState</a:t>
            </a:r>
            <a:r>
              <a:rPr lang="en-US" b="1" dirty="0">
                <a:effectLst>
                  <a:outerShdw blurRad="38100" dist="38100" dir="2700000" algn="tl">
                    <a:srgbClr val="000000">
                      <a:alpha val="43137"/>
                    </a:srgbClr>
                  </a:outerShdw>
                </a:effectLst>
                <a:latin typeface="Bookman Old Style" panose="02050604050505020204" pitchFamily="18" charset="0"/>
              </a:rPr>
              <a:t>’ hook </a:t>
            </a:r>
            <a:r>
              <a:rPr lang="en-US" dirty="0">
                <a:effectLst>
                  <a:outerShdw blurRad="38100" dist="38100" dir="2700000" algn="tl">
                    <a:srgbClr val="000000">
                      <a:alpha val="43137"/>
                    </a:srgbClr>
                  </a:outerShdw>
                </a:effectLst>
                <a:latin typeface="Bookman Old Style" panose="02050604050505020204" pitchFamily="18" charset="0"/>
              </a:rPr>
              <a:t>in a functional component</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Syntax:</a:t>
            </a:r>
          </a:p>
          <a:p>
            <a:pPr>
              <a:lnSpc>
                <a:spcPct val="150000"/>
              </a:lnSpc>
            </a:pPr>
            <a:r>
              <a:rPr lang="en-CA" b="0" dirty="0">
                <a:solidFill>
                  <a:srgbClr val="0000FF"/>
                </a:solidFill>
                <a:effectLst/>
                <a:latin typeface="Consolas" panose="020B0609020204030204" pitchFamily="49" charset="0"/>
              </a:rPr>
              <a:t>    </a:t>
            </a:r>
            <a:r>
              <a:rPr lang="en-CA" b="1" dirty="0">
                <a:solidFill>
                  <a:srgbClr val="0000FF"/>
                </a:solidFill>
                <a:effectLst/>
                <a:latin typeface="Consolas" panose="020B0609020204030204" pitchFamily="49" charset="0"/>
              </a:rPr>
              <a:t>const</a:t>
            </a:r>
            <a:r>
              <a:rPr lang="en-CA" b="1" dirty="0">
                <a:solidFill>
                  <a:srgbClr val="000000"/>
                </a:solidFill>
                <a:effectLst/>
                <a:latin typeface="Consolas" panose="020B0609020204030204" pitchFamily="49" charset="0"/>
              </a:rPr>
              <a:t> [</a:t>
            </a:r>
            <a:r>
              <a:rPr lang="en-CA" b="1" dirty="0" err="1">
                <a:solidFill>
                  <a:srgbClr val="000000"/>
                </a:solidFill>
                <a:effectLst/>
                <a:latin typeface="Consolas" panose="020B0609020204030204" pitchFamily="49" charset="0"/>
              </a:rPr>
              <a:t>variableName</a:t>
            </a:r>
            <a:r>
              <a:rPr lang="en-CA" b="1" dirty="0">
                <a:solidFill>
                  <a:srgbClr val="000000"/>
                </a:solidFill>
                <a:effectLst/>
                <a:latin typeface="Consolas" panose="020B0609020204030204" pitchFamily="49" charset="0"/>
              </a:rPr>
              <a:t>, </a:t>
            </a:r>
            <a:r>
              <a:rPr lang="en-CA" b="1" dirty="0" err="1">
                <a:solidFill>
                  <a:srgbClr val="000000"/>
                </a:solidFill>
                <a:effectLst/>
                <a:latin typeface="Consolas" panose="020B0609020204030204" pitchFamily="49" charset="0"/>
              </a:rPr>
              <a:t>setVariableName</a:t>
            </a:r>
            <a:r>
              <a:rPr lang="en-CA" b="1" dirty="0">
                <a:solidFill>
                  <a:srgbClr val="000000"/>
                </a:solidFill>
                <a:effectLst/>
                <a:latin typeface="Consolas" panose="020B0609020204030204" pitchFamily="49" charset="0"/>
              </a:rPr>
              <a:t>] = </a:t>
            </a:r>
            <a:r>
              <a:rPr lang="en-CA" b="1" dirty="0" err="1">
                <a:solidFill>
                  <a:srgbClr val="000000"/>
                </a:solidFill>
                <a:effectLst/>
                <a:latin typeface="Consolas" panose="020B0609020204030204" pitchFamily="49" charset="0"/>
              </a:rPr>
              <a:t>useState</a:t>
            </a:r>
            <a:r>
              <a:rPr lang="en-CA" b="1" dirty="0">
                <a:solidFill>
                  <a:srgbClr val="000000"/>
                </a:solidFill>
                <a:effectLst/>
                <a:latin typeface="Consolas" panose="020B0609020204030204" pitchFamily="49" charset="0"/>
              </a:rPr>
              <a:t>&lt;type&gt;(</a:t>
            </a:r>
            <a:r>
              <a:rPr lang="en-CA" b="1" dirty="0" err="1">
                <a:solidFill>
                  <a:srgbClr val="000000"/>
                </a:solidFill>
                <a:effectLst/>
                <a:latin typeface="Consolas" panose="020B0609020204030204" pitchFamily="49" charset="0"/>
              </a:rPr>
              <a:t>initialValue</a:t>
            </a:r>
            <a:r>
              <a:rPr lang="en-CA" b="1" dirty="0">
                <a:solidFill>
                  <a:srgbClr val="000000"/>
                </a:solidFill>
                <a:effectLst/>
                <a:latin typeface="Consolas" panose="020B0609020204030204" pitchFamily="49" charset="0"/>
              </a:rPr>
              <a:t>);</a:t>
            </a:r>
          </a:p>
          <a:p>
            <a:pPr marL="1200150" lvl="2" indent="-285750">
              <a:lnSpc>
                <a:spcPct val="150000"/>
              </a:lnSpc>
              <a:buFont typeface="Wingdings" panose="05000000000000000000" pitchFamily="2" charset="2"/>
              <a:buChar char="Ø"/>
            </a:pPr>
            <a:r>
              <a:rPr lang="en-US" b="1" dirty="0" err="1">
                <a:solidFill>
                  <a:srgbClr val="000000"/>
                </a:solidFill>
                <a:effectLst/>
                <a:latin typeface="Consolas" panose="020B0609020204030204" pitchFamily="49" charset="0"/>
              </a:rPr>
              <a:t>variableName</a:t>
            </a:r>
            <a:r>
              <a:rPr lang="en-US" b="0" dirty="0">
                <a:solidFill>
                  <a:srgbClr val="000000"/>
                </a:solidFill>
                <a:effectLst/>
                <a:latin typeface="Consolas" panose="020B0609020204030204" pitchFamily="49" charset="0"/>
              </a:rPr>
              <a:t> – holds the </a:t>
            </a:r>
            <a:r>
              <a:rPr lang="en-US" b="1" dirty="0">
                <a:solidFill>
                  <a:srgbClr val="000000"/>
                </a:solidFill>
                <a:effectLst/>
                <a:latin typeface="Consolas" panose="020B0609020204030204" pitchFamily="49" charset="0"/>
              </a:rPr>
              <a:t>current state </a:t>
            </a:r>
            <a:r>
              <a:rPr lang="en-US" b="0" dirty="0">
                <a:solidFill>
                  <a:srgbClr val="000000"/>
                </a:solidFill>
                <a:effectLst/>
                <a:latin typeface="Consolas" panose="020B0609020204030204" pitchFamily="49" charset="0"/>
              </a:rPr>
              <a:t>value</a:t>
            </a:r>
          </a:p>
          <a:p>
            <a:pPr marL="1200150" lvl="2" indent="-285750">
              <a:lnSpc>
                <a:spcPct val="150000"/>
              </a:lnSpc>
              <a:buFont typeface="Wingdings" panose="05000000000000000000" pitchFamily="2" charset="2"/>
              <a:buChar char="Ø"/>
            </a:pPr>
            <a:r>
              <a:rPr lang="en-US" b="1" dirty="0" err="1">
                <a:solidFill>
                  <a:srgbClr val="000000"/>
                </a:solidFill>
                <a:effectLst/>
                <a:latin typeface="Consolas" panose="020B0609020204030204" pitchFamily="49" charset="0"/>
              </a:rPr>
              <a:t>setVariableName</a:t>
            </a:r>
            <a:r>
              <a:rPr lang="en-US" b="0" dirty="0">
                <a:solidFill>
                  <a:srgbClr val="000000"/>
                </a:solidFill>
                <a:effectLst/>
                <a:latin typeface="Consolas" panose="020B0609020204030204" pitchFamily="49" charset="0"/>
              </a:rPr>
              <a:t> – is a </a:t>
            </a:r>
            <a:r>
              <a:rPr lang="en-US" b="1" dirty="0">
                <a:solidFill>
                  <a:srgbClr val="000000"/>
                </a:solidFill>
                <a:effectLst/>
                <a:latin typeface="Consolas" panose="020B0609020204030204" pitchFamily="49" charset="0"/>
              </a:rPr>
              <a:t>function used to update that value</a:t>
            </a:r>
          </a:p>
          <a:p>
            <a:pPr marL="1200150" lvl="2" indent="-285750">
              <a:lnSpc>
                <a:spcPct val="150000"/>
              </a:lnSpc>
              <a:buFont typeface="Wingdings" panose="05000000000000000000" pitchFamily="2" charset="2"/>
              <a:buChar char="Ø"/>
            </a:pPr>
            <a:r>
              <a:rPr lang="en-US" b="1" dirty="0" err="1">
                <a:solidFill>
                  <a:srgbClr val="000000"/>
                </a:solidFill>
                <a:effectLst/>
                <a:latin typeface="Consolas" panose="020B0609020204030204" pitchFamily="49" charset="0"/>
              </a:rPr>
              <a:t>useState</a:t>
            </a:r>
            <a:r>
              <a:rPr lang="en-US" b="1" dirty="0">
                <a:solidFill>
                  <a:srgbClr val="000000"/>
                </a:solidFill>
                <a:effectLst/>
                <a:latin typeface="Consolas" panose="020B0609020204030204" pitchFamily="49" charset="0"/>
              </a:rPr>
              <a:t>&lt;type&gt;() </a:t>
            </a:r>
            <a:r>
              <a:rPr lang="en-US" b="0" dirty="0">
                <a:solidFill>
                  <a:srgbClr val="000000"/>
                </a:solidFill>
                <a:effectLst/>
                <a:latin typeface="Consolas" panose="020B0609020204030204" pitchFamily="49" charset="0"/>
              </a:rPr>
              <a:t>– declares the </a:t>
            </a:r>
            <a:r>
              <a:rPr lang="en-US" b="1" dirty="0">
                <a:solidFill>
                  <a:srgbClr val="000000"/>
                </a:solidFill>
                <a:effectLst/>
                <a:latin typeface="Consolas" panose="020B0609020204030204" pitchFamily="49" charset="0"/>
              </a:rPr>
              <a:t>expected data type</a:t>
            </a:r>
            <a:endParaRPr lang="en-CA" b="1" dirty="0">
              <a:solidFill>
                <a:srgbClr val="000000"/>
              </a:solidFill>
              <a:effectLst/>
              <a:latin typeface="Consolas" panose="020B0609020204030204" pitchFamily="49"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3464485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4350-95FA-636B-909B-6AC1E721DDC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7F78DA-58E9-B393-0A9B-5F9A3C9FFBC2}"/>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49EE6CD6-6058-D56C-4A50-E3879C5B6B73}"/>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424B6A72-9634-8877-94AB-68805EEDCCF8}"/>
              </a:ext>
            </a:extLst>
          </p:cNvPr>
          <p:cNvSpPr/>
          <p:nvPr/>
        </p:nvSpPr>
        <p:spPr>
          <a:xfrm>
            <a:off x="0" y="1161578"/>
            <a:ext cx="499262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State Variable –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useState</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 Hook</a:t>
            </a:r>
            <a:endParaRPr lang="en-CA" sz="2200" dirty="0">
              <a:solidFill>
                <a:srgbClr val="FFFF00"/>
              </a:solidFill>
            </a:endParaRPr>
          </a:p>
        </p:txBody>
      </p:sp>
      <p:sp>
        <p:nvSpPr>
          <p:cNvPr id="7" name="Rectangle 1">
            <a:extLst>
              <a:ext uri="{FF2B5EF4-FFF2-40B4-BE49-F238E27FC236}">
                <a16:creationId xmlns:a16="http://schemas.microsoft.com/office/drawing/2014/main" id="{2CA73B1D-9A05-DA8A-9408-EBB2E73AFB61}"/>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2983CB99-9F1B-6D98-D3F9-928853E62E58}"/>
              </a:ext>
            </a:extLst>
          </p:cNvPr>
          <p:cNvSpPr txBox="1"/>
          <p:nvPr/>
        </p:nvSpPr>
        <p:spPr>
          <a:xfrm>
            <a:off x="0" y="1612599"/>
            <a:ext cx="12192000" cy="46157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We’ll now use the </a:t>
            </a:r>
            <a:r>
              <a:rPr lang="en-US" b="1" dirty="0" err="1">
                <a:effectLst>
                  <a:outerShdw blurRad="38100" dist="38100" dir="2700000" algn="tl">
                    <a:srgbClr val="000000">
                      <a:alpha val="43137"/>
                    </a:srgbClr>
                  </a:outerShdw>
                </a:effectLst>
                <a:latin typeface="Bookman Old Style" panose="02050604050505020204" pitchFamily="18" charset="0"/>
              </a:rPr>
              <a:t>useState</a:t>
            </a:r>
            <a:r>
              <a:rPr lang="en-US" b="1" dirty="0">
                <a:effectLst>
                  <a:outerShdw blurRad="38100" dist="38100" dir="2700000" algn="tl">
                    <a:srgbClr val="000000">
                      <a:alpha val="43137"/>
                    </a:srgbClr>
                  </a:outerShdw>
                </a:effectLst>
                <a:latin typeface="Bookman Old Style" panose="02050604050505020204" pitchFamily="18" charset="0"/>
              </a:rPr>
              <a:t> hook </a:t>
            </a:r>
            <a:r>
              <a:rPr lang="en-US" dirty="0">
                <a:effectLst>
                  <a:outerShdw blurRad="38100" dist="38100" dir="2700000" algn="tl">
                    <a:srgbClr val="000000">
                      <a:alpha val="43137"/>
                    </a:srgbClr>
                  </a:outerShdw>
                </a:effectLst>
                <a:latin typeface="Bookman Old Style" panose="02050604050505020204" pitchFamily="18" charset="0"/>
              </a:rPr>
              <a:t>to make the </a:t>
            </a:r>
            <a:r>
              <a:rPr lang="en-US" b="1" dirty="0">
                <a:effectLst>
                  <a:outerShdw blurRad="38100" dist="38100" dir="2700000" algn="tl">
                    <a:srgbClr val="000000">
                      <a:alpha val="43137"/>
                    </a:srgbClr>
                  </a:outerShdw>
                </a:effectLst>
                <a:latin typeface="Bookman Old Style" panose="02050604050505020204" pitchFamily="18" charset="0"/>
              </a:rPr>
              <a:t>balance dynamic</a:t>
            </a:r>
            <a:r>
              <a:rPr lang="en-US" dirty="0">
                <a:effectLst>
                  <a:outerShdw blurRad="38100" dist="38100" dir="2700000" algn="tl">
                    <a:srgbClr val="000000">
                      <a:alpha val="43137"/>
                    </a:srgbClr>
                  </a:outerShdw>
                </a:effectLst>
                <a:latin typeface="Bookman Old Style" panose="02050604050505020204" pitchFamily="18" charset="0"/>
              </a:rPr>
              <a:t>, which can later be updated based on real-time transactions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Let’s define a state variable called balance, initialized to 1250.00</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err="1">
                <a:effectLst>
                  <a:outerShdw blurRad="38100" dist="38100" dir="2700000" algn="tl">
                    <a:srgbClr val="000000">
                      <a:alpha val="43137"/>
                    </a:srgbClr>
                  </a:outerShdw>
                </a:effectLst>
                <a:latin typeface="Bookman Old Style" panose="02050604050505020204" pitchFamily="18" charset="0"/>
              </a:rPr>
              <a:t>useState</a:t>
            </a:r>
            <a:r>
              <a:rPr lang="en-US" dirty="0">
                <a:effectLst>
                  <a:outerShdw blurRad="38100" dist="38100" dir="2700000" algn="tl">
                    <a:srgbClr val="000000">
                      <a:alpha val="43137"/>
                    </a:srgbClr>
                  </a:outerShdw>
                </a:effectLst>
                <a:latin typeface="Bookman Old Style" panose="02050604050505020204" pitchFamily="18" charset="0"/>
              </a:rPr>
              <a:t> creates a state variable called balance, initialized to 1250.00</a:t>
            </a:r>
          </a:p>
          <a:p>
            <a:pPr marL="285750" indent="-285750">
              <a:lnSpc>
                <a:spcPct val="150000"/>
              </a:lnSpc>
              <a:buFont typeface="Arial" panose="020B0604020202020204" pitchFamily="34" charset="0"/>
              <a:buChar char="•"/>
            </a:pPr>
            <a:r>
              <a:rPr lang="en-US" dirty="0" err="1">
                <a:effectLst>
                  <a:outerShdw blurRad="38100" dist="38100" dir="2700000" algn="tl">
                    <a:srgbClr val="000000">
                      <a:alpha val="43137"/>
                    </a:srgbClr>
                  </a:outerShdw>
                </a:effectLst>
                <a:latin typeface="Bookman Old Style" panose="02050604050505020204" pitchFamily="18" charset="0"/>
              </a:rPr>
              <a:t>setBalance</a:t>
            </a:r>
            <a:r>
              <a:rPr lang="en-US" dirty="0">
                <a:effectLst>
                  <a:outerShdw blurRad="38100" dist="38100" dir="2700000" algn="tl">
                    <a:srgbClr val="000000">
                      <a:alpha val="43137"/>
                    </a:srgbClr>
                  </a:outerShdw>
                </a:effectLst>
                <a:latin typeface="Bookman Old Style" panose="02050604050505020204" pitchFamily="18" charset="0"/>
              </a:rPr>
              <a:t>() is used to update the balance dynamically</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10" name="Picture 9">
            <a:extLst>
              <a:ext uri="{FF2B5EF4-FFF2-40B4-BE49-F238E27FC236}">
                <a16:creationId xmlns:a16="http://schemas.microsoft.com/office/drawing/2014/main" id="{DD6C8992-49DB-93DC-7FF1-95F4E8D13A25}"/>
              </a:ext>
            </a:extLst>
          </p:cNvPr>
          <p:cNvPicPr>
            <a:picLocks noChangeAspect="1"/>
          </p:cNvPicPr>
          <p:nvPr/>
        </p:nvPicPr>
        <p:blipFill>
          <a:blip r:embed="rId4"/>
          <a:stretch>
            <a:fillRect/>
          </a:stretch>
        </p:blipFill>
        <p:spPr>
          <a:xfrm>
            <a:off x="162306" y="3111436"/>
            <a:ext cx="8359902" cy="1344794"/>
          </a:xfrm>
          <a:prstGeom prst="rect">
            <a:avLst/>
          </a:prstGeom>
        </p:spPr>
      </p:pic>
    </p:spTree>
    <p:extLst>
      <p:ext uri="{BB962C8B-B14F-4D97-AF65-F5344CB8AC3E}">
        <p14:creationId xmlns:p14="http://schemas.microsoft.com/office/powerpoint/2010/main" val="2377283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56DA-2900-DFCC-2611-D814745D78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64AE6E-CE15-2059-8B33-145448AD10FA}"/>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BDDD1F6F-74B6-593E-3770-118FF00B6A74}"/>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9CB1B90E-3F4C-C57E-E538-DC9482D713C7}"/>
              </a:ext>
            </a:extLst>
          </p:cNvPr>
          <p:cNvSpPr/>
          <p:nvPr/>
        </p:nvSpPr>
        <p:spPr>
          <a:xfrm>
            <a:off x="0" y="1161578"/>
            <a:ext cx="7488391"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Import the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useState</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Hook from the React Library</a:t>
            </a:r>
            <a:endParaRPr lang="en-CA" sz="2200" dirty="0">
              <a:solidFill>
                <a:srgbClr val="FFFF00"/>
              </a:solidFill>
            </a:endParaRPr>
          </a:p>
        </p:txBody>
      </p:sp>
      <p:sp>
        <p:nvSpPr>
          <p:cNvPr id="7" name="Rectangle 1">
            <a:extLst>
              <a:ext uri="{FF2B5EF4-FFF2-40B4-BE49-F238E27FC236}">
                <a16:creationId xmlns:a16="http://schemas.microsoft.com/office/drawing/2014/main" id="{09E8DE3A-82F4-AE05-27E9-81CD8C0781D4}"/>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C40A47BE-499D-430D-B905-0351A7E30A12}"/>
              </a:ext>
            </a:extLst>
          </p:cNvPr>
          <p:cNvSpPr txBox="1"/>
          <p:nvPr/>
        </p:nvSpPr>
        <p:spPr>
          <a:xfrm>
            <a:off x="0" y="1612599"/>
            <a:ext cx="12192000" cy="17072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err="1">
                <a:effectLst>
                  <a:outerShdw blurRad="38100" dist="38100" dir="2700000" algn="tl">
                    <a:srgbClr val="000000">
                      <a:alpha val="43137"/>
                    </a:srgbClr>
                  </a:outerShdw>
                </a:effectLst>
                <a:latin typeface="Bookman Old Style" panose="02050604050505020204" pitchFamily="18" charset="0"/>
              </a:rPr>
              <a:t>useState</a:t>
            </a:r>
            <a:r>
              <a:rPr lang="en-US" dirty="0">
                <a:effectLst>
                  <a:outerShdw blurRad="38100" dist="38100" dir="2700000" algn="tl">
                    <a:srgbClr val="000000">
                      <a:alpha val="43137"/>
                    </a:srgbClr>
                  </a:outerShdw>
                </a:effectLst>
                <a:latin typeface="Bookman Old Style" panose="02050604050505020204" pitchFamily="18" charset="0"/>
              </a:rPr>
              <a:t> is </a:t>
            </a:r>
            <a:r>
              <a:rPr lang="en-US" b="1" dirty="0">
                <a:effectLst>
                  <a:outerShdw blurRad="38100" dist="38100" dir="2700000" algn="tl">
                    <a:srgbClr val="000000">
                      <a:alpha val="43137"/>
                    </a:srgbClr>
                  </a:outerShdw>
                </a:effectLst>
                <a:latin typeface="Bookman Old Style" panose="02050604050505020204" pitchFamily="18" charset="0"/>
              </a:rPr>
              <a:t>not available globally</a:t>
            </a:r>
            <a:r>
              <a:rPr lang="en-US" dirty="0">
                <a:effectLst>
                  <a:outerShdw blurRad="38100" dist="38100" dir="2700000" algn="tl">
                    <a:srgbClr val="000000">
                      <a:alpha val="43137"/>
                    </a:srgbClr>
                  </a:outerShdw>
                </a:effectLst>
                <a:latin typeface="Bookman Old Style" panose="02050604050505020204" pitchFamily="18" charset="0"/>
              </a:rPr>
              <a:t>, it </a:t>
            </a:r>
            <a:r>
              <a:rPr lang="en-US" b="1" dirty="0">
                <a:effectLst>
                  <a:outerShdw blurRad="38100" dist="38100" dir="2700000" algn="tl">
                    <a:srgbClr val="000000">
                      <a:alpha val="43137"/>
                    </a:srgbClr>
                  </a:outerShdw>
                </a:effectLst>
                <a:latin typeface="Bookman Old Style" panose="02050604050505020204" pitchFamily="18" charset="0"/>
              </a:rPr>
              <a:t>must be imported to use it </a:t>
            </a:r>
            <a:r>
              <a:rPr lang="en-US" dirty="0">
                <a:effectLst>
                  <a:outerShdw blurRad="38100" dist="38100" dir="2700000" algn="tl">
                    <a:srgbClr val="000000">
                      <a:alpha val="43137"/>
                    </a:srgbClr>
                  </a:outerShdw>
                </a:effectLst>
                <a:latin typeface="Bookman Old Style" panose="02050604050505020204" pitchFamily="18" charset="0"/>
              </a:rPr>
              <a:t>in any file where you want to track changing data</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CB7355F4-8B3D-2104-A3E2-157E5DB25BC7}"/>
              </a:ext>
            </a:extLst>
          </p:cNvPr>
          <p:cNvPicPr>
            <a:picLocks noChangeAspect="1"/>
          </p:cNvPicPr>
          <p:nvPr/>
        </p:nvPicPr>
        <p:blipFill>
          <a:blip r:embed="rId4"/>
          <a:stretch>
            <a:fillRect/>
          </a:stretch>
        </p:blipFill>
        <p:spPr>
          <a:xfrm>
            <a:off x="379486" y="2647428"/>
            <a:ext cx="10355570" cy="1781424"/>
          </a:xfrm>
          <a:prstGeom prst="rect">
            <a:avLst/>
          </a:prstGeom>
        </p:spPr>
      </p:pic>
    </p:spTree>
    <p:extLst>
      <p:ext uri="{BB962C8B-B14F-4D97-AF65-F5344CB8AC3E}">
        <p14:creationId xmlns:p14="http://schemas.microsoft.com/office/powerpoint/2010/main" val="2430345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BD96-806B-A736-22A2-47FEECCAEA2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E93BF3-5E27-C454-01C4-DBEE34CD6EA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07CC0001-8DA7-5987-320A-284A3CC337C7}"/>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797C443F-3E1D-D1CC-E6E0-EB2886FA19B4}"/>
              </a:ext>
            </a:extLst>
          </p:cNvPr>
          <p:cNvSpPr/>
          <p:nvPr/>
        </p:nvSpPr>
        <p:spPr>
          <a:xfrm>
            <a:off x="0" y="1161578"/>
            <a:ext cx="485546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Displaying State Value in Text</a:t>
            </a:r>
            <a:endParaRPr lang="en-CA" sz="2200" dirty="0">
              <a:solidFill>
                <a:srgbClr val="FFFF00"/>
              </a:solidFill>
            </a:endParaRPr>
          </a:p>
        </p:txBody>
      </p:sp>
      <p:sp>
        <p:nvSpPr>
          <p:cNvPr id="7" name="Rectangle 1">
            <a:extLst>
              <a:ext uri="{FF2B5EF4-FFF2-40B4-BE49-F238E27FC236}">
                <a16:creationId xmlns:a16="http://schemas.microsoft.com/office/drawing/2014/main" id="{745DFC39-39B1-A09F-92BC-FFA2B651C8B4}"/>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19BEC317-F1AC-BDF3-494E-4A405DB93DA0}"/>
              </a:ext>
            </a:extLst>
          </p:cNvPr>
          <p:cNvSpPr txBox="1"/>
          <p:nvPr/>
        </p:nvSpPr>
        <p:spPr>
          <a:xfrm>
            <a:off x="0" y="1612599"/>
            <a:ext cx="12192000" cy="33692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can now  use the state variable ‘</a:t>
            </a:r>
            <a:r>
              <a:rPr lang="en-US" b="1" dirty="0">
                <a:effectLst>
                  <a:outerShdw blurRad="38100" dist="38100" dir="2700000" algn="tl">
                    <a:srgbClr val="000000">
                      <a:alpha val="43137"/>
                    </a:srgbClr>
                  </a:outerShdw>
                </a:effectLst>
                <a:latin typeface="Bookman Old Style" panose="02050604050505020204" pitchFamily="18" charset="0"/>
              </a:rPr>
              <a:t>balance</a:t>
            </a:r>
            <a:r>
              <a:rPr lang="en-US" dirty="0">
                <a:effectLst>
                  <a:outerShdw blurRad="38100" dist="38100" dir="2700000" algn="tl">
                    <a:srgbClr val="000000">
                      <a:alpha val="43137"/>
                    </a:srgbClr>
                  </a:outerShdw>
                </a:effectLst>
                <a:latin typeface="Bookman Old Style" panose="02050604050505020204" pitchFamily="18" charset="0"/>
              </a:rPr>
              <a:t>’ to </a:t>
            </a:r>
            <a:r>
              <a:rPr lang="en-US" b="1" dirty="0">
                <a:effectLst>
                  <a:outerShdw blurRad="38100" dist="38100" dir="2700000" algn="tl">
                    <a:srgbClr val="000000">
                      <a:alpha val="43137"/>
                    </a:srgbClr>
                  </a:outerShdw>
                </a:effectLst>
                <a:latin typeface="Bookman Old Style" panose="02050604050505020204" pitchFamily="18" charset="0"/>
              </a:rPr>
              <a:t>dynamically populate the balance </a:t>
            </a:r>
            <a:r>
              <a:rPr lang="en-US" dirty="0">
                <a:effectLst>
                  <a:outerShdw blurRad="38100" dist="38100" dir="2700000" algn="tl">
                    <a:srgbClr val="000000">
                      <a:alpha val="43137"/>
                    </a:srgbClr>
                  </a:outerShdw>
                </a:effectLst>
                <a:latin typeface="Bookman Old Style" panose="02050604050505020204" pitchFamily="18" charset="0"/>
              </a:rPr>
              <a:t>in the Text element</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DF138CA6-4542-F21D-501E-EE807D1547D2}"/>
              </a:ext>
            </a:extLst>
          </p:cNvPr>
          <p:cNvPicPr>
            <a:picLocks noChangeAspect="1"/>
          </p:cNvPicPr>
          <p:nvPr/>
        </p:nvPicPr>
        <p:blipFill>
          <a:blip r:embed="rId4"/>
          <a:stretch>
            <a:fillRect/>
          </a:stretch>
        </p:blipFill>
        <p:spPr>
          <a:xfrm>
            <a:off x="243562" y="2216134"/>
            <a:ext cx="8881458" cy="3480288"/>
          </a:xfrm>
          <a:prstGeom prst="rect">
            <a:avLst/>
          </a:prstGeom>
        </p:spPr>
      </p:pic>
      <p:pic>
        <p:nvPicPr>
          <p:cNvPr id="11" name="Picture 10">
            <a:extLst>
              <a:ext uri="{FF2B5EF4-FFF2-40B4-BE49-F238E27FC236}">
                <a16:creationId xmlns:a16="http://schemas.microsoft.com/office/drawing/2014/main" id="{AFBA4ACA-A020-A7BA-4687-5C5FCBA50771}"/>
              </a:ext>
            </a:extLst>
          </p:cNvPr>
          <p:cNvPicPr>
            <a:picLocks noChangeAspect="1"/>
          </p:cNvPicPr>
          <p:nvPr/>
        </p:nvPicPr>
        <p:blipFill>
          <a:blip r:embed="rId5"/>
          <a:stretch>
            <a:fillRect/>
          </a:stretch>
        </p:blipFill>
        <p:spPr>
          <a:xfrm>
            <a:off x="9147794" y="2066544"/>
            <a:ext cx="2206006" cy="4707520"/>
          </a:xfrm>
          <a:prstGeom prst="rect">
            <a:avLst/>
          </a:prstGeom>
        </p:spPr>
      </p:pic>
    </p:spTree>
    <p:extLst>
      <p:ext uri="{BB962C8B-B14F-4D97-AF65-F5344CB8AC3E}">
        <p14:creationId xmlns:p14="http://schemas.microsoft.com/office/powerpoint/2010/main" val="3155489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FA654-0898-7A61-9906-A6083B39BB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078F8F-384F-0BCF-9489-0393A8B58977}"/>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F537B74A-1771-3476-FB02-F6924A316E0A}"/>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FE325ED1-5B3F-C558-54E2-424B50723F15}"/>
              </a:ext>
            </a:extLst>
          </p:cNvPr>
          <p:cNvSpPr/>
          <p:nvPr/>
        </p:nvSpPr>
        <p:spPr>
          <a:xfrm>
            <a:off x="0" y="1161578"/>
            <a:ext cx="4544568"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Commenting in React Native </a:t>
            </a:r>
            <a:endParaRPr lang="en-CA" sz="2200" dirty="0">
              <a:solidFill>
                <a:srgbClr val="FFFF00"/>
              </a:solidFill>
            </a:endParaRPr>
          </a:p>
        </p:txBody>
      </p:sp>
      <p:sp>
        <p:nvSpPr>
          <p:cNvPr id="7" name="Rectangle 1">
            <a:extLst>
              <a:ext uri="{FF2B5EF4-FFF2-40B4-BE49-F238E27FC236}">
                <a16:creationId xmlns:a16="http://schemas.microsoft.com/office/drawing/2014/main" id="{98EE154A-7749-42C0-766D-1B97EE265231}"/>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E2CB2433-82BF-A2BC-EE1B-8CB105B23233}"/>
              </a:ext>
            </a:extLst>
          </p:cNvPr>
          <p:cNvSpPr txBox="1"/>
          <p:nvPr/>
        </p:nvSpPr>
        <p:spPr>
          <a:xfrm>
            <a:off x="0" y="1612599"/>
            <a:ext cx="12192000" cy="493891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Outside regular TypeScript code (Outside return block):</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Inside </a:t>
            </a:r>
            <a:r>
              <a:rPr lang="en-US" dirty="0" err="1">
                <a:effectLst>
                  <a:outerShdw blurRad="38100" dist="38100" dir="2700000" algn="tl">
                    <a:srgbClr val="000000">
                      <a:alpha val="43137"/>
                    </a:srgbClr>
                  </a:outerShdw>
                </a:effectLst>
                <a:latin typeface="Bookman Old Style" panose="02050604050505020204" pitchFamily="18" charset="0"/>
              </a:rPr>
              <a:t>Tsx</a:t>
            </a:r>
            <a:r>
              <a:rPr lang="en-US" dirty="0">
                <a:effectLst>
                  <a:outerShdw blurRad="38100" dist="38100" dir="2700000" algn="tl">
                    <a:srgbClr val="000000">
                      <a:alpha val="43137"/>
                    </a:srgbClr>
                  </a:outerShdw>
                </a:effectLst>
                <a:latin typeface="Bookman Old Style" panose="02050604050505020204" pitchFamily="18" charset="0"/>
              </a:rPr>
              <a:t> return block:</a:t>
            </a:r>
          </a:p>
          <a:p>
            <a:pPr marL="742950" lvl="1" indent="-285750">
              <a:lnSpc>
                <a:spcPct val="150000"/>
              </a:lnSpc>
              <a:buFont typeface="Wingdings" panose="05000000000000000000" pitchFamily="2" charset="2"/>
              <a:buChar char="Ø"/>
            </a:pPr>
            <a:r>
              <a:rPr lang="en-US" sz="1600" dirty="0">
                <a:effectLst>
                  <a:outerShdw blurRad="38100" dist="38100" dir="2700000" algn="tl">
                    <a:srgbClr val="000000">
                      <a:alpha val="43137"/>
                    </a:srgbClr>
                  </a:outerShdw>
                </a:effectLst>
                <a:latin typeface="Bookman Old Style" panose="02050604050505020204" pitchFamily="18" charset="0"/>
              </a:rPr>
              <a:t>You cannot use // or /* */ directly</a:t>
            </a:r>
          </a:p>
          <a:p>
            <a:pPr marL="742950" lvl="1" indent="-285750">
              <a:lnSpc>
                <a:spcPct val="150000"/>
              </a:lnSpc>
              <a:buFont typeface="Wingdings" panose="05000000000000000000" pitchFamily="2" charset="2"/>
              <a:buChar char="Ø"/>
            </a:pPr>
            <a:r>
              <a:rPr lang="en-US" sz="1600" dirty="0">
                <a:effectLst>
                  <a:outerShdw blurRad="38100" dist="38100" dir="2700000" algn="tl">
                    <a:srgbClr val="000000">
                      <a:alpha val="43137"/>
                    </a:srgbClr>
                  </a:outerShdw>
                </a:effectLst>
                <a:latin typeface="Bookman Old Style" panose="02050604050505020204" pitchFamily="18" charset="0"/>
              </a:rPr>
              <a:t>Instead, use JSX-safe comment syntax:</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14" name="Picture 13">
            <a:extLst>
              <a:ext uri="{FF2B5EF4-FFF2-40B4-BE49-F238E27FC236}">
                <a16:creationId xmlns:a16="http://schemas.microsoft.com/office/drawing/2014/main" id="{D3DBA3A9-25C8-6DF9-98D8-633931A2C18A}"/>
              </a:ext>
            </a:extLst>
          </p:cNvPr>
          <p:cNvPicPr>
            <a:picLocks noChangeAspect="1"/>
          </p:cNvPicPr>
          <p:nvPr/>
        </p:nvPicPr>
        <p:blipFill>
          <a:blip r:embed="rId4"/>
          <a:stretch>
            <a:fillRect/>
          </a:stretch>
        </p:blipFill>
        <p:spPr>
          <a:xfrm>
            <a:off x="5095246" y="2433980"/>
            <a:ext cx="6277851" cy="847843"/>
          </a:xfrm>
          <a:prstGeom prst="rect">
            <a:avLst/>
          </a:prstGeom>
        </p:spPr>
      </p:pic>
      <p:pic>
        <p:nvPicPr>
          <p:cNvPr id="16" name="Picture 15">
            <a:extLst>
              <a:ext uri="{FF2B5EF4-FFF2-40B4-BE49-F238E27FC236}">
                <a16:creationId xmlns:a16="http://schemas.microsoft.com/office/drawing/2014/main" id="{BC125136-F9FF-3EEB-42C2-7205831A5047}"/>
              </a:ext>
            </a:extLst>
          </p:cNvPr>
          <p:cNvPicPr>
            <a:picLocks noChangeAspect="1"/>
          </p:cNvPicPr>
          <p:nvPr/>
        </p:nvPicPr>
        <p:blipFill>
          <a:blip r:embed="rId5"/>
          <a:stretch>
            <a:fillRect/>
          </a:stretch>
        </p:blipFill>
        <p:spPr>
          <a:xfrm>
            <a:off x="326715" y="2370939"/>
            <a:ext cx="3925244" cy="1021971"/>
          </a:xfrm>
          <a:prstGeom prst="rect">
            <a:avLst/>
          </a:prstGeom>
        </p:spPr>
      </p:pic>
      <p:pic>
        <p:nvPicPr>
          <p:cNvPr id="18" name="Picture 17">
            <a:extLst>
              <a:ext uri="{FF2B5EF4-FFF2-40B4-BE49-F238E27FC236}">
                <a16:creationId xmlns:a16="http://schemas.microsoft.com/office/drawing/2014/main" id="{598052C8-D8B0-2195-18DA-17BC365A73BA}"/>
              </a:ext>
            </a:extLst>
          </p:cNvPr>
          <p:cNvPicPr>
            <a:picLocks noChangeAspect="1"/>
          </p:cNvPicPr>
          <p:nvPr/>
        </p:nvPicPr>
        <p:blipFill>
          <a:blip r:embed="rId6"/>
          <a:stretch>
            <a:fillRect/>
          </a:stretch>
        </p:blipFill>
        <p:spPr>
          <a:xfrm>
            <a:off x="5290993" y="5014087"/>
            <a:ext cx="5416632" cy="1369566"/>
          </a:xfrm>
          <a:prstGeom prst="rect">
            <a:avLst/>
          </a:prstGeom>
        </p:spPr>
      </p:pic>
      <p:pic>
        <p:nvPicPr>
          <p:cNvPr id="20" name="Picture 19">
            <a:extLst>
              <a:ext uri="{FF2B5EF4-FFF2-40B4-BE49-F238E27FC236}">
                <a16:creationId xmlns:a16="http://schemas.microsoft.com/office/drawing/2014/main" id="{95C74021-7E45-BB68-8E9E-EDC559638CFD}"/>
              </a:ext>
            </a:extLst>
          </p:cNvPr>
          <p:cNvPicPr>
            <a:picLocks noChangeAspect="1"/>
          </p:cNvPicPr>
          <p:nvPr/>
        </p:nvPicPr>
        <p:blipFill>
          <a:blip r:embed="rId7"/>
          <a:stretch>
            <a:fillRect/>
          </a:stretch>
        </p:blipFill>
        <p:spPr>
          <a:xfrm>
            <a:off x="418653" y="5052957"/>
            <a:ext cx="4302365" cy="457200"/>
          </a:xfrm>
          <a:prstGeom prst="rect">
            <a:avLst/>
          </a:prstGeom>
        </p:spPr>
      </p:pic>
    </p:spTree>
    <p:extLst>
      <p:ext uri="{BB962C8B-B14F-4D97-AF65-F5344CB8AC3E}">
        <p14:creationId xmlns:p14="http://schemas.microsoft.com/office/powerpoint/2010/main" val="1436201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9C02A-A20A-F6B2-C9BC-DD67C7206E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53F413-7086-9168-B065-5E44A3033B7B}"/>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B58B5B00-263A-DB35-BB0F-D68860526C90}"/>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773F1EBF-D640-DD7A-39B0-C09B1ADBB40D}"/>
              </a:ext>
            </a:extLst>
          </p:cNvPr>
          <p:cNvSpPr/>
          <p:nvPr/>
        </p:nvSpPr>
        <p:spPr>
          <a:xfrm>
            <a:off x="0" y="1196322"/>
            <a:ext cx="3035808"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Touchable Opacity</a:t>
            </a:r>
            <a:endParaRPr lang="en-CA" sz="2200" dirty="0">
              <a:solidFill>
                <a:srgbClr val="FFFF00"/>
              </a:solidFill>
            </a:endParaRPr>
          </a:p>
        </p:txBody>
      </p:sp>
      <p:sp>
        <p:nvSpPr>
          <p:cNvPr id="7" name="Rectangle 1">
            <a:extLst>
              <a:ext uri="{FF2B5EF4-FFF2-40B4-BE49-F238E27FC236}">
                <a16:creationId xmlns:a16="http://schemas.microsoft.com/office/drawing/2014/main" id="{DFB22E30-2B4C-66AF-D39F-B0A44FE9A135}"/>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E0815C5A-D740-2849-642B-E89F3E24D5A8}"/>
              </a:ext>
            </a:extLst>
          </p:cNvPr>
          <p:cNvSpPr txBox="1"/>
          <p:nvPr/>
        </p:nvSpPr>
        <p:spPr>
          <a:xfrm>
            <a:off x="0" y="1612599"/>
            <a:ext cx="12271248" cy="576991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err="1">
                <a:effectLst>
                  <a:outerShdw blurRad="38100" dist="38100" dir="2700000" algn="tl">
                    <a:srgbClr val="000000">
                      <a:alpha val="43137"/>
                    </a:srgbClr>
                  </a:outerShdw>
                </a:effectLst>
                <a:latin typeface="Bookman Old Style" panose="02050604050505020204" pitchFamily="18" charset="0"/>
              </a:rPr>
              <a:t>TouchableOpacity</a:t>
            </a:r>
            <a:r>
              <a:rPr lang="en-US" dirty="0">
                <a:effectLst>
                  <a:outerShdw blurRad="38100" dist="38100" dir="2700000" algn="tl">
                    <a:srgbClr val="000000">
                      <a:alpha val="43137"/>
                    </a:srgbClr>
                  </a:outerShdw>
                </a:effectLst>
                <a:latin typeface="Bookman Old Style" panose="02050604050505020204" pitchFamily="18" charset="0"/>
              </a:rPr>
              <a:t> is a </a:t>
            </a:r>
            <a:r>
              <a:rPr lang="en-US" b="1" dirty="0">
                <a:effectLst>
                  <a:outerShdw blurRad="38100" dist="38100" dir="2700000" algn="tl">
                    <a:srgbClr val="000000">
                      <a:alpha val="43137"/>
                    </a:srgbClr>
                  </a:outerShdw>
                </a:effectLst>
                <a:latin typeface="Bookman Old Style" panose="02050604050505020204" pitchFamily="18" charset="0"/>
              </a:rPr>
              <a:t>core component </a:t>
            </a:r>
            <a:r>
              <a:rPr lang="en-US" dirty="0">
                <a:effectLst>
                  <a:outerShdw blurRad="38100" dist="38100" dir="2700000" algn="tl">
                    <a:srgbClr val="000000">
                      <a:alpha val="43137"/>
                    </a:srgbClr>
                  </a:outerShdw>
                </a:effectLst>
                <a:latin typeface="Bookman Old Style" panose="02050604050505020204" pitchFamily="18" charset="0"/>
              </a:rPr>
              <a:t>in React Native used </a:t>
            </a:r>
            <a:r>
              <a:rPr lang="en-US" b="1" dirty="0">
                <a:effectLst>
                  <a:outerShdw blurRad="38100" dist="38100" dir="2700000" algn="tl">
                    <a:srgbClr val="000000">
                      <a:alpha val="43137"/>
                    </a:srgbClr>
                  </a:outerShdw>
                </a:effectLst>
                <a:latin typeface="Bookman Old Style" panose="02050604050505020204" pitchFamily="18" charset="0"/>
              </a:rPr>
              <a:t>to create touchable elements </a:t>
            </a:r>
            <a:r>
              <a:rPr lang="en-US" dirty="0">
                <a:effectLst>
                  <a:outerShdw blurRad="38100" dist="38100" dir="2700000" algn="tl">
                    <a:srgbClr val="000000">
                      <a:alpha val="43137"/>
                    </a:srgbClr>
                  </a:outerShdw>
                </a:effectLst>
                <a:latin typeface="Bookman Old Style" panose="02050604050505020204" pitchFamily="18" charset="0"/>
              </a:rPr>
              <a:t>(like buttons or links) </a:t>
            </a:r>
            <a:r>
              <a:rPr lang="en-US" b="1" dirty="0">
                <a:effectLst>
                  <a:outerShdw blurRad="38100" dist="38100" dir="2700000" algn="tl">
                    <a:srgbClr val="000000">
                      <a:alpha val="43137"/>
                    </a:srgbClr>
                  </a:outerShdw>
                </a:effectLst>
                <a:latin typeface="Bookman Old Style" panose="02050604050505020204" pitchFamily="18" charset="0"/>
              </a:rPr>
              <a:t>that respond visually when tapped</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 reduces the opacity of the wrapped content when pressed, </a:t>
            </a:r>
            <a:r>
              <a:rPr lang="en-US" b="1" dirty="0">
                <a:effectLst>
                  <a:outerShdw blurRad="38100" dist="38100" dir="2700000" algn="tl">
                    <a:srgbClr val="000000">
                      <a:alpha val="43137"/>
                    </a:srgbClr>
                  </a:outerShdw>
                </a:effectLst>
                <a:latin typeface="Bookman Old Style" panose="02050604050505020204" pitchFamily="18" charset="0"/>
              </a:rPr>
              <a:t>giving a subtle feedback effect </a:t>
            </a:r>
            <a:r>
              <a:rPr lang="en-US" dirty="0">
                <a:effectLst>
                  <a:outerShdw blurRad="38100" dist="38100" dir="2700000" algn="tl">
                    <a:srgbClr val="000000">
                      <a:alpha val="43137"/>
                    </a:srgbClr>
                  </a:outerShdw>
                </a:effectLst>
                <a:latin typeface="Bookman Old Style" panose="02050604050505020204" pitchFamily="18" charset="0"/>
              </a:rPr>
              <a:t>to the user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Syntax:</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b="1" dirty="0" err="1">
                <a:effectLst>
                  <a:outerShdw blurRad="38100" dist="38100" dir="2700000" algn="tl">
                    <a:srgbClr val="000000">
                      <a:alpha val="43137"/>
                    </a:srgbClr>
                  </a:outerShdw>
                </a:effectLst>
                <a:latin typeface="Bookman Old Style" panose="02050604050505020204" pitchFamily="18" charset="0"/>
              </a:rPr>
              <a:t>TouchableOpacity</a:t>
            </a:r>
            <a:r>
              <a:rPr lang="en-US" dirty="0">
                <a:effectLst>
                  <a:outerShdw blurRad="38100" dist="38100" dir="2700000" algn="tl">
                    <a:srgbClr val="000000">
                      <a:alpha val="43137"/>
                    </a:srgbClr>
                  </a:outerShdw>
                </a:effectLst>
                <a:latin typeface="Bookman Old Style" panose="02050604050505020204" pitchFamily="18" charset="0"/>
              </a:rPr>
              <a:t>: </a:t>
            </a:r>
            <a:r>
              <a:rPr lang="en-US" b="1" dirty="0">
                <a:effectLst>
                  <a:outerShdw blurRad="38100" dist="38100" dir="2700000" algn="tl">
                    <a:srgbClr val="000000">
                      <a:alpha val="43137"/>
                    </a:srgbClr>
                  </a:outerShdw>
                </a:effectLst>
                <a:latin typeface="Bookman Old Style" panose="02050604050505020204" pitchFamily="18" charset="0"/>
              </a:rPr>
              <a:t>Wraps any element you want to make tappable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Can be used to wrap any component (like Text, View, or Image) to make it interactive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Commonly used for buttons, clickable text, or icons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Supports </a:t>
            </a:r>
            <a:r>
              <a:rPr lang="en-US" b="1" dirty="0">
                <a:effectLst>
                  <a:outerShdw blurRad="38100" dist="38100" dir="2700000" algn="tl">
                    <a:srgbClr val="000000">
                      <a:alpha val="43137"/>
                    </a:srgbClr>
                  </a:outerShdw>
                </a:effectLst>
                <a:latin typeface="Bookman Old Style" panose="02050604050505020204" pitchFamily="18" charset="0"/>
              </a:rPr>
              <a:t>props</a:t>
            </a:r>
            <a:r>
              <a:rPr lang="en-US" dirty="0">
                <a:effectLst>
                  <a:outerShdw blurRad="38100" dist="38100" dir="2700000" algn="tl">
                    <a:srgbClr val="000000">
                      <a:alpha val="43137"/>
                    </a:srgbClr>
                  </a:outerShdw>
                </a:effectLst>
                <a:latin typeface="Bookman Old Style" panose="02050604050505020204" pitchFamily="18" charset="0"/>
              </a:rPr>
              <a:t> like </a:t>
            </a:r>
            <a:r>
              <a:rPr lang="en-US" dirty="0" err="1">
                <a:effectLst>
                  <a:outerShdw blurRad="38100" dist="38100" dir="2700000" algn="tl">
                    <a:srgbClr val="000000">
                      <a:alpha val="43137"/>
                    </a:srgbClr>
                  </a:outerShdw>
                </a:effectLst>
                <a:latin typeface="Bookman Old Style" panose="02050604050505020204" pitchFamily="18" charset="0"/>
              </a:rPr>
              <a:t>onPress</a:t>
            </a:r>
            <a:r>
              <a:rPr lang="en-US" dirty="0">
                <a:effectLst>
                  <a:outerShdw blurRad="38100" dist="38100" dir="2700000" algn="tl">
                    <a:srgbClr val="000000">
                      <a:alpha val="43137"/>
                    </a:srgbClr>
                  </a:outerShdw>
                </a:effectLst>
                <a:latin typeface="Bookman Old Style" panose="02050604050505020204" pitchFamily="18" charset="0"/>
              </a:rPr>
              <a:t>, </a:t>
            </a:r>
            <a:r>
              <a:rPr lang="en-US" dirty="0" err="1">
                <a:effectLst>
                  <a:outerShdw blurRad="38100" dist="38100" dir="2700000" algn="tl">
                    <a:srgbClr val="000000">
                      <a:alpha val="43137"/>
                    </a:srgbClr>
                  </a:outerShdw>
                </a:effectLst>
                <a:latin typeface="Bookman Old Style" panose="02050604050505020204" pitchFamily="18" charset="0"/>
              </a:rPr>
              <a:t>activeOpacity</a:t>
            </a:r>
            <a:r>
              <a:rPr lang="en-US" dirty="0">
                <a:effectLst>
                  <a:outerShdw blurRad="38100" dist="38100" dir="2700000" algn="tl">
                    <a:srgbClr val="000000">
                      <a:alpha val="43137"/>
                    </a:srgbClr>
                  </a:outerShdw>
                </a:effectLst>
                <a:latin typeface="Bookman Old Style" panose="02050604050505020204" pitchFamily="18" charset="0"/>
              </a:rPr>
              <a:t>, etc.</a:t>
            </a:r>
          </a:p>
          <a:p>
            <a:pPr marL="742950" lvl="1" indent="-285750">
              <a:lnSpc>
                <a:spcPct val="150000"/>
              </a:lnSpc>
              <a:buFont typeface="Wingdings" panose="05000000000000000000" pitchFamily="2" charset="2"/>
              <a:buChar char="Ø"/>
            </a:pPr>
            <a:r>
              <a:rPr lang="en-US" sz="1600" b="1" dirty="0" err="1">
                <a:effectLst>
                  <a:outerShdw blurRad="38100" dist="38100" dir="2700000" algn="tl">
                    <a:srgbClr val="000000">
                      <a:alpha val="43137"/>
                    </a:srgbClr>
                  </a:outerShdw>
                </a:effectLst>
                <a:latin typeface="Bookman Old Style" panose="02050604050505020204" pitchFamily="18" charset="0"/>
              </a:rPr>
              <a:t>onPress</a:t>
            </a:r>
            <a:r>
              <a:rPr lang="en-US" sz="1600" dirty="0">
                <a:effectLst>
                  <a:outerShdw blurRad="38100" dist="38100" dir="2700000" algn="tl">
                    <a:srgbClr val="000000">
                      <a:alpha val="43137"/>
                    </a:srgbClr>
                  </a:outerShdw>
                </a:effectLst>
                <a:latin typeface="Bookman Old Style" panose="02050604050505020204" pitchFamily="18" charset="0"/>
              </a:rPr>
              <a:t>: Callback function triggered when the user taps the element</a:t>
            </a:r>
          </a:p>
          <a:p>
            <a:pPr marL="742950" lvl="1" indent="-285750">
              <a:lnSpc>
                <a:spcPct val="150000"/>
              </a:lnSpc>
              <a:buFont typeface="Wingdings" panose="05000000000000000000" pitchFamily="2" charset="2"/>
              <a:buChar char="Ø"/>
            </a:pPr>
            <a:r>
              <a:rPr lang="en-US" sz="1600" b="1" dirty="0" err="1">
                <a:effectLst>
                  <a:outerShdw blurRad="38100" dist="38100" dir="2700000" algn="tl">
                    <a:srgbClr val="000000">
                      <a:alpha val="43137"/>
                    </a:srgbClr>
                  </a:outerShdw>
                </a:effectLst>
                <a:latin typeface="Bookman Old Style" panose="02050604050505020204" pitchFamily="18" charset="0"/>
              </a:rPr>
              <a:t>activeOpacity</a:t>
            </a:r>
            <a:r>
              <a:rPr lang="en-US" sz="1600" dirty="0">
                <a:effectLst>
                  <a:outerShdw blurRad="38100" dist="38100" dir="2700000" algn="tl">
                    <a:srgbClr val="000000">
                      <a:alpha val="43137"/>
                    </a:srgbClr>
                  </a:outerShdw>
                </a:effectLst>
                <a:latin typeface="Bookman Old Style" panose="02050604050505020204" pitchFamily="18" charset="0"/>
              </a:rPr>
              <a:t>: Controls the opacity when the element is pressed (0 to 1)</a:t>
            </a:r>
          </a:p>
          <a:p>
            <a:pPr marL="742950" lvl="1" indent="-285750">
              <a:lnSpc>
                <a:spcPct val="150000"/>
              </a:lnSpc>
              <a:buFont typeface="Wingdings" panose="05000000000000000000" pitchFamily="2" charset="2"/>
              <a:buChar char="Ø"/>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sp>
        <p:nvSpPr>
          <p:cNvPr id="4" name="TextBox 3">
            <a:extLst>
              <a:ext uri="{FF2B5EF4-FFF2-40B4-BE49-F238E27FC236}">
                <a16:creationId xmlns:a16="http://schemas.microsoft.com/office/drawing/2014/main" id="{C5967D57-92FD-0817-8E03-C645013C7931}"/>
              </a:ext>
            </a:extLst>
          </p:cNvPr>
          <p:cNvSpPr txBox="1"/>
          <p:nvPr/>
        </p:nvSpPr>
        <p:spPr>
          <a:xfrm>
            <a:off x="352044" y="3368622"/>
            <a:ext cx="9788652" cy="786497"/>
          </a:xfrm>
          <a:prstGeom prst="rect">
            <a:avLst/>
          </a:prstGeom>
          <a:noFill/>
        </p:spPr>
        <p:txBody>
          <a:bodyPr wrap="square">
            <a:spAutoFit/>
          </a:bodyPr>
          <a:lstStyle/>
          <a:p>
            <a:pPr>
              <a:lnSpc>
                <a:spcPts val="1800"/>
              </a:lnSpc>
              <a:buNone/>
            </a:pP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TouchableOpacity</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onPress</a:t>
            </a:r>
            <a:r>
              <a:rPr lang="en-US" b="0" dirty="0">
                <a:solidFill>
                  <a:srgbClr val="000000"/>
                </a:solidFill>
                <a:effectLst/>
                <a:latin typeface="Consolas" panose="020B0609020204030204" pitchFamily="49" charset="0"/>
              </a:rPr>
              <a:t>=</a:t>
            </a:r>
            <a:r>
              <a:rPr lang="en-US" b="0" dirty="0">
                <a:solidFill>
                  <a:srgbClr val="008000"/>
                </a:solidFill>
                <a:effectLst/>
                <a:latin typeface="Consolas" panose="020B0609020204030204" pitchFamily="49" charset="0"/>
              </a:rPr>
              <a:t>Function to execute on press</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lnSpc>
                <a:spcPts val="1800"/>
              </a:lnSpc>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&lt;Text&gt;</a:t>
            </a:r>
            <a:r>
              <a:rPr lang="en-US" dirty="0">
                <a:solidFill>
                  <a:srgbClr val="008000"/>
                </a:solidFill>
                <a:latin typeface="Consolas" panose="020B0609020204030204" pitchFamily="49" charset="0"/>
              </a:rPr>
              <a:t>Touchable content goes here</a:t>
            </a:r>
            <a:r>
              <a:rPr lang="en-US" b="0" dirty="0">
                <a:solidFill>
                  <a:srgbClr val="800000"/>
                </a:solidFill>
                <a:effectLst/>
                <a:latin typeface="Consolas" panose="020B0609020204030204" pitchFamily="49" charset="0"/>
              </a:rPr>
              <a:t>&lt;/Text&gt;</a:t>
            </a:r>
            <a:endParaRPr lang="en-US" b="0" dirty="0">
              <a:solidFill>
                <a:srgbClr val="000000"/>
              </a:solidFill>
              <a:effectLst/>
              <a:latin typeface="Consolas" panose="020B0609020204030204" pitchFamily="49" charset="0"/>
            </a:endParaRPr>
          </a:p>
          <a:p>
            <a:pPr>
              <a:lnSpc>
                <a:spcPts val="1800"/>
              </a:lnSpc>
            </a:pP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TouchableOpacity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23705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7C92C-7A62-3DC7-8B36-A0729AA7DF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E9532C-EBFC-E4D3-DEB2-F1CA31BC70C5}"/>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50B7B0F4-68F9-ADB1-B88F-3890AFD3D23F}"/>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A2A7E1FB-218E-A055-8847-90D0C889ED21}"/>
              </a:ext>
            </a:extLst>
          </p:cNvPr>
          <p:cNvSpPr/>
          <p:nvPr/>
        </p:nvSpPr>
        <p:spPr>
          <a:xfrm>
            <a:off x="0" y="1196322"/>
            <a:ext cx="11494008"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Touchable Opacity - wrap the username Text view with a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TouchableOpacity</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a:t>
            </a:r>
            <a:endParaRPr lang="en-CA" sz="2200" dirty="0">
              <a:solidFill>
                <a:srgbClr val="FFFF00"/>
              </a:solidFill>
            </a:endParaRPr>
          </a:p>
        </p:txBody>
      </p:sp>
      <p:sp>
        <p:nvSpPr>
          <p:cNvPr id="7" name="Rectangle 1">
            <a:extLst>
              <a:ext uri="{FF2B5EF4-FFF2-40B4-BE49-F238E27FC236}">
                <a16:creationId xmlns:a16="http://schemas.microsoft.com/office/drawing/2014/main" id="{2F999BEF-6CF3-228A-80A2-EFEA82E219AD}"/>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5202981C-1B2C-1EBD-8A12-D2CE638C3D8A}"/>
              </a:ext>
            </a:extLst>
          </p:cNvPr>
          <p:cNvSpPr txBox="1"/>
          <p:nvPr/>
        </p:nvSpPr>
        <p:spPr>
          <a:xfrm>
            <a:off x="0" y="1612599"/>
            <a:ext cx="12192000" cy="58622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You can </a:t>
            </a:r>
            <a:r>
              <a:rPr lang="en-US" b="1" dirty="0">
                <a:effectLst>
                  <a:outerShdw blurRad="38100" dist="38100" dir="2700000" algn="tl">
                    <a:srgbClr val="000000">
                      <a:alpha val="43137"/>
                    </a:srgbClr>
                  </a:outerShdw>
                </a:effectLst>
                <a:latin typeface="Bookman Old Style" panose="02050604050505020204" pitchFamily="18" charset="0"/>
              </a:rPr>
              <a:t>wrap the username Text view </a:t>
            </a:r>
            <a:r>
              <a:rPr lang="en-US" dirty="0">
                <a:effectLst>
                  <a:outerShdw blurRad="38100" dist="38100" dir="2700000" algn="tl">
                    <a:srgbClr val="000000">
                      <a:alpha val="43137"/>
                    </a:srgbClr>
                  </a:outerShdw>
                </a:effectLst>
                <a:latin typeface="Bookman Old Style" panose="02050604050505020204" pitchFamily="18" charset="0"/>
              </a:rPr>
              <a:t>with a </a:t>
            </a:r>
            <a:r>
              <a:rPr lang="en-US" b="1" dirty="0" err="1">
                <a:effectLst>
                  <a:outerShdw blurRad="38100" dist="38100" dir="2700000" algn="tl">
                    <a:srgbClr val="000000">
                      <a:alpha val="43137"/>
                    </a:srgbClr>
                  </a:outerShdw>
                </a:effectLst>
                <a:latin typeface="Bookman Old Style" panose="02050604050505020204" pitchFamily="18" charset="0"/>
              </a:rPr>
              <a:t>TouchableOpacity</a:t>
            </a:r>
            <a:r>
              <a:rPr lang="en-US" dirty="0">
                <a:effectLst>
                  <a:outerShdw blurRad="38100" dist="38100" dir="2700000" algn="tl">
                    <a:srgbClr val="000000">
                      <a:alpha val="43137"/>
                    </a:srgbClr>
                  </a:outerShdw>
                </a:effectLst>
                <a:latin typeface="Bookman Old Style" panose="02050604050505020204" pitchFamily="18" charset="0"/>
              </a:rPr>
              <a:t> component to make it respond to touch events like tapping or pressing</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adds interactivity, such as showing a profile or triggering an alert</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a:t>
            </a:r>
            <a:r>
              <a:rPr lang="en-US" b="1" dirty="0" err="1">
                <a:effectLst>
                  <a:outerShdw blurRad="38100" dist="38100" dir="2700000" algn="tl">
                    <a:srgbClr val="000000">
                      <a:alpha val="43137"/>
                    </a:srgbClr>
                  </a:outerShdw>
                </a:effectLst>
                <a:latin typeface="Bookman Old Style" panose="02050604050505020204" pitchFamily="18" charset="0"/>
              </a:rPr>
              <a:t>showProfile</a:t>
            </a:r>
            <a:r>
              <a:rPr lang="en-US" dirty="0">
                <a:effectLst>
                  <a:outerShdw blurRad="38100" dist="38100" dir="2700000" algn="tl">
                    <a:srgbClr val="000000">
                      <a:alpha val="43137"/>
                    </a:srgbClr>
                  </a:outerShdw>
                </a:effectLst>
                <a:latin typeface="Bookman Old Style" panose="02050604050505020204" pitchFamily="18" charset="0"/>
              </a:rPr>
              <a:t>’ is the </a:t>
            </a:r>
            <a:r>
              <a:rPr lang="en-US" b="1" dirty="0">
                <a:effectLst>
                  <a:outerShdw blurRad="38100" dist="38100" dir="2700000" algn="tl">
                    <a:srgbClr val="000000">
                      <a:alpha val="43137"/>
                    </a:srgbClr>
                  </a:outerShdw>
                </a:effectLst>
                <a:latin typeface="Bookman Old Style" panose="02050604050505020204" pitchFamily="18" charset="0"/>
              </a:rPr>
              <a:t>function to be called when the text is tapped</a:t>
            </a:r>
          </a:p>
          <a:p>
            <a:pPr lvl="1">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10" name="Picture 9">
            <a:extLst>
              <a:ext uri="{FF2B5EF4-FFF2-40B4-BE49-F238E27FC236}">
                <a16:creationId xmlns:a16="http://schemas.microsoft.com/office/drawing/2014/main" id="{00690C80-202F-77DF-8886-23E673EF368E}"/>
              </a:ext>
            </a:extLst>
          </p:cNvPr>
          <p:cNvPicPr>
            <a:picLocks noChangeAspect="1"/>
          </p:cNvPicPr>
          <p:nvPr/>
        </p:nvPicPr>
        <p:blipFill>
          <a:blip r:embed="rId4"/>
          <a:stretch>
            <a:fillRect/>
          </a:stretch>
        </p:blipFill>
        <p:spPr>
          <a:xfrm>
            <a:off x="448056" y="3203120"/>
            <a:ext cx="8805672" cy="2930875"/>
          </a:xfrm>
          <a:prstGeom prst="rect">
            <a:avLst/>
          </a:prstGeom>
        </p:spPr>
      </p:pic>
    </p:spTree>
    <p:extLst>
      <p:ext uri="{BB962C8B-B14F-4D97-AF65-F5344CB8AC3E}">
        <p14:creationId xmlns:p14="http://schemas.microsoft.com/office/powerpoint/2010/main" val="3607474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EB15-37E9-6D17-F4C0-C87CC487A3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631981-A90C-21AA-E30A-DFDB2A67CA2B}"/>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CE68791-DCF4-4C64-CDE4-D8941ECEC49A}"/>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61DBFCF2-AF2E-297D-8D11-460A596928DD}"/>
              </a:ext>
            </a:extLst>
          </p:cNvPr>
          <p:cNvSpPr/>
          <p:nvPr/>
        </p:nvSpPr>
        <p:spPr>
          <a:xfrm>
            <a:off x="0" y="1196322"/>
            <a:ext cx="5184648"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Import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TouchableOpacity</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Library</a:t>
            </a:r>
            <a:endParaRPr lang="en-CA" sz="2200" dirty="0">
              <a:solidFill>
                <a:srgbClr val="FFFF00"/>
              </a:solidFill>
            </a:endParaRPr>
          </a:p>
        </p:txBody>
      </p:sp>
      <p:sp>
        <p:nvSpPr>
          <p:cNvPr id="7" name="Rectangle 1">
            <a:extLst>
              <a:ext uri="{FF2B5EF4-FFF2-40B4-BE49-F238E27FC236}">
                <a16:creationId xmlns:a16="http://schemas.microsoft.com/office/drawing/2014/main" id="{DC8115AF-F133-8BA3-B128-3931382AF5AF}"/>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1DD9204E-429C-BA93-8F9D-3F61999510EC}"/>
              </a:ext>
            </a:extLst>
          </p:cNvPr>
          <p:cNvSpPr txBox="1"/>
          <p:nvPr/>
        </p:nvSpPr>
        <p:spPr>
          <a:xfrm>
            <a:off x="0" y="1612599"/>
            <a:ext cx="12192000" cy="42002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We need to import the </a:t>
            </a:r>
            <a:r>
              <a:rPr lang="en-US" dirty="0" err="1">
                <a:effectLst>
                  <a:outerShdw blurRad="38100" dist="38100" dir="2700000" algn="tl">
                    <a:srgbClr val="000000">
                      <a:alpha val="43137"/>
                    </a:srgbClr>
                  </a:outerShdw>
                </a:effectLst>
                <a:latin typeface="Bookman Old Style" panose="02050604050505020204" pitchFamily="18" charset="0"/>
              </a:rPr>
              <a:t>TouchableOpacity</a:t>
            </a:r>
            <a:r>
              <a:rPr lang="en-US" dirty="0">
                <a:effectLst>
                  <a:outerShdw blurRad="38100" dist="38100" dir="2700000" algn="tl">
                    <a:srgbClr val="000000">
                      <a:alpha val="43137"/>
                    </a:srgbClr>
                  </a:outerShdw>
                </a:effectLst>
                <a:latin typeface="Bookman Old Style" panose="02050604050505020204" pitchFamily="18" charset="0"/>
              </a:rPr>
              <a:t> library from the react-native package</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4" name="Picture 3">
            <a:extLst>
              <a:ext uri="{FF2B5EF4-FFF2-40B4-BE49-F238E27FC236}">
                <a16:creationId xmlns:a16="http://schemas.microsoft.com/office/drawing/2014/main" id="{B1EA342B-52A0-0176-36FA-D000928C5AE1}"/>
              </a:ext>
            </a:extLst>
          </p:cNvPr>
          <p:cNvPicPr>
            <a:picLocks noChangeAspect="1"/>
          </p:cNvPicPr>
          <p:nvPr/>
        </p:nvPicPr>
        <p:blipFill>
          <a:blip r:embed="rId4"/>
          <a:stretch>
            <a:fillRect/>
          </a:stretch>
        </p:blipFill>
        <p:spPr>
          <a:xfrm>
            <a:off x="341241" y="2257169"/>
            <a:ext cx="10657136" cy="2175387"/>
          </a:xfrm>
          <a:prstGeom prst="rect">
            <a:avLst/>
          </a:prstGeom>
        </p:spPr>
      </p:pic>
    </p:spTree>
    <p:extLst>
      <p:ext uri="{BB962C8B-B14F-4D97-AF65-F5344CB8AC3E}">
        <p14:creationId xmlns:p14="http://schemas.microsoft.com/office/powerpoint/2010/main" val="3498039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5C59E-B4D9-58EA-26C4-ECDC0CAB04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78400A-CDFD-048E-606D-837A7721DC63}"/>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D4B4C02D-2460-49DC-96CC-8E344954E670}"/>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15B4045D-FD97-A526-B967-D285558B5907}"/>
              </a:ext>
            </a:extLst>
          </p:cNvPr>
          <p:cNvSpPr/>
          <p:nvPr/>
        </p:nvSpPr>
        <p:spPr>
          <a:xfrm>
            <a:off x="0" y="1196322"/>
            <a:ext cx="8577072"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Implement  the Callback Function</a:t>
            </a:r>
            <a:endParaRPr lang="en-CA" sz="2200" dirty="0">
              <a:solidFill>
                <a:srgbClr val="FFFF00"/>
              </a:solidFill>
            </a:endParaRPr>
          </a:p>
        </p:txBody>
      </p:sp>
      <p:sp>
        <p:nvSpPr>
          <p:cNvPr id="7" name="Rectangle 1">
            <a:extLst>
              <a:ext uri="{FF2B5EF4-FFF2-40B4-BE49-F238E27FC236}">
                <a16:creationId xmlns:a16="http://schemas.microsoft.com/office/drawing/2014/main" id="{CE0C848E-C987-01A8-59F3-1B7212A253C0}"/>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2CF5AFE1-3F69-BB6A-BEFF-D9FFCF42D18A}"/>
              </a:ext>
            </a:extLst>
          </p:cNvPr>
          <p:cNvSpPr txBox="1"/>
          <p:nvPr/>
        </p:nvSpPr>
        <p:spPr>
          <a:xfrm>
            <a:off x="0" y="1612599"/>
            <a:ext cx="12192000" cy="46157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Implement the ‘</a:t>
            </a:r>
            <a:r>
              <a:rPr lang="en-US" b="1" dirty="0" err="1">
                <a:effectLst>
                  <a:outerShdw blurRad="38100" dist="38100" dir="2700000" algn="tl">
                    <a:srgbClr val="000000">
                      <a:alpha val="43137"/>
                    </a:srgbClr>
                  </a:outerShdw>
                </a:effectLst>
                <a:latin typeface="Bookman Old Style" panose="02050604050505020204" pitchFamily="18" charset="0"/>
              </a:rPr>
              <a:t>showProfile</a:t>
            </a:r>
            <a:r>
              <a:rPr lang="en-US" dirty="0">
                <a:effectLst>
                  <a:outerShdw blurRad="38100" dist="38100" dir="2700000" algn="tl">
                    <a:srgbClr val="000000">
                      <a:alpha val="43137"/>
                    </a:srgbClr>
                  </a:outerShdw>
                </a:effectLst>
                <a:latin typeface="Bookman Old Style" panose="02050604050505020204" pitchFamily="18" charset="0"/>
              </a:rPr>
              <a:t>’ function:</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React Native, </a:t>
            </a:r>
            <a:r>
              <a:rPr lang="en-US" b="1" dirty="0">
                <a:effectLst>
                  <a:outerShdw blurRad="38100" dist="38100" dir="2700000" algn="tl">
                    <a:srgbClr val="000000">
                      <a:alpha val="43137"/>
                    </a:srgbClr>
                  </a:outerShdw>
                </a:effectLst>
                <a:latin typeface="Bookman Old Style" panose="02050604050505020204" pitchFamily="18" charset="0"/>
              </a:rPr>
              <a:t>Alert</a:t>
            </a:r>
            <a:r>
              <a:rPr lang="en-US" dirty="0">
                <a:effectLst>
                  <a:outerShdw blurRad="38100" dist="38100" dir="2700000" algn="tl">
                    <a:srgbClr val="000000">
                      <a:alpha val="43137"/>
                    </a:srgbClr>
                  </a:outerShdw>
                </a:effectLst>
                <a:latin typeface="Bookman Old Style" panose="02050604050505020204" pitchFamily="18" charset="0"/>
              </a:rPr>
              <a:t> is a </a:t>
            </a:r>
            <a:r>
              <a:rPr lang="en-US" b="1" dirty="0">
                <a:effectLst>
                  <a:outerShdw blurRad="38100" dist="38100" dir="2700000" algn="tl">
                    <a:srgbClr val="000000">
                      <a:alpha val="43137"/>
                    </a:srgbClr>
                  </a:outerShdw>
                </a:effectLst>
                <a:latin typeface="Bookman Old Style" panose="02050604050505020204" pitchFamily="18" charset="0"/>
              </a:rPr>
              <a:t>built-in module used to show native alert dialogs to the user</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You also need </a:t>
            </a:r>
            <a:r>
              <a:rPr lang="en-US" b="1" dirty="0">
                <a:effectLst>
                  <a:outerShdw blurRad="38100" dist="38100" dir="2700000" algn="tl">
                    <a:srgbClr val="000000">
                      <a:alpha val="43137"/>
                    </a:srgbClr>
                  </a:outerShdw>
                </a:effectLst>
                <a:latin typeface="Bookman Old Style" panose="02050604050505020204" pitchFamily="18" charset="0"/>
              </a:rPr>
              <a:t>to import the ‘Alert’ library </a:t>
            </a:r>
            <a:r>
              <a:rPr lang="en-US" dirty="0">
                <a:effectLst>
                  <a:outerShdw blurRad="38100" dist="38100" dir="2700000" algn="tl">
                    <a:srgbClr val="000000">
                      <a:alpha val="43137"/>
                    </a:srgbClr>
                  </a:outerShdw>
                </a:effectLst>
                <a:latin typeface="Bookman Old Style" panose="02050604050505020204" pitchFamily="18" charset="0"/>
              </a:rPr>
              <a:t>from react-native package</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11" name="Picture 10">
            <a:extLst>
              <a:ext uri="{FF2B5EF4-FFF2-40B4-BE49-F238E27FC236}">
                <a16:creationId xmlns:a16="http://schemas.microsoft.com/office/drawing/2014/main" id="{4238385D-1B6B-5F23-52ED-AB8AD7A2E591}"/>
              </a:ext>
            </a:extLst>
          </p:cNvPr>
          <p:cNvPicPr>
            <a:picLocks noChangeAspect="1"/>
          </p:cNvPicPr>
          <p:nvPr/>
        </p:nvPicPr>
        <p:blipFill>
          <a:blip r:embed="rId4"/>
          <a:stretch>
            <a:fillRect/>
          </a:stretch>
        </p:blipFill>
        <p:spPr>
          <a:xfrm>
            <a:off x="341241" y="2169714"/>
            <a:ext cx="9506847" cy="2529017"/>
          </a:xfrm>
          <a:prstGeom prst="rect">
            <a:avLst/>
          </a:prstGeom>
        </p:spPr>
      </p:pic>
    </p:spTree>
    <p:extLst>
      <p:ext uri="{BB962C8B-B14F-4D97-AF65-F5344CB8AC3E}">
        <p14:creationId xmlns:p14="http://schemas.microsoft.com/office/powerpoint/2010/main" val="2693950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777A5-BCEE-FBAD-88BB-68530142B66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5BEE3EF-4C5D-C56C-4F16-77D4AA581669}"/>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8C257F42-A5EB-F210-265D-235BAD494161}"/>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E188CE05-C999-4C15-9431-8E17FA1BCAE2}"/>
              </a:ext>
            </a:extLst>
          </p:cNvPr>
          <p:cNvSpPr/>
          <p:nvPr/>
        </p:nvSpPr>
        <p:spPr>
          <a:xfrm>
            <a:off x="0" y="1196322"/>
            <a:ext cx="703173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a:t>
            </a:r>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TouchableOpacity</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Implemented on User Name </a:t>
            </a:r>
            <a:endParaRPr lang="en-CA" sz="2200" dirty="0">
              <a:solidFill>
                <a:srgbClr val="FFFF00"/>
              </a:solidFill>
            </a:endParaRPr>
          </a:p>
        </p:txBody>
      </p:sp>
      <p:sp>
        <p:nvSpPr>
          <p:cNvPr id="7" name="Rectangle 1">
            <a:extLst>
              <a:ext uri="{FF2B5EF4-FFF2-40B4-BE49-F238E27FC236}">
                <a16:creationId xmlns:a16="http://schemas.microsoft.com/office/drawing/2014/main" id="{31368AB3-53B9-D46F-0C1A-2E3E10A64FAD}"/>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pic>
        <p:nvPicPr>
          <p:cNvPr id="9" name="Picture 8">
            <a:extLst>
              <a:ext uri="{FF2B5EF4-FFF2-40B4-BE49-F238E27FC236}">
                <a16:creationId xmlns:a16="http://schemas.microsoft.com/office/drawing/2014/main" id="{78F9AAF1-7A23-6744-EEFB-5AFB5E85A249}"/>
              </a:ext>
            </a:extLst>
          </p:cNvPr>
          <p:cNvPicPr>
            <a:picLocks noChangeAspect="1"/>
          </p:cNvPicPr>
          <p:nvPr/>
        </p:nvPicPr>
        <p:blipFill>
          <a:blip r:embed="rId4"/>
          <a:stretch>
            <a:fillRect/>
          </a:stretch>
        </p:blipFill>
        <p:spPr>
          <a:xfrm>
            <a:off x="2258568" y="1647343"/>
            <a:ext cx="2359152" cy="5117778"/>
          </a:xfrm>
          <a:prstGeom prst="rect">
            <a:avLst/>
          </a:prstGeom>
        </p:spPr>
      </p:pic>
      <p:sp>
        <p:nvSpPr>
          <p:cNvPr id="10" name="TextBox 9">
            <a:extLst>
              <a:ext uri="{FF2B5EF4-FFF2-40B4-BE49-F238E27FC236}">
                <a16:creationId xmlns:a16="http://schemas.microsoft.com/office/drawing/2014/main" id="{FC8EA10B-20AD-FA7B-281E-5C8A51642D9E}"/>
              </a:ext>
            </a:extLst>
          </p:cNvPr>
          <p:cNvSpPr txBox="1"/>
          <p:nvPr/>
        </p:nvSpPr>
        <p:spPr>
          <a:xfrm>
            <a:off x="5219700" y="4206232"/>
            <a:ext cx="2354582" cy="369332"/>
          </a:xfrm>
          <a:prstGeom prst="rect">
            <a:avLst/>
          </a:prstGeom>
          <a:noFill/>
        </p:spPr>
        <p:txBody>
          <a:bodyPr wrap="square" rtlCol="0">
            <a:spAutoFit/>
          </a:bodyPr>
          <a:lstStyle/>
          <a:p>
            <a:r>
              <a:rPr lang="en-CA" dirty="0">
                <a:effectLst>
                  <a:outerShdw blurRad="38100" dist="38100" dir="2700000" algn="tl">
                    <a:srgbClr val="000000">
                      <a:alpha val="43137"/>
                    </a:srgbClr>
                  </a:outerShdw>
                </a:effectLst>
                <a:latin typeface="Bookman Old Style" panose="02050604050505020204" pitchFamily="18" charset="0"/>
              </a:rPr>
              <a:t>Tap the user name</a:t>
            </a:r>
          </a:p>
        </p:txBody>
      </p:sp>
      <p:cxnSp>
        <p:nvCxnSpPr>
          <p:cNvPr id="17" name="Straight Arrow Connector 16">
            <a:extLst>
              <a:ext uri="{FF2B5EF4-FFF2-40B4-BE49-F238E27FC236}">
                <a16:creationId xmlns:a16="http://schemas.microsoft.com/office/drawing/2014/main" id="{6A5EFDCD-678E-389A-8748-3E0833479CAF}"/>
              </a:ext>
            </a:extLst>
          </p:cNvPr>
          <p:cNvCxnSpPr>
            <a:stCxn id="10" idx="1"/>
          </p:cNvCxnSpPr>
          <p:nvPr/>
        </p:nvCxnSpPr>
        <p:spPr>
          <a:xfrm flipH="1">
            <a:off x="3825348" y="4390898"/>
            <a:ext cx="139435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9" name="Picture 18">
            <a:extLst>
              <a:ext uri="{FF2B5EF4-FFF2-40B4-BE49-F238E27FC236}">
                <a16:creationId xmlns:a16="http://schemas.microsoft.com/office/drawing/2014/main" id="{258AF42E-472A-359B-EA01-F37CF60FB191}"/>
              </a:ext>
            </a:extLst>
          </p:cNvPr>
          <p:cNvPicPr>
            <a:picLocks noChangeAspect="1"/>
          </p:cNvPicPr>
          <p:nvPr/>
        </p:nvPicPr>
        <p:blipFill>
          <a:blip r:embed="rId5"/>
          <a:stretch>
            <a:fillRect/>
          </a:stretch>
        </p:blipFill>
        <p:spPr>
          <a:xfrm>
            <a:off x="8751571" y="1859811"/>
            <a:ext cx="2359152" cy="4905310"/>
          </a:xfrm>
          <a:prstGeom prst="rect">
            <a:avLst/>
          </a:prstGeom>
        </p:spPr>
      </p:pic>
      <p:cxnSp>
        <p:nvCxnSpPr>
          <p:cNvPr id="21" name="Straight Arrow Connector 20">
            <a:extLst>
              <a:ext uri="{FF2B5EF4-FFF2-40B4-BE49-F238E27FC236}">
                <a16:creationId xmlns:a16="http://schemas.microsoft.com/office/drawing/2014/main" id="{D4C07D07-9650-4202-53CF-991C6DB99AC7}"/>
              </a:ext>
            </a:extLst>
          </p:cNvPr>
          <p:cNvCxnSpPr>
            <a:cxnSpLocks/>
            <a:stCxn id="10" idx="3"/>
          </p:cNvCxnSpPr>
          <p:nvPr/>
        </p:nvCxnSpPr>
        <p:spPr>
          <a:xfrm>
            <a:off x="7574282" y="4390898"/>
            <a:ext cx="145084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76572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DAA61-EA11-E29A-3E9B-D5BDA4C26F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9C2795-9B2E-84F8-6C22-8A0131296AF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195F0D4-73F0-DC71-4F33-46F8AAD62D4D}"/>
              </a:ext>
            </a:extLst>
          </p:cNvPr>
          <p:cNvSpPr txBox="1"/>
          <p:nvPr/>
        </p:nvSpPr>
        <p:spPr>
          <a:xfrm>
            <a:off x="162306" y="244655"/>
            <a:ext cx="7326085" cy="830997"/>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a:p>
            <a:pPr algn="ctr"/>
            <a:endParaRPr lang="en-CA" sz="2400" dirty="0">
              <a:solidFill>
                <a:schemeClr val="bg1"/>
              </a:solidFill>
              <a:effectLst>
                <a:outerShdw blurRad="38100" dist="38100" dir="2700000" algn="tl">
                  <a:srgbClr val="000000">
                    <a:alpha val="43137"/>
                  </a:srgbClr>
                </a:outerShdw>
              </a:effectLst>
              <a:latin typeface="Bookman Old Style" panose="02050604050505020204" pitchFamily="18" charset="0"/>
            </a:endParaRPr>
          </a:p>
        </p:txBody>
      </p:sp>
      <p:sp>
        <p:nvSpPr>
          <p:cNvPr id="3" name="Rectangle 2">
            <a:extLst>
              <a:ext uri="{FF2B5EF4-FFF2-40B4-BE49-F238E27FC236}">
                <a16:creationId xmlns:a16="http://schemas.microsoft.com/office/drawing/2014/main" id="{640C1D6C-3AB1-D767-B8B6-383A0B804FDC}"/>
              </a:ext>
            </a:extLst>
          </p:cNvPr>
          <p:cNvSpPr/>
          <p:nvPr/>
        </p:nvSpPr>
        <p:spPr>
          <a:xfrm>
            <a:off x="0" y="1196322"/>
            <a:ext cx="243230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useEffect</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Hook</a:t>
            </a:r>
            <a:endParaRPr lang="en-CA" sz="2200" dirty="0">
              <a:solidFill>
                <a:srgbClr val="FFFF00"/>
              </a:solidFill>
            </a:endParaRPr>
          </a:p>
        </p:txBody>
      </p:sp>
      <p:sp>
        <p:nvSpPr>
          <p:cNvPr id="7" name="Rectangle 1">
            <a:extLst>
              <a:ext uri="{FF2B5EF4-FFF2-40B4-BE49-F238E27FC236}">
                <a16:creationId xmlns:a16="http://schemas.microsoft.com/office/drawing/2014/main" id="{47CE39CE-2489-9FD3-9BDD-E5E7DBA020E8}"/>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EBD4BD79-33D7-4AAA-BBF7-7DA67313E488}"/>
              </a:ext>
            </a:extLst>
          </p:cNvPr>
          <p:cNvSpPr txBox="1"/>
          <p:nvPr/>
        </p:nvSpPr>
        <p:spPr>
          <a:xfrm>
            <a:off x="0" y="1612599"/>
            <a:ext cx="12192000" cy="46157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err="1">
                <a:effectLst>
                  <a:outerShdw blurRad="38100" dist="38100" dir="2700000" algn="tl">
                    <a:srgbClr val="000000">
                      <a:alpha val="43137"/>
                    </a:srgbClr>
                  </a:outerShdw>
                </a:effectLst>
                <a:latin typeface="Bookman Old Style" panose="02050604050505020204" pitchFamily="18" charset="0"/>
              </a:rPr>
              <a:t>useEffect</a:t>
            </a:r>
            <a:r>
              <a:rPr lang="en-US" b="1" dirty="0">
                <a:effectLst>
                  <a:outerShdw blurRad="38100" dist="38100" dir="2700000" algn="tl">
                    <a:srgbClr val="000000">
                      <a:alpha val="43137"/>
                    </a:srgbClr>
                  </a:outerShdw>
                </a:effectLst>
                <a:latin typeface="Bookman Old Style" panose="02050604050505020204" pitchFamily="18" charset="0"/>
              </a:rPr>
              <a:t> </a:t>
            </a:r>
            <a:r>
              <a:rPr lang="en-US" dirty="0">
                <a:effectLst>
                  <a:outerShdw blurRad="38100" dist="38100" dir="2700000" algn="tl">
                    <a:srgbClr val="000000">
                      <a:alpha val="43137"/>
                    </a:srgbClr>
                  </a:outerShdw>
                </a:effectLst>
                <a:latin typeface="Bookman Old Style" panose="02050604050505020204" pitchFamily="18" charset="0"/>
              </a:rPr>
              <a:t>is a React Hook </a:t>
            </a:r>
            <a:r>
              <a:rPr lang="en-US" b="1" dirty="0">
                <a:effectLst>
                  <a:outerShdw blurRad="38100" dist="38100" dir="2700000" algn="tl">
                    <a:srgbClr val="000000">
                      <a:alpha val="43137"/>
                    </a:srgbClr>
                  </a:outerShdw>
                </a:effectLst>
                <a:latin typeface="Bookman Old Style" panose="02050604050505020204" pitchFamily="18" charset="0"/>
              </a:rPr>
              <a:t>that runs a function after the component renders</a:t>
            </a:r>
            <a:r>
              <a:rPr lang="en-US" dirty="0">
                <a:effectLst>
                  <a:outerShdw blurRad="38100" dist="38100" dir="2700000" algn="tl">
                    <a:srgbClr val="000000">
                      <a:alpha val="43137"/>
                    </a:srgbClr>
                  </a:outerShdw>
                </a:effectLst>
                <a:latin typeface="Bookman Old Style" panose="02050604050505020204" pitchFamily="18" charset="0"/>
              </a:rPr>
              <a:t>. </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You can use it for:</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Fetching data</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Setting up subscriptions</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Updating the UI based on certain changes</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Cleanup tasks (e.g., removing timers, listeners)</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Syntax:</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	</a:t>
            </a:r>
            <a:r>
              <a:rPr lang="en-US" dirty="0">
                <a:solidFill>
                  <a:srgbClr val="0070C0"/>
                </a:solidFill>
                <a:effectLst>
                  <a:outerShdw blurRad="38100" dist="38100" dir="2700000" algn="tl">
                    <a:srgbClr val="000000">
                      <a:alpha val="43137"/>
                    </a:srgbClr>
                  </a:outerShdw>
                </a:effectLst>
                <a:latin typeface="Bookman Old Style" panose="02050604050505020204" pitchFamily="18" charset="0"/>
              </a:rPr>
              <a:t>import</a:t>
            </a:r>
            <a:r>
              <a:rPr lang="en-US" dirty="0">
                <a:effectLst>
                  <a:outerShdw blurRad="38100" dist="38100" dir="2700000" algn="tl">
                    <a:srgbClr val="000000">
                      <a:alpha val="43137"/>
                    </a:srgbClr>
                  </a:outerShdw>
                </a:effectLst>
                <a:latin typeface="Bookman Old Style" panose="02050604050505020204" pitchFamily="18" charset="0"/>
              </a:rPr>
              <a:t> { </a:t>
            </a:r>
            <a:r>
              <a:rPr lang="en-US" dirty="0" err="1">
                <a:effectLst>
                  <a:outerShdw blurRad="38100" dist="38100" dir="2700000" algn="tl">
                    <a:srgbClr val="000000">
                      <a:alpha val="43137"/>
                    </a:srgbClr>
                  </a:outerShdw>
                </a:effectLst>
                <a:latin typeface="Bookman Old Style" panose="02050604050505020204" pitchFamily="18" charset="0"/>
              </a:rPr>
              <a:t>useEffect</a:t>
            </a:r>
            <a:r>
              <a:rPr lang="en-US" dirty="0">
                <a:effectLst>
                  <a:outerShdw blurRad="38100" dist="38100" dir="2700000" algn="tl">
                    <a:srgbClr val="000000">
                      <a:alpha val="43137"/>
                    </a:srgbClr>
                  </a:outerShdw>
                </a:effectLst>
                <a:latin typeface="Bookman Old Style" panose="02050604050505020204" pitchFamily="18" charset="0"/>
              </a:rPr>
              <a:t> } from 'react’;</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	</a:t>
            </a:r>
            <a:r>
              <a:rPr lang="en-US" dirty="0" err="1">
                <a:solidFill>
                  <a:srgbClr val="0070C0"/>
                </a:solidFill>
                <a:effectLst>
                  <a:outerShdw blurRad="38100" dist="38100" dir="2700000" algn="tl">
                    <a:srgbClr val="000000">
                      <a:alpha val="43137"/>
                    </a:srgbClr>
                  </a:outerShdw>
                </a:effectLst>
                <a:latin typeface="Bookman Old Style" panose="02050604050505020204" pitchFamily="18" charset="0"/>
              </a:rPr>
              <a:t>useEffect</a:t>
            </a:r>
            <a:r>
              <a:rPr lang="en-US" dirty="0">
                <a:solidFill>
                  <a:srgbClr val="0070C0"/>
                </a:solidFill>
                <a:effectLst>
                  <a:outerShdw blurRad="38100" dist="38100" dir="2700000" algn="tl">
                    <a:srgbClr val="000000">
                      <a:alpha val="43137"/>
                    </a:srgbClr>
                  </a:outerShdw>
                </a:effectLst>
                <a:latin typeface="Bookman Old Style" panose="02050604050505020204" pitchFamily="18" charset="0"/>
              </a:rPr>
              <a:t>(() </a:t>
            </a:r>
            <a:r>
              <a:rPr lang="en-US" dirty="0">
                <a:effectLst>
                  <a:outerShdw blurRad="38100" dist="38100" dir="2700000" algn="tl">
                    <a:srgbClr val="000000">
                      <a:alpha val="43137"/>
                    </a:srgbClr>
                  </a:outerShdw>
                </a:effectLst>
                <a:latin typeface="Bookman Old Style" panose="02050604050505020204" pitchFamily="18" charset="0"/>
              </a:rPr>
              <a:t>=&gt; {</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  	 // Code to run after the component mounts or updates</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	}, [dependencies]);</a:t>
            </a:r>
          </a:p>
        </p:txBody>
      </p:sp>
    </p:spTree>
    <p:extLst>
      <p:ext uri="{BB962C8B-B14F-4D97-AF65-F5344CB8AC3E}">
        <p14:creationId xmlns:p14="http://schemas.microsoft.com/office/powerpoint/2010/main" val="3523416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7159-F480-53F4-E19B-6035DFCAE1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7004E3-C83C-80A3-FED7-85A5B373B995}"/>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0E313D6D-D2DB-9BEE-3D43-C46BF2F2119A}"/>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58706C3F-FEFB-DE95-13E9-E82114A97526}"/>
              </a:ext>
            </a:extLst>
          </p:cNvPr>
          <p:cNvSpPr/>
          <p:nvPr/>
        </p:nvSpPr>
        <p:spPr>
          <a:xfrm>
            <a:off x="0" y="1196322"/>
            <a:ext cx="243230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useEffect</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Hook</a:t>
            </a:r>
            <a:endParaRPr lang="en-CA" sz="2200" dirty="0">
              <a:solidFill>
                <a:srgbClr val="FFFF00"/>
              </a:solidFill>
            </a:endParaRPr>
          </a:p>
        </p:txBody>
      </p:sp>
      <p:sp>
        <p:nvSpPr>
          <p:cNvPr id="7" name="Rectangle 1">
            <a:extLst>
              <a:ext uri="{FF2B5EF4-FFF2-40B4-BE49-F238E27FC236}">
                <a16:creationId xmlns:a16="http://schemas.microsoft.com/office/drawing/2014/main" id="{C84A991E-20CD-C99F-759F-CDEA535F9EA8}"/>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40693654-98F8-6938-09DA-CBE016C40A21}"/>
              </a:ext>
            </a:extLst>
          </p:cNvPr>
          <p:cNvSpPr txBox="1"/>
          <p:nvPr/>
        </p:nvSpPr>
        <p:spPr>
          <a:xfrm>
            <a:off x="0" y="1612599"/>
            <a:ext cx="12192000" cy="29537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The first argument is a callback function (what you want to do)</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The second argument is a dependency array:</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Dependencies [ ]: Runs once when the component mounts (like </a:t>
            </a:r>
            <a:r>
              <a:rPr lang="en-US" b="1" dirty="0" err="1">
                <a:effectLst>
                  <a:outerShdw blurRad="38100" dist="38100" dir="2700000" algn="tl">
                    <a:srgbClr val="000000">
                      <a:alpha val="43137"/>
                    </a:srgbClr>
                  </a:outerShdw>
                </a:effectLst>
                <a:latin typeface="Bookman Old Style" panose="02050604050505020204" pitchFamily="18" charset="0"/>
              </a:rPr>
              <a:t>componentDidMount</a:t>
            </a:r>
            <a:r>
              <a:rPr lang="en-US" dirty="0">
                <a:effectLst>
                  <a:outerShdw blurRad="38100" dist="38100" dir="2700000" algn="tl">
                    <a:srgbClr val="000000">
                      <a:alpha val="43137"/>
                    </a:srgbClr>
                  </a:outerShdw>
                </a:effectLst>
                <a:latin typeface="Bookman Old Style" panose="02050604050505020204" pitchFamily="18" charset="0"/>
              </a:rPr>
              <a:t>)</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Array values - [value1, value2]: Runs whenever any of the listed values change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No array: Runs on every render of the component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Let’s say you want </a:t>
            </a:r>
            <a:r>
              <a:rPr lang="en-US" b="1" dirty="0">
                <a:effectLst>
                  <a:outerShdw blurRad="38100" dist="38100" dir="2700000" algn="tl">
                    <a:srgbClr val="000000">
                      <a:alpha val="43137"/>
                    </a:srgbClr>
                  </a:outerShdw>
                </a:effectLst>
                <a:latin typeface="Bookman Old Style" panose="02050604050505020204" pitchFamily="18" charset="0"/>
              </a:rPr>
              <a:t>to simulate fetching the user’s balance from a server when the screen loads</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439F28A7-B9C3-E117-17BF-B7C02EB3E6DD}"/>
              </a:ext>
            </a:extLst>
          </p:cNvPr>
          <p:cNvPicPr>
            <a:picLocks noChangeAspect="1"/>
          </p:cNvPicPr>
          <p:nvPr/>
        </p:nvPicPr>
        <p:blipFill>
          <a:blip r:embed="rId4"/>
          <a:stretch>
            <a:fillRect/>
          </a:stretch>
        </p:blipFill>
        <p:spPr>
          <a:xfrm>
            <a:off x="402336" y="4193261"/>
            <a:ext cx="7452360" cy="2602273"/>
          </a:xfrm>
          <a:prstGeom prst="rect">
            <a:avLst/>
          </a:prstGeom>
        </p:spPr>
      </p:pic>
    </p:spTree>
    <p:extLst>
      <p:ext uri="{BB962C8B-B14F-4D97-AF65-F5344CB8AC3E}">
        <p14:creationId xmlns:p14="http://schemas.microsoft.com/office/powerpoint/2010/main" val="684727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3952A-B0A8-7A9C-738E-A4A3F3510E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0D4A0D-233B-B745-D51F-A5CBAB0A2EF7}"/>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2A05E62-808F-7520-6397-47D143A216E2}"/>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CFBA7F94-6E8D-CF51-9F5A-19D1352EA6C3}"/>
              </a:ext>
            </a:extLst>
          </p:cNvPr>
          <p:cNvSpPr/>
          <p:nvPr/>
        </p:nvSpPr>
        <p:spPr>
          <a:xfrm>
            <a:off x="0" y="1196322"/>
            <a:ext cx="243230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useEffect</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Hook</a:t>
            </a:r>
            <a:endParaRPr lang="en-CA" sz="2200" dirty="0">
              <a:solidFill>
                <a:srgbClr val="FFFF00"/>
              </a:solidFill>
            </a:endParaRPr>
          </a:p>
        </p:txBody>
      </p:sp>
      <p:sp>
        <p:nvSpPr>
          <p:cNvPr id="7" name="Rectangle 1">
            <a:extLst>
              <a:ext uri="{FF2B5EF4-FFF2-40B4-BE49-F238E27FC236}">
                <a16:creationId xmlns:a16="http://schemas.microsoft.com/office/drawing/2014/main" id="{E55B406A-7C1F-CAA8-A709-F9500877081F}"/>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49523F57-CA11-CD63-DBE7-8333EB54B4CB}"/>
              </a:ext>
            </a:extLst>
          </p:cNvPr>
          <p:cNvSpPr txBox="1"/>
          <p:nvPr/>
        </p:nvSpPr>
        <p:spPr>
          <a:xfrm>
            <a:off x="67056" y="1637601"/>
            <a:ext cx="12192000" cy="37847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This means:</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“Every time balance changes, run this effect”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this case,  it creates an infinite loop of updates, because:</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Initial balance = 1250</a:t>
            </a:r>
          </a:p>
          <a:p>
            <a:pPr marL="742950" lvl="1" indent="-285750">
              <a:lnSpc>
                <a:spcPct val="150000"/>
              </a:lnSpc>
              <a:buFont typeface="Wingdings" panose="05000000000000000000" pitchFamily="2" charset="2"/>
              <a:buChar char="Ø"/>
            </a:pPr>
            <a:r>
              <a:rPr lang="en-US" dirty="0" err="1">
                <a:effectLst>
                  <a:outerShdw blurRad="38100" dist="38100" dir="2700000" algn="tl">
                    <a:srgbClr val="000000">
                      <a:alpha val="43137"/>
                    </a:srgbClr>
                  </a:outerShdw>
                </a:effectLst>
                <a:latin typeface="Bookman Old Style" panose="02050604050505020204" pitchFamily="18" charset="0"/>
              </a:rPr>
              <a:t>useEffect</a:t>
            </a:r>
            <a:r>
              <a:rPr lang="en-US" dirty="0">
                <a:effectLst>
                  <a:outerShdw blurRad="38100" dist="38100" dir="2700000" algn="tl">
                    <a:srgbClr val="000000">
                      <a:alpha val="43137"/>
                    </a:srgbClr>
                  </a:outerShdw>
                </a:effectLst>
                <a:latin typeface="Bookman Old Style" panose="02050604050505020204" pitchFamily="18" charset="0"/>
              </a:rPr>
              <a:t> runs, sets balance = 1350</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That change triggers </a:t>
            </a:r>
            <a:r>
              <a:rPr lang="en-US" dirty="0" err="1">
                <a:effectLst>
                  <a:outerShdw blurRad="38100" dist="38100" dir="2700000" algn="tl">
                    <a:srgbClr val="000000">
                      <a:alpha val="43137"/>
                    </a:srgbClr>
                  </a:outerShdw>
                </a:effectLst>
                <a:latin typeface="Bookman Old Style" panose="02050604050505020204" pitchFamily="18" charset="0"/>
              </a:rPr>
              <a:t>useEffect</a:t>
            </a:r>
            <a:r>
              <a:rPr lang="en-US" dirty="0">
                <a:effectLst>
                  <a:outerShdw blurRad="38100" dist="38100" dir="2700000" algn="tl">
                    <a:srgbClr val="000000">
                      <a:alpha val="43137"/>
                    </a:srgbClr>
                  </a:outerShdw>
                </a:effectLst>
                <a:latin typeface="Bookman Old Style" panose="02050604050505020204" pitchFamily="18" charset="0"/>
              </a:rPr>
              <a:t> again (because balance changed)</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balance becomes 1450</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Loop continues indefinitely </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4" name="Picture 3">
            <a:extLst>
              <a:ext uri="{FF2B5EF4-FFF2-40B4-BE49-F238E27FC236}">
                <a16:creationId xmlns:a16="http://schemas.microsoft.com/office/drawing/2014/main" id="{326DD2F1-1E8A-AA47-487B-3E41F9D38DD9}"/>
              </a:ext>
            </a:extLst>
          </p:cNvPr>
          <p:cNvPicPr>
            <a:picLocks noChangeAspect="1"/>
          </p:cNvPicPr>
          <p:nvPr/>
        </p:nvPicPr>
        <p:blipFill>
          <a:blip r:embed="rId4"/>
          <a:stretch>
            <a:fillRect/>
          </a:stretch>
        </p:blipFill>
        <p:spPr>
          <a:xfrm>
            <a:off x="8709660" y="1761634"/>
            <a:ext cx="2432304" cy="4869210"/>
          </a:xfrm>
          <a:prstGeom prst="rect">
            <a:avLst/>
          </a:prstGeom>
        </p:spPr>
      </p:pic>
    </p:spTree>
    <p:extLst>
      <p:ext uri="{BB962C8B-B14F-4D97-AF65-F5344CB8AC3E}">
        <p14:creationId xmlns:p14="http://schemas.microsoft.com/office/powerpoint/2010/main" val="1477376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43EC-198C-650E-D29C-C4B2CCDD42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72D5CE-A9E3-B018-ED67-A26B4A64F5E5}"/>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895226E-B605-2BB2-4028-2EEC6FF68B8B}"/>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F2A18264-32D7-3CCF-5F75-A86A41D32E9C}"/>
              </a:ext>
            </a:extLst>
          </p:cNvPr>
          <p:cNvSpPr/>
          <p:nvPr/>
        </p:nvSpPr>
        <p:spPr>
          <a:xfrm>
            <a:off x="0" y="1196322"/>
            <a:ext cx="2432304"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err="1">
                <a:solidFill>
                  <a:srgbClr val="FFFF00"/>
                </a:solidFill>
                <a:effectLst>
                  <a:outerShdw blurRad="38100" dist="38100" dir="2700000" algn="tl">
                    <a:srgbClr val="000000">
                      <a:alpha val="43137"/>
                    </a:srgbClr>
                  </a:outerShdw>
                </a:effectLst>
                <a:latin typeface="Bookman Old Style" panose="02050604050505020204" pitchFamily="18" charset="0"/>
              </a:rPr>
              <a:t>useEffect</a:t>
            </a:r>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 Hook</a:t>
            </a:r>
            <a:endParaRPr lang="en-CA" sz="2200" dirty="0">
              <a:solidFill>
                <a:srgbClr val="FFFF00"/>
              </a:solidFill>
            </a:endParaRPr>
          </a:p>
        </p:txBody>
      </p:sp>
      <p:sp>
        <p:nvSpPr>
          <p:cNvPr id="7" name="Rectangle 1">
            <a:extLst>
              <a:ext uri="{FF2B5EF4-FFF2-40B4-BE49-F238E27FC236}">
                <a16:creationId xmlns:a16="http://schemas.microsoft.com/office/drawing/2014/main" id="{60CEA3D4-867A-B2EB-0555-BA7F793E9FA5}"/>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10672F67-4901-6CD3-869B-850ED9370034}"/>
              </a:ext>
            </a:extLst>
          </p:cNvPr>
          <p:cNvSpPr txBox="1"/>
          <p:nvPr/>
        </p:nvSpPr>
        <p:spPr>
          <a:xfrm>
            <a:off x="67056" y="1637601"/>
            <a:ext cx="12192000" cy="12917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If you want to increase the balance only once (like simulating an API call on load), use an empty dependency array:</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9" name="Picture 8">
            <a:extLst>
              <a:ext uri="{FF2B5EF4-FFF2-40B4-BE49-F238E27FC236}">
                <a16:creationId xmlns:a16="http://schemas.microsoft.com/office/drawing/2014/main" id="{36ECAFF0-3116-E019-2026-791698F27B83}"/>
              </a:ext>
            </a:extLst>
          </p:cNvPr>
          <p:cNvPicPr>
            <a:picLocks noChangeAspect="1"/>
          </p:cNvPicPr>
          <p:nvPr/>
        </p:nvPicPr>
        <p:blipFill>
          <a:blip r:embed="rId4"/>
          <a:stretch>
            <a:fillRect/>
          </a:stretch>
        </p:blipFill>
        <p:spPr>
          <a:xfrm>
            <a:off x="553668" y="2552082"/>
            <a:ext cx="7465620" cy="3016614"/>
          </a:xfrm>
          <a:prstGeom prst="rect">
            <a:avLst/>
          </a:prstGeom>
        </p:spPr>
      </p:pic>
      <p:pic>
        <p:nvPicPr>
          <p:cNvPr id="11" name="Picture 10">
            <a:extLst>
              <a:ext uri="{FF2B5EF4-FFF2-40B4-BE49-F238E27FC236}">
                <a16:creationId xmlns:a16="http://schemas.microsoft.com/office/drawing/2014/main" id="{85D406C2-EA7F-754C-458C-75AEA806D781}"/>
              </a:ext>
            </a:extLst>
          </p:cNvPr>
          <p:cNvPicPr>
            <a:picLocks noChangeAspect="1"/>
          </p:cNvPicPr>
          <p:nvPr/>
        </p:nvPicPr>
        <p:blipFill>
          <a:blip r:embed="rId5"/>
          <a:stretch>
            <a:fillRect/>
          </a:stretch>
        </p:blipFill>
        <p:spPr>
          <a:xfrm>
            <a:off x="8811598" y="2395727"/>
            <a:ext cx="2133770" cy="4171127"/>
          </a:xfrm>
          <a:prstGeom prst="rect">
            <a:avLst/>
          </a:prstGeom>
        </p:spPr>
      </p:pic>
    </p:spTree>
    <p:extLst>
      <p:ext uri="{BB962C8B-B14F-4D97-AF65-F5344CB8AC3E}">
        <p14:creationId xmlns:p14="http://schemas.microsoft.com/office/powerpoint/2010/main" val="1189815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8EA5-2E1D-923C-7FDF-5FB42B128B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A34FA8-2754-BF63-FB74-769C991E2E8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07CA51CC-AA08-729F-81C2-4E7B685A6E74}"/>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1B4F1134-FEC6-BE90-FEA0-108FC8EF078A}"/>
              </a:ext>
            </a:extLst>
          </p:cNvPr>
          <p:cNvSpPr/>
          <p:nvPr/>
        </p:nvSpPr>
        <p:spPr>
          <a:xfrm>
            <a:off x="0" y="1196322"/>
            <a:ext cx="3273552"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Working with Images</a:t>
            </a:r>
            <a:endParaRPr lang="en-CA" sz="2200" dirty="0">
              <a:solidFill>
                <a:srgbClr val="FFFF00"/>
              </a:solidFill>
            </a:endParaRPr>
          </a:p>
        </p:txBody>
      </p:sp>
      <p:sp>
        <p:nvSpPr>
          <p:cNvPr id="7" name="Rectangle 1">
            <a:extLst>
              <a:ext uri="{FF2B5EF4-FFF2-40B4-BE49-F238E27FC236}">
                <a16:creationId xmlns:a16="http://schemas.microsoft.com/office/drawing/2014/main" id="{C9A5D1D1-15DA-220F-84F5-398D207513B2}"/>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C53FFE83-B899-DF54-216A-E2DCAF0EA8BF}"/>
              </a:ext>
            </a:extLst>
          </p:cNvPr>
          <p:cNvSpPr txBox="1"/>
          <p:nvPr/>
        </p:nvSpPr>
        <p:spPr>
          <a:xfrm>
            <a:off x="67056" y="1637601"/>
            <a:ext cx="12192000" cy="46157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React Native provides a unified way of managing images and other media assets in your Android and iOS apps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In React Native, the </a:t>
            </a:r>
            <a:r>
              <a:rPr lang="en-US" b="1" dirty="0">
                <a:effectLst>
                  <a:outerShdw blurRad="38100" dist="38100" dir="2700000" algn="tl">
                    <a:srgbClr val="000000">
                      <a:alpha val="43137"/>
                    </a:srgbClr>
                  </a:outerShdw>
                </a:effectLst>
                <a:latin typeface="Bookman Old Style" panose="02050604050505020204" pitchFamily="18" charset="0"/>
              </a:rPr>
              <a:t>Image component is used to display pictures from either local files or remote URLs</a:t>
            </a:r>
          </a:p>
          <a:p>
            <a:pPr>
              <a:lnSpc>
                <a:spcPct val="150000"/>
              </a:lnSpc>
            </a:pPr>
            <a:r>
              <a:rPr lang="en-US" dirty="0">
                <a:effectLst>
                  <a:outerShdw blurRad="38100" dist="38100" dir="2700000" algn="tl">
                    <a:srgbClr val="000000">
                      <a:alpha val="43137"/>
                    </a:srgbClr>
                  </a:outerShdw>
                </a:effectLst>
                <a:latin typeface="Bookman Old Style" panose="02050604050505020204" pitchFamily="18" charset="0"/>
              </a:rPr>
              <a:t>Syntax:</a:t>
            </a:r>
          </a:p>
          <a:p>
            <a:pPr>
              <a:lnSpc>
                <a:spcPct val="150000"/>
              </a:lnSpc>
            </a:pPr>
            <a:r>
              <a:rPr lang="en-US" dirty="0">
                <a:solidFill>
                  <a:srgbClr val="800000"/>
                </a:solidFill>
                <a:effectLst>
                  <a:outerShdw blurRad="38100" dist="38100" dir="2700000" algn="tl">
                    <a:srgbClr val="000000">
                      <a:alpha val="43137"/>
                    </a:srgbClr>
                  </a:outerShdw>
                </a:effectLst>
                <a:latin typeface="Bookman Old Style" panose="02050604050505020204" pitchFamily="18" charset="0"/>
              </a:rPr>
              <a:t>    </a:t>
            </a:r>
            <a:r>
              <a:rPr lang="en-CA" b="0" dirty="0">
                <a:solidFill>
                  <a:srgbClr val="800000"/>
                </a:solidFill>
                <a:effectLst/>
                <a:latin typeface="Consolas" panose="020B0609020204030204" pitchFamily="49" charset="0"/>
              </a:rPr>
              <a:t>&lt;Image</a:t>
            </a:r>
            <a:r>
              <a:rPr lang="en-CA" b="0" dirty="0">
                <a:solidFill>
                  <a:srgbClr val="000000"/>
                </a:solidFill>
                <a:effectLst/>
                <a:latin typeface="Consolas" panose="020B0609020204030204" pitchFamily="49" charset="0"/>
              </a:rPr>
              <a:t> </a:t>
            </a:r>
            <a:r>
              <a:rPr lang="en-CA" b="0" dirty="0">
                <a:solidFill>
                  <a:srgbClr val="E50000"/>
                </a:solidFill>
                <a:effectLst/>
                <a:latin typeface="Consolas" panose="020B0609020204030204" pitchFamily="49" charset="0"/>
              </a:rPr>
              <a:t>source</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a:solidFill>
                  <a:srgbClr val="E50000"/>
                </a:solidFill>
                <a:effectLst/>
                <a:latin typeface="Consolas" panose="020B0609020204030204" pitchFamily="49" charset="0"/>
              </a:rPr>
              <a:t>style</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a:solidFill>
                  <a:srgbClr val="800000"/>
                </a:solidFill>
                <a:effectLst/>
                <a:latin typeface="Consolas" panose="020B0609020204030204" pitchFamily="49" charset="0"/>
              </a:rPr>
              <a:t>/&gt;</a:t>
            </a:r>
            <a:endParaRPr lang="en-CA" b="0" dirty="0">
              <a:solidFill>
                <a:srgbClr val="000000"/>
              </a:solidFill>
              <a:effectLst/>
              <a:latin typeface="Consolas" panose="020B0609020204030204" pitchFamily="49" charset="0"/>
            </a:endParaRPr>
          </a:p>
          <a:p>
            <a:pPr marL="1200150" lvl="2"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source={...}: Specifies the image to display</a:t>
            </a:r>
          </a:p>
          <a:p>
            <a:pPr marL="1200150" lvl="2"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style={...}: Defines how the image should look — size, shape, alignment, </a:t>
            </a:r>
            <a:r>
              <a:rPr lang="en-US" dirty="0" err="1">
                <a:effectLst>
                  <a:outerShdw blurRad="38100" dist="38100" dir="2700000" algn="tl">
                    <a:srgbClr val="000000">
                      <a:alpha val="43137"/>
                    </a:srgbClr>
                  </a:outerShdw>
                </a:effectLst>
                <a:latin typeface="Bookman Old Style" panose="02050604050505020204" pitchFamily="18" charset="0"/>
              </a:rPr>
              <a:t>etc</a:t>
            </a:r>
            <a:endParaRPr lang="en-US" dirty="0">
              <a:effectLst>
                <a:outerShdw blurRad="38100" dist="38100" dir="2700000" algn="tl">
                  <a:srgbClr val="000000">
                    <a:alpha val="43137"/>
                  </a:srgbClr>
                </a:outerShdw>
              </a:effectLst>
              <a:latin typeface="Bookman Old Style" panose="02050604050505020204" pitchFamily="18" charset="0"/>
            </a:endParaRPr>
          </a:p>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1. Static Images (Local Images)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To add a static image to your app, place it somewhere in your source code tree and reference it in the Image element using the </a:t>
            </a:r>
            <a:r>
              <a:rPr lang="en-US" b="1" dirty="0">
                <a:effectLst>
                  <a:outerShdw blurRad="38100" dist="38100" dir="2700000" algn="tl">
                    <a:srgbClr val="000000">
                      <a:alpha val="43137"/>
                    </a:srgbClr>
                  </a:outerShdw>
                </a:effectLst>
                <a:latin typeface="Bookman Old Style" panose="02050604050505020204" pitchFamily="18" charset="0"/>
              </a:rPr>
              <a:t>require( ) inside the source property</a:t>
            </a:r>
          </a:p>
        </p:txBody>
      </p:sp>
      <p:sp>
        <p:nvSpPr>
          <p:cNvPr id="4" name="TextBox 3">
            <a:extLst>
              <a:ext uri="{FF2B5EF4-FFF2-40B4-BE49-F238E27FC236}">
                <a16:creationId xmlns:a16="http://schemas.microsoft.com/office/drawing/2014/main" id="{320E6B83-C542-7F11-5DB9-8FC12C8E1BD9}"/>
              </a:ext>
            </a:extLst>
          </p:cNvPr>
          <p:cNvSpPr txBox="1"/>
          <p:nvPr/>
        </p:nvSpPr>
        <p:spPr>
          <a:xfrm>
            <a:off x="746760" y="6369798"/>
            <a:ext cx="10280142" cy="324833"/>
          </a:xfrm>
          <a:prstGeom prst="rect">
            <a:avLst/>
          </a:prstGeom>
          <a:noFill/>
        </p:spPr>
        <p:txBody>
          <a:bodyPr wrap="square">
            <a:spAutoFit/>
          </a:bodyPr>
          <a:lstStyle/>
          <a:p>
            <a:pPr>
              <a:lnSpc>
                <a:spcPts val="1800"/>
              </a:lnSpc>
            </a:pPr>
            <a:r>
              <a:rPr lang="fr-FR" b="0" dirty="0">
                <a:solidFill>
                  <a:srgbClr val="800000"/>
                </a:solidFill>
                <a:effectLst/>
                <a:latin typeface="Consolas" panose="020B0609020204030204" pitchFamily="49" charset="0"/>
              </a:rPr>
              <a:t>&lt;Image</a:t>
            </a:r>
            <a:r>
              <a:rPr lang="fr-FR" b="0" dirty="0">
                <a:solidFill>
                  <a:srgbClr val="000000"/>
                </a:solidFill>
                <a:effectLst/>
                <a:latin typeface="Consolas" panose="020B0609020204030204" pitchFamily="49" charset="0"/>
              </a:rPr>
              <a:t> </a:t>
            </a:r>
            <a:r>
              <a:rPr lang="fr-FR" b="0" dirty="0">
                <a:solidFill>
                  <a:srgbClr val="E50000"/>
                </a:solidFill>
                <a:effectLst/>
                <a:latin typeface="Consolas" panose="020B0609020204030204" pitchFamily="49" charset="0"/>
              </a:rPr>
              <a:t>source</a:t>
            </a:r>
            <a:r>
              <a:rPr lang="fr-FR" b="0" dirty="0">
                <a:solidFill>
                  <a:srgbClr val="000000"/>
                </a:solidFill>
                <a:effectLst/>
                <a:latin typeface="Consolas" panose="020B0609020204030204" pitchFamily="49" charset="0"/>
              </a:rPr>
              <a:t>=</a:t>
            </a:r>
            <a:r>
              <a:rPr lang="fr-FR" b="0" dirty="0">
                <a:solidFill>
                  <a:srgbClr val="0000FF"/>
                </a:solidFill>
                <a:effectLst/>
                <a:latin typeface="Consolas" panose="020B0609020204030204" pitchFamily="49" charset="0"/>
              </a:rPr>
              <a:t>{</a:t>
            </a:r>
            <a:r>
              <a:rPr lang="fr-FR" b="0" dirty="0" err="1">
                <a:solidFill>
                  <a:srgbClr val="000000"/>
                </a:solidFill>
                <a:effectLst/>
                <a:highlight>
                  <a:srgbClr val="FFFF00"/>
                </a:highlight>
                <a:latin typeface="Consolas" panose="020B0609020204030204" pitchFamily="49" charset="0"/>
              </a:rPr>
              <a:t>require</a:t>
            </a:r>
            <a:r>
              <a:rPr lang="fr-FR" b="0" dirty="0">
                <a:solidFill>
                  <a:srgbClr val="000000"/>
                </a:solidFill>
                <a:effectLst/>
                <a:latin typeface="Consolas" panose="020B0609020204030204" pitchFamily="49" charset="0"/>
              </a:rPr>
              <a:t>(</a:t>
            </a:r>
            <a:r>
              <a:rPr lang="fr-FR" b="0" dirty="0">
                <a:solidFill>
                  <a:srgbClr val="A31515"/>
                </a:solidFill>
                <a:effectLst/>
                <a:latin typeface="Consolas" panose="020B0609020204030204" pitchFamily="49" charset="0"/>
              </a:rPr>
              <a:t>'./assets/profile.jpg'</a:t>
            </a:r>
            <a:r>
              <a:rPr lang="fr-FR" b="0" dirty="0">
                <a:solidFill>
                  <a:srgbClr val="000000"/>
                </a:solidFill>
                <a:effectLst/>
                <a:latin typeface="Consolas" panose="020B0609020204030204" pitchFamily="49" charset="0"/>
              </a:rPr>
              <a:t>)</a:t>
            </a:r>
            <a:r>
              <a:rPr lang="fr-FR" b="0" dirty="0">
                <a:solidFill>
                  <a:srgbClr val="0000FF"/>
                </a:solidFill>
                <a:effectLst/>
                <a:latin typeface="Consolas" panose="020B0609020204030204" pitchFamily="49" charset="0"/>
              </a:rPr>
              <a:t>}</a:t>
            </a:r>
            <a:r>
              <a:rPr lang="fr-FR" b="0" dirty="0">
                <a:solidFill>
                  <a:srgbClr val="000000"/>
                </a:solidFill>
                <a:effectLst/>
                <a:latin typeface="Consolas" panose="020B0609020204030204" pitchFamily="49" charset="0"/>
              </a:rPr>
              <a:t> </a:t>
            </a:r>
            <a:r>
              <a:rPr lang="fr-FR" b="0" dirty="0">
                <a:solidFill>
                  <a:srgbClr val="800000"/>
                </a:solidFill>
                <a:effectLst/>
                <a:latin typeface="Consolas" panose="020B0609020204030204" pitchFamily="49" charset="0"/>
              </a:rPr>
              <a:t>/&gt;</a:t>
            </a:r>
            <a:endParaRPr lang="fr-FR"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646237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E0526-CD64-289F-B367-782944A4E1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CF3CA7-FE0D-4F22-0DCE-9C3559B7BF9E}"/>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40271A2E-ADE2-5EEA-D7EC-2A21973495AB}"/>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661DB696-34D5-85CF-8199-5251225FA1AC}"/>
              </a:ext>
            </a:extLst>
          </p:cNvPr>
          <p:cNvSpPr/>
          <p:nvPr/>
        </p:nvSpPr>
        <p:spPr>
          <a:xfrm>
            <a:off x="0" y="1196322"/>
            <a:ext cx="3273552"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Working with Images</a:t>
            </a:r>
            <a:endParaRPr lang="en-CA" sz="2200" dirty="0">
              <a:solidFill>
                <a:srgbClr val="FFFF00"/>
              </a:solidFill>
            </a:endParaRPr>
          </a:p>
        </p:txBody>
      </p:sp>
      <p:sp>
        <p:nvSpPr>
          <p:cNvPr id="7" name="Rectangle 1">
            <a:extLst>
              <a:ext uri="{FF2B5EF4-FFF2-40B4-BE49-F238E27FC236}">
                <a16:creationId xmlns:a16="http://schemas.microsoft.com/office/drawing/2014/main" id="{36ADDB30-8D1B-2B4C-53AC-FBBC1457390A}"/>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43371A66-CB96-D7CB-611E-ADD0CD968343}"/>
              </a:ext>
            </a:extLst>
          </p:cNvPr>
          <p:cNvSpPr txBox="1"/>
          <p:nvPr/>
        </p:nvSpPr>
        <p:spPr>
          <a:xfrm>
            <a:off x="67056" y="1637601"/>
            <a:ext cx="12192000" cy="4613507"/>
          </a:xfrm>
          <a:prstGeom prst="rect">
            <a:avLst/>
          </a:prstGeom>
          <a:noFill/>
        </p:spPr>
        <p:txBody>
          <a:bodyPr wrap="square">
            <a:spAutoFit/>
          </a:bodyPr>
          <a:lstStyle/>
          <a:p>
            <a:pPr>
              <a:lnSpc>
                <a:spcPct val="150000"/>
              </a:lnSpc>
            </a:pPr>
            <a:r>
              <a:rPr lang="en-US" b="1" dirty="0">
                <a:effectLst>
                  <a:outerShdw blurRad="38100" dist="38100" dir="2700000" algn="tl">
                    <a:srgbClr val="000000">
                      <a:alpha val="43137"/>
                    </a:srgbClr>
                  </a:outerShdw>
                </a:effectLst>
                <a:latin typeface="Bookman Old Style" panose="02050604050505020204" pitchFamily="18" charset="0"/>
              </a:rPr>
              <a:t>2. Network Images</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Many of the images you will display in your app will not be available at compile time, or you will want to load some dynamically to keep the binary size down</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Unlike with static resources, you will need to manually specify the dimensions of your image</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It's highly recommended that you </a:t>
            </a:r>
            <a:r>
              <a:rPr lang="en-US" b="1" dirty="0">
                <a:effectLst>
                  <a:outerShdw blurRad="38100" dist="38100" dir="2700000" algn="tl">
                    <a:srgbClr val="000000">
                      <a:alpha val="43137"/>
                    </a:srgbClr>
                  </a:outerShdw>
                </a:effectLst>
                <a:latin typeface="Bookman Old Style" panose="02050604050505020204" pitchFamily="18" charset="0"/>
              </a:rPr>
              <a:t>use https </a:t>
            </a:r>
            <a:r>
              <a:rPr lang="en-US" dirty="0">
                <a:effectLst>
                  <a:outerShdw blurRad="38100" dist="38100" dir="2700000" algn="tl">
                    <a:srgbClr val="000000">
                      <a:alpha val="43137"/>
                    </a:srgbClr>
                  </a:outerShdw>
                </a:effectLst>
                <a:latin typeface="Bookman Old Style" panose="02050604050505020204" pitchFamily="18" charset="0"/>
              </a:rPr>
              <a:t>as well in order to satisfy App Transport Security requirements on iOS</a:t>
            </a:r>
          </a:p>
          <a:p>
            <a:pPr>
              <a:lnSpc>
                <a:spcPct val="150000"/>
              </a:lnSpc>
            </a:pPr>
            <a:r>
              <a:rPr lang="en-US" dirty="0" err="1">
                <a:effectLst>
                  <a:outerShdw blurRad="38100" dist="38100" dir="2700000" algn="tl">
                    <a:srgbClr val="000000">
                      <a:alpha val="43137"/>
                    </a:srgbClr>
                  </a:outerShdw>
                </a:effectLst>
                <a:latin typeface="Bookman Old Style" panose="02050604050505020204" pitchFamily="18" charset="0"/>
              </a:rPr>
              <a:t>Synatx</a:t>
            </a:r>
            <a:r>
              <a:rPr lang="en-US" dirty="0">
                <a:effectLst>
                  <a:outerShdw blurRad="38100" dist="38100" dir="2700000" algn="tl">
                    <a:srgbClr val="000000">
                      <a:alpha val="43137"/>
                    </a:srgbClr>
                  </a:outerShdw>
                </a:effectLst>
                <a:latin typeface="Bookman Old Style" panose="02050604050505020204" pitchFamily="18" charset="0"/>
              </a:rPr>
              <a:t>:</a:t>
            </a:r>
          </a:p>
          <a:p>
            <a:pPr>
              <a:lnSpc>
                <a:spcPct val="150000"/>
              </a:lnSpc>
            </a:pPr>
            <a:r>
              <a:rPr lang="en-US" b="0" dirty="0">
                <a:solidFill>
                  <a:srgbClr val="800000"/>
                </a:solidFill>
                <a:effectLst>
                  <a:outerShdw blurRad="38100" dist="38100" dir="2700000" algn="tl">
                    <a:srgbClr val="000000">
                      <a:alpha val="43137"/>
                    </a:srgbClr>
                  </a:outerShdw>
                </a:effectLst>
                <a:latin typeface="Bookman Old Style" panose="02050604050505020204" pitchFamily="18" charset="0"/>
              </a:rPr>
              <a:t>   </a:t>
            </a:r>
            <a:r>
              <a:rPr lang="en-CA" b="0" dirty="0">
                <a:solidFill>
                  <a:srgbClr val="800000"/>
                </a:solidFill>
                <a:effectLst/>
                <a:latin typeface="Consolas" panose="020B0609020204030204" pitchFamily="49" charset="0"/>
              </a:rPr>
              <a:t>&lt;Image</a:t>
            </a:r>
            <a:r>
              <a:rPr lang="en-CA" b="0" dirty="0">
                <a:solidFill>
                  <a:srgbClr val="000000"/>
                </a:solidFill>
                <a:effectLst/>
                <a:latin typeface="Consolas" panose="020B0609020204030204" pitchFamily="49" charset="0"/>
              </a:rPr>
              <a:t> </a:t>
            </a:r>
            <a:r>
              <a:rPr lang="en-CA" b="0" dirty="0">
                <a:solidFill>
                  <a:srgbClr val="E50000"/>
                </a:solidFill>
                <a:effectLst/>
                <a:latin typeface="Consolas" panose="020B0609020204030204" pitchFamily="49" charset="0"/>
              </a:rPr>
              <a:t>source</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err="1">
                <a:solidFill>
                  <a:srgbClr val="000000"/>
                </a:solidFill>
                <a:effectLst/>
                <a:latin typeface="Consolas" panose="020B0609020204030204" pitchFamily="49" charset="0"/>
              </a:rPr>
              <a:t>uri</a:t>
            </a:r>
            <a:r>
              <a:rPr lang="en-CA" b="0" dirty="0">
                <a:solidFill>
                  <a:srgbClr val="000000"/>
                </a:solidFill>
                <a:effectLst/>
                <a:latin typeface="Consolas" panose="020B0609020204030204" pitchFamily="49" charset="0"/>
              </a:rPr>
              <a:t>: </a:t>
            </a:r>
            <a:r>
              <a:rPr lang="en-CA" b="0" dirty="0">
                <a:solidFill>
                  <a:srgbClr val="A31515"/>
                </a:solidFill>
                <a:effectLst/>
                <a:latin typeface="Consolas" panose="020B0609020204030204" pitchFamily="49" charset="0"/>
              </a:rPr>
              <a:t>'https://your-image-</a:t>
            </a:r>
            <a:r>
              <a:rPr lang="en-CA" b="0" dirty="0" err="1">
                <a:solidFill>
                  <a:srgbClr val="A31515"/>
                </a:solidFill>
                <a:effectLst/>
                <a:latin typeface="Consolas" panose="020B0609020204030204" pitchFamily="49" charset="0"/>
              </a:rPr>
              <a:t>url</a:t>
            </a:r>
            <a:r>
              <a:rPr lang="en-CA" b="0" dirty="0">
                <a:solidFill>
                  <a:srgbClr val="A31515"/>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a:solidFill>
                  <a:srgbClr val="E50000"/>
                </a:solidFill>
                <a:effectLst/>
                <a:latin typeface="Consolas" panose="020B0609020204030204" pitchFamily="49" charset="0"/>
              </a:rPr>
              <a:t>style</a:t>
            </a:r>
            <a:r>
              <a:rPr lang="en-CA" b="0" dirty="0">
                <a:solidFill>
                  <a:srgbClr val="000000"/>
                </a:solidFill>
                <a:effectLst/>
                <a:latin typeface="Consolas" panose="020B0609020204030204" pitchFamily="49" charset="0"/>
              </a:rPr>
              <a:t>=</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 }</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 </a:t>
            </a:r>
            <a:r>
              <a:rPr lang="en-CA" b="0" dirty="0">
                <a:solidFill>
                  <a:srgbClr val="800000"/>
                </a:solidFill>
                <a:effectLst/>
                <a:latin typeface="Consolas" panose="020B0609020204030204" pitchFamily="49" charset="0"/>
              </a:rPr>
              <a:t>/&gt;</a:t>
            </a:r>
            <a:endParaRPr lang="en-CA" b="0" dirty="0">
              <a:solidFill>
                <a:srgbClr val="000000"/>
              </a:solidFill>
              <a:effectLst/>
              <a:latin typeface="Consolas" panose="020B0609020204030204" pitchFamily="49" charset="0"/>
            </a:endParaRPr>
          </a:p>
          <a:p>
            <a:pPr marL="742950" lvl="1" indent="-285750">
              <a:lnSpc>
                <a:spcPct val="150000"/>
              </a:lnSpc>
              <a:buFont typeface="Wingdings" panose="05000000000000000000" pitchFamily="2" charset="2"/>
              <a:buChar char="Ø"/>
            </a:pPr>
            <a:r>
              <a:rPr lang="en-US" dirty="0" err="1">
                <a:effectLst>
                  <a:outerShdw blurRad="38100" dist="38100" dir="2700000" algn="tl">
                    <a:srgbClr val="000000">
                      <a:alpha val="43137"/>
                    </a:srgbClr>
                  </a:outerShdw>
                </a:effectLst>
                <a:latin typeface="Bookman Old Style" panose="02050604050505020204" pitchFamily="18" charset="0"/>
              </a:rPr>
              <a:t>uri</a:t>
            </a:r>
            <a:r>
              <a:rPr lang="en-US" dirty="0">
                <a:effectLst>
                  <a:outerShdw blurRad="38100" dist="38100" dir="2700000" algn="tl">
                    <a:srgbClr val="000000">
                      <a:alpha val="43137"/>
                    </a:srgbClr>
                  </a:outerShdw>
                </a:effectLst>
                <a:latin typeface="Bookman Old Style" panose="02050604050505020204" pitchFamily="18" charset="0"/>
              </a:rPr>
              <a:t>: The URL of the image to be loaded from the web</a:t>
            </a:r>
          </a:p>
          <a:p>
            <a:pPr marL="742950" lvl="1" indent="-285750">
              <a:lnSpc>
                <a:spcPct val="150000"/>
              </a:lnSpc>
              <a:buFont typeface="Wingdings" panose="05000000000000000000" pitchFamily="2" charset="2"/>
              <a:buChar char="Ø"/>
            </a:pPr>
            <a:r>
              <a:rPr lang="en-US" dirty="0">
                <a:effectLst>
                  <a:outerShdw blurRad="38100" dist="38100" dir="2700000" algn="tl">
                    <a:srgbClr val="000000">
                      <a:alpha val="43137"/>
                    </a:srgbClr>
                  </a:outerShdw>
                </a:effectLst>
                <a:latin typeface="Bookman Old Style" panose="02050604050505020204" pitchFamily="18" charset="0"/>
              </a:rPr>
              <a:t>style={...}:  Defines how the image should look — size, shape, alignment, </a:t>
            </a:r>
            <a:r>
              <a:rPr lang="en-US" dirty="0" err="1">
                <a:effectLst>
                  <a:outerShdw blurRad="38100" dist="38100" dir="2700000" algn="tl">
                    <a:srgbClr val="000000">
                      <a:alpha val="43137"/>
                    </a:srgbClr>
                  </a:outerShdw>
                </a:effectLst>
                <a:latin typeface="Bookman Old Style" panose="02050604050505020204" pitchFamily="18" charset="0"/>
              </a:rPr>
              <a:t>etc</a:t>
            </a: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b="1"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2427560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A3026-AE15-B7D1-1700-3344E7CDAA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BED559-F7CF-63EF-7729-9A794917EED3}"/>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C2BB4A4A-03F0-2373-825F-C873CE639198}"/>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D4191886-BDC1-AF64-F032-F7DF85D4FD50}"/>
              </a:ext>
            </a:extLst>
          </p:cNvPr>
          <p:cNvSpPr/>
          <p:nvPr/>
        </p:nvSpPr>
        <p:spPr>
          <a:xfrm>
            <a:off x="0" y="1196322"/>
            <a:ext cx="8677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Working with Images – Load a Local Image</a:t>
            </a:r>
            <a:endParaRPr lang="en-CA" sz="2200" dirty="0">
              <a:solidFill>
                <a:srgbClr val="FFFF00"/>
              </a:solidFill>
            </a:endParaRPr>
          </a:p>
        </p:txBody>
      </p:sp>
      <p:sp>
        <p:nvSpPr>
          <p:cNvPr id="7" name="Rectangle 1">
            <a:extLst>
              <a:ext uri="{FF2B5EF4-FFF2-40B4-BE49-F238E27FC236}">
                <a16:creationId xmlns:a16="http://schemas.microsoft.com/office/drawing/2014/main" id="{77D06749-C7C9-6A72-B465-A070575D33BD}"/>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FCBD8779-F938-3489-03E2-CE91B048F6B9}"/>
              </a:ext>
            </a:extLst>
          </p:cNvPr>
          <p:cNvSpPr txBox="1"/>
          <p:nvPr/>
        </p:nvSpPr>
        <p:spPr>
          <a:xfrm>
            <a:off x="67056" y="1637601"/>
            <a:ext cx="12192000" cy="17050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Let’s display a bank logo at the top</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Create the </a:t>
            </a:r>
            <a:r>
              <a:rPr lang="en-US" b="1" dirty="0">
                <a:effectLst>
                  <a:outerShdw blurRad="38100" dist="38100" dir="2700000" algn="tl">
                    <a:srgbClr val="000000">
                      <a:alpha val="43137"/>
                    </a:srgbClr>
                  </a:outerShdw>
                </a:effectLst>
                <a:latin typeface="Bookman Old Style" panose="02050604050505020204" pitchFamily="18" charset="0"/>
              </a:rPr>
              <a:t>folders assets\images </a:t>
            </a:r>
            <a:r>
              <a:rPr lang="en-US" dirty="0">
                <a:effectLst>
                  <a:outerShdw blurRad="38100" dist="38100" dir="2700000" algn="tl">
                    <a:srgbClr val="000000">
                      <a:alpha val="43137"/>
                    </a:srgbClr>
                  </a:outerShdw>
                </a:effectLst>
                <a:latin typeface="Bookman Old Style" panose="02050604050505020204" pitchFamily="18" charset="0"/>
              </a:rPr>
              <a:t>under the root of the project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Store an image logo.png in the images folder</a:t>
            </a:r>
          </a:p>
          <a:p>
            <a:pPr marL="285750" indent="-285750">
              <a:lnSpc>
                <a:spcPct val="150000"/>
              </a:lnSpc>
              <a:buFont typeface="Arial" panose="020B0604020202020204" pitchFamily="34" charset="0"/>
              <a:buChar char="•"/>
            </a:pPr>
            <a:endParaRPr lang="en-US" b="1" dirty="0">
              <a:effectLst>
                <a:outerShdw blurRad="38100" dist="38100" dir="2700000" algn="tl">
                  <a:srgbClr val="000000">
                    <a:alpha val="43137"/>
                  </a:srgbClr>
                </a:outerShdw>
              </a:effectLst>
              <a:latin typeface="Bookman Old Style" panose="02050604050505020204" pitchFamily="18" charset="0"/>
            </a:endParaRPr>
          </a:p>
        </p:txBody>
      </p:sp>
      <p:pic>
        <p:nvPicPr>
          <p:cNvPr id="4" name="Picture 3">
            <a:extLst>
              <a:ext uri="{FF2B5EF4-FFF2-40B4-BE49-F238E27FC236}">
                <a16:creationId xmlns:a16="http://schemas.microsoft.com/office/drawing/2014/main" id="{82E1488F-B226-416D-569E-A291F14D0560}"/>
              </a:ext>
            </a:extLst>
          </p:cNvPr>
          <p:cNvPicPr>
            <a:picLocks noChangeAspect="1"/>
          </p:cNvPicPr>
          <p:nvPr/>
        </p:nvPicPr>
        <p:blipFill>
          <a:blip r:embed="rId4"/>
          <a:stretch>
            <a:fillRect/>
          </a:stretch>
        </p:blipFill>
        <p:spPr>
          <a:xfrm>
            <a:off x="2050783" y="3122882"/>
            <a:ext cx="2658377" cy="3316642"/>
          </a:xfrm>
          <a:prstGeom prst="rect">
            <a:avLst/>
          </a:prstGeom>
        </p:spPr>
      </p:pic>
    </p:spTree>
    <p:extLst>
      <p:ext uri="{BB962C8B-B14F-4D97-AF65-F5344CB8AC3E}">
        <p14:creationId xmlns:p14="http://schemas.microsoft.com/office/powerpoint/2010/main" val="4046714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FB16-3D6F-457B-8314-3B35D5B908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7CA475-DDC4-D40F-AF33-146EF9D02F0A}"/>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E62D0189-9C5C-3C8A-882C-F39BC9948359}"/>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2901F7E1-D84F-563A-EA72-AFDA3CF60995}"/>
              </a:ext>
            </a:extLst>
          </p:cNvPr>
          <p:cNvSpPr/>
          <p:nvPr/>
        </p:nvSpPr>
        <p:spPr>
          <a:xfrm>
            <a:off x="0" y="1196322"/>
            <a:ext cx="8677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Working with Images – Load a Local Image</a:t>
            </a:r>
            <a:endParaRPr lang="en-CA" sz="2200" dirty="0">
              <a:solidFill>
                <a:srgbClr val="FFFF00"/>
              </a:solidFill>
            </a:endParaRPr>
          </a:p>
        </p:txBody>
      </p:sp>
      <p:sp>
        <p:nvSpPr>
          <p:cNvPr id="7" name="Rectangle 1">
            <a:extLst>
              <a:ext uri="{FF2B5EF4-FFF2-40B4-BE49-F238E27FC236}">
                <a16:creationId xmlns:a16="http://schemas.microsoft.com/office/drawing/2014/main" id="{4A7A422C-4FF0-0E4A-F631-5A2C787D3CB8}"/>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AB889D01-77DE-910E-E50A-5C8EC14E0CF7}"/>
              </a:ext>
            </a:extLst>
          </p:cNvPr>
          <p:cNvSpPr txBox="1"/>
          <p:nvPr/>
        </p:nvSpPr>
        <p:spPr>
          <a:xfrm>
            <a:off x="67056" y="1637601"/>
            <a:ext cx="5843468" cy="37847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Create an </a:t>
            </a:r>
            <a:r>
              <a:rPr lang="en-US" b="1" dirty="0">
                <a:effectLst>
                  <a:outerShdw blurRad="38100" dist="38100" dir="2700000" algn="tl">
                    <a:srgbClr val="000000">
                      <a:alpha val="43137"/>
                    </a:srgbClr>
                  </a:outerShdw>
                </a:effectLst>
                <a:latin typeface="Bookman Old Style" panose="02050604050505020204" pitchFamily="18" charset="0"/>
              </a:rPr>
              <a:t>Image element </a:t>
            </a:r>
            <a:r>
              <a:rPr lang="en-US" dirty="0">
                <a:effectLst>
                  <a:outerShdw blurRad="38100" dist="38100" dir="2700000" algn="tl">
                    <a:srgbClr val="000000">
                      <a:alpha val="43137"/>
                    </a:srgbClr>
                  </a:outerShdw>
                </a:effectLst>
                <a:latin typeface="Bookman Old Style" panose="02050604050505020204" pitchFamily="18" charset="0"/>
              </a:rPr>
              <a:t>and load logo.png in it </a:t>
            </a: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Define the style ‘</a:t>
            </a:r>
            <a:r>
              <a:rPr lang="en-US" b="1" dirty="0" err="1">
                <a:effectLst>
                  <a:outerShdw blurRad="38100" dist="38100" dir="2700000" algn="tl">
                    <a:srgbClr val="000000">
                      <a:alpha val="43137"/>
                    </a:srgbClr>
                  </a:outerShdw>
                </a:effectLst>
                <a:latin typeface="Bookman Old Style" panose="02050604050505020204" pitchFamily="18" charset="0"/>
              </a:rPr>
              <a:t>logoPic</a:t>
            </a:r>
            <a:r>
              <a:rPr lang="en-US" dirty="0">
                <a:effectLst>
                  <a:outerShdw blurRad="38100" dist="38100" dir="2700000" algn="tl">
                    <a:srgbClr val="000000">
                      <a:alpha val="43137"/>
                    </a:srgbClr>
                  </a:outerShdw>
                </a:effectLst>
                <a:latin typeface="Bookman Old Style" panose="02050604050505020204" pitchFamily="18" charset="0"/>
              </a:rPr>
              <a:t>’</a:t>
            </a:r>
          </a:p>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Import the Image component</a:t>
            </a:r>
          </a:p>
        </p:txBody>
      </p:sp>
      <p:pic>
        <p:nvPicPr>
          <p:cNvPr id="11" name="Picture 10">
            <a:extLst>
              <a:ext uri="{FF2B5EF4-FFF2-40B4-BE49-F238E27FC236}">
                <a16:creationId xmlns:a16="http://schemas.microsoft.com/office/drawing/2014/main" id="{88BAEE20-8866-66EF-D558-CB73195EA772}"/>
              </a:ext>
            </a:extLst>
          </p:cNvPr>
          <p:cNvPicPr>
            <a:picLocks noChangeAspect="1"/>
          </p:cNvPicPr>
          <p:nvPr/>
        </p:nvPicPr>
        <p:blipFill>
          <a:blip r:embed="rId4"/>
          <a:stretch>
            <a:fillRect/>
          </a:stretch>
        </p:blipFill>
        <p:spPr>
          <a:xfrm>
            <a:off x="67056" y="2628729"/>
            <a:ext cx="5652968" cy="1802498"/>
          </a:xfrm>
          <a:prstGeom prst="rect">
            <a:avLst/>
          </a:prstGeom>
        </p:spPr>
      </p:pic>
      <p:pic>
        <p:nvPicPr>
          <p:cNvPr id="13" name="Picture 12">
            <a:extLst>
              <a:ext uri="{FF2B5EF4-FFF2-40B4-BE49-F238E27FC236}">
                <a16:creationId xmlns:a16="http://schemas.microsoft.com/office/drawing/2014/main" id="{8B20A00E-5FE2-1E22-D41B-AD9C319500B7}"/>
              </a:ext>
            </a:extLst>
          </p:cNvPr>
          <p:cNvPicPr>
            <a:picLocks noChangeAspect="1"/>
          </p:cNvPicPr>
          <p:nvPr/>
        </p:nvPicPr>
        <p:blipFill>
          <a:blip r:embed="rId5"/>
          <a:stretch>
            <a:fillRect/>
          </a:stretch>
        </p:blipFill>
        <p:spPr>
          <a:xfrm>
            <a:off x="5910524" y="2304695"/>
            <a:ext cx="2510876" cy="4462185"/>
          </a:xfrm>
          <a:prstGeom prst="rect">
            <a:avLst/>
          </a:prstGeom>
        </p:spPr>
      </p:pic>
      <p:pic>
        <p:nvPicPr>
          <p:cNvPr id="15" name="Picture 14">
            <a:extLst>
              <a:ext uri="{FF2B5EF4-FFF2-40B4-BE49-F238E27FC236}">
                <a16:creationId xmlns:a16="http://schemas.microsoft.com/office/drawing/2014/main" id="{225033A6-D8DB-94A7-42A1-0CCF91DE42A8}"/>
              </a:ext>
            </a:extLst>
          </p:cNvPr>
          <p:cNvPicPr>
            <a:picLocks noChangeAspect="1"/>
          </p:cNvPicPr>
          <p:nvPr/>
        </p:nvPicPr>
        <p:blipFill>
          <a:blip r:embed="rId6"/>
          <a:stretch>
            <a:fillRect/>
          </a:stretch>
        </p:blipFill>
        <p:spPr>
          <a:xfrm>
            <a:off x="692750" y="5422355"/>
            <a:ext cx="3383280" cy="1286794"/>
          </a:xfrm>
          <a:prstGeom prst="rect">
            <a:avLst/>
          </a:prstGeom>
        </p:spPr>
      </p:pic>
      <p:pic>
        <p:nvPicPr>
          <p:cNvPr id="17" name="Picture 16">
            <a:extLst>
              <a:ext uri="{FF2B5EF4-FFF2-40B4-BE49-F238E27FC236}">
                <a16:creationId xmlns:a16="http://schemas.microsoft.com/office/drawing/2014/main" id="{63BA0D49-4DD8-624F-E258-12ACD10518A9}"/>
              </a:ext>
            </a:extLst>
          </p:cNvPr>
          <p:cNvPicPr>
            <a:picLocks noChangeAspect="1"/>
          </p:cNvPicPr>
          <p:nvPr/>
        </p:nvPicPr>
        <p:blipFill>
          <a:blip r:embed="rId7"/>
          <a:stretch>
            <a:fillRect/>
          </a:stretch>
        </p:blipFill>
        <p:spPr>
          <a:xfrm>
            <a:off x="8988374" y="2250051"/>
            <a:ext cx="2510876" cy="4377225"/>
          </a:xfrm>
          <a:prstGeom prst="rect">
            <a:avLst/>
          </a:prstGeom>
        </p:spPr>
      </p:pic>
    </p:spTree>
    <p:extLst>
      <p:ext uri="{BB962C8B-B14F-4D97-AF65-F5344CB8AC3E}">
        <p14:creationId xmlns:p14="http://schemas.microsoft.com/office/powerpoint/2010/main" val="1534505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309D-FB25-5A32-3948-BEA35C61B4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4C7C9C-AAE8-250F-C403-6EEDCD22F2A0}"/>
              </a:ext>
            </a:extLst>
          </p:cNvPr>
          <p:cNvPicPr>
            <a:picLocks noChangeAspect="1"/>
          </p:cNvPicPr>
          <p:nvPr/>
        </p:nvPicPr>
        <p:blipFill>
          <a:blip r:embed="rId3"/>
          <a:stretch>
            <a:fillRect/>
          </a:stretch>
        </p:blipFill>
        <p:spPr>
          <a:xfrm>
            <a:off x="0" y="0"/>
            <a:ext cx="12192000" cy="950976"/>
          </a:xfrm>
          <a:prstGeom prst="rect">
            <a:avLst/>
          </a:prstGeom>
        </p:spPr>
      </p:pic>
      <p:sp>
        <p:nvSpPr>
          <p:cNvPr id="6" name="TextBox 5">
            <a:extLst>
              <a:ext uri="{FF2B5EF4-FFF2-40B4-BE49-F238E27FC236}">
                <a16:creationId xmlns:a16="http://schemas.microsoft.com/office/drawing/2014/main" id="{078EE351-4875-3CE8-74E9-BEE258219CFE}"/>
              </a:ext>
            </a:extLst>
          </p:cNvPr>
          <p:cNvSpPr txBox="1"/>
          <p:nvPr/>
        </p:nvSpPr>
        <p:spPr>
          <a:xfrm>
            <a:off x="162306" y="244655"/>
            <a:ext cx="7326085" cy="461665"/>
          </a:xfrm>
          <a:prstGeom prst="rect">
            <a:avLst/>
          </a:prstGeom>
          <a:noFill/>
        </p:spPr>
        <p:txBody>
          <a:bodyPr wrap="square" rtlCol="0">
            <a:spAutoFit/>
          </a:bodyPr>
          <a:lstStyle/>
          <a:p>
            <a:pPr algn="ctr"/>
            <a:r>
              <a:rPr lang="en-US" sz="2400" dirty="0">
                <a:solidFill>
                  <a:schemeClr val="bg1"/>
                </a:solidFill>
                <a:effectLst>
                  <a:outerShdw blurRad="38100" dist="38100" dir="2700000" algn="tl">
                    <a:srgbClr val="000000">
                      <a:alpha val="43137"/>
                    </a:srgbClr>
                  </a:outerShdw>
                </a:effectLst>
                <a:latin typeface="Bookman Old Style" panose="02050604050505020204" pitchFamily="18" charset="0"/>
              </a:rPr>
              <a:t>React Native Components - Fundamentals</a:t>
            </a:r>
          </a:p>
        </p:txBody>
      </p:sp>
      <p:sp>
        <p:nvSpPr>
          <p:cNvPr id="3" name="Rectangle 2">
            <a:extLst>
              <a:ext uri="{FF2B5EF4-FFF2-40B4-BE49-F238E27FC236}">
                <a16:creationId xmlns:a16="http://schemas.microsoft.com/office/drawing/2014/main" id="{25E55167-71C1-BBA8-7DB6-AC2AE5699BCD}"/>
              </a:ext>
            </a:extLst>
          </p:cNvPr>
          <p:cNvSpPr/>
          <p:nvPr/>
        </p:nvSpPr>
        <p:spPr>
          <a:xfrm>
            <a:off x="0" y="1196322"/>
            <a:ext cx="8677656" cy="451021"/>
          </a:xfrm>
          <a:prstGeom prst="rect">
            <a:avLst/>
          </a:prstGeom>
          <a:solidFill>
            <a:schemeClr val="tx1"/>
          </a:solidFill>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solidFill>
                  <a:srgbClr val="FFFF00"/>
                </a:solidFill>
                <a:effectLst>
                  <a:outerShdw blurRad="38100" dist="38100" dir="2700000" algn="tl">
                    <a:srgbClr val="000000">
                      <a:alpha val="43137"/>
                    </a:srgbClr>
                  </a:outerShdw>
                </a:effectLst>
                <a:latin typeface="Bookman Old Style" panose="02050604050505020204" pitchFamily="18" charset="0"/>
              </a:rPr>
              <a:t>Working with Images – Load a Network Image</a:t>
            </a:r>
            <a:endParaRPr lang="en-CA" sz="2200" dirty="0">
              <a:solidFill>
                <a:srgbClr val="FFFF00"/>
              </a:solidFill>
            </a:endParaRPr>
          </a:p>
        </p:txBody>
      </p:sp>
      <p:sp>
        <p:nvSpPr>
          <p:cNvPr id="7" name="Rectangle 1">
            <a:extLst>
              <a:ext uri="{FF2B5EF4-FFF2-40B4-BE49-F238E27FC236}">
                <a16:creationId xmlns:a16="http://schemas.microsoft.com/office/drawing/2014/main" id="{76525728-A899-1C1E-4B31-9A146732C4F4}"/>
              </a:ext>
            </a:extLst>
          </p:cNvPr>
          <p:cNvSpPr>
            <a:spLocks noChangeArrowheads="1"/>
          </p:cNvSpPr>
          <p:nvPr/>
        </p:nvSpPr>
        <p:spPr bwMode="auto">
          <a:xfrm>
            <a:off x="838200" y="3344863"/>
            <a:ext cx="112227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016F60E7-D1F8-77E8-5BAF-76328C74464F}"/>
              </a:ext>
            </a:extLst>
          </p:cNvPr>
          <p:cNvSpPr txBox="1"/>
          <p:nvPr/>
        </p:nvSpPr>
        <p:spPr>
          <a:xfrm>
            <a:off x="67056" y="1637601"/>
            <a:ext cx="9497568" cy="17072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Bookman Old Style" panose="02050604050505020204" pitchFamily="18" charset="0"/>
              </a:rPr>
              <a:t>Replace the local logo image with a network image</a:t>
            </a:r>
          </a:p>
          <a:p>
            <a:pPr>
              <a:lnSpc>
                <a:spcPct val="150000"/>
              </a:lnSpc>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a:p>
            <a:pPr marL="285750" indent="-285750">
              <a:lnSpc>
                <a:spcPct val="150000"/>
              </a:lnSpc>
              <a:buFont typeface="Arial" panose="020B0604020202020204" pitchFamily="34" charset="0"/>
              <a:buChar char="•"/>
            </a:pPr>
            <a:endParaRPr lang="en-US" dirty="0">
              <a:effectLst>
                <a:outerShdw blurRad="38100" dist="38100" dir="2700000" algn="tl">
                  <a:srgbClr val="000000">
                    <a:alpha val="43137"/>
                  </a:srgbClr>
                </a:outerShdw>
              </a:effectLst>
              <a:latin typeface="Bookman Old Style" panose="02050604050505020204" pitchFamily="18" charset="0"/>
            </a:endParaRPr>
          </a:p>
        </p:txBody>
      </p:sp>
      <p:pic>
        <p:nvPicPr>
          <p:cNvPr id="4" name="Picture 3">
            <a:extLst>
              <a:ext uri="{FF2B5EF4-FFF2-40B4-BE49-F238E27FC236}">
                <a16:creationId xmlns:a16="http://schemas.microsoft.com/office/drawing/2014/main" id="{7509AF70-2F77-3BE0-D035-67F62F6B1FF7}"/>
              </a:ext>
            </a:extLst>
          </p:cNvPr>
          <p:cNvPicPr>
            <a:picLocks noChangeAspect="1"/>
          </p:cNvPicPr>
          <p:nvPr/>
        </p:nvPicPr>
        <p:blipFill>
          <a:blip r:embed="rId4"/>
          <a:stretch>
            <a:fillRect/>
          </a:stretch>
        </p:blipFill>
        <p:spPr>
          <a:xfrm>
            <a:off x="167108" y="2184215"/>
            <a:ext cx="7097115" cy="2657846"/>
          </a:xfrm>
          <a:prstGeom prst="rect">
            <a:avLst/>
          </a:prstGeom>
        </p:spPr>
      </p:pic>
      <p:pic>
        <p:nvPicPr>
          <p:cNvPr id="10" name="Picture 9">
            <a:extLst>
              <a:ext uri="{FF2B5EF4-FFF2-40B4-BE49-F238E27FC236}">
                <a16:creationId xmlns:a16="http://schemas.microsoft.com/office/drawing/2014/main" id="{B2D5E24A-1109-2F58-26B4-09604A2A2FF3}"/>
              </a:ext>
            </a:extLst>
          </p:cNvPr>
          <p:cNvPicPr>
            <a:picLocks noChangeAspect="1"/>
          </p:cNvPicPr>
          <p:nvPr/>
        </p:nvPicPr>
        <p:blipFill>
          <a:blip r:embed="rId5"/>
          <a:stretch>
            <a:fillRect/>
          </a:stretch>
        </p:blipFill>
        <p:spPr>
          <a:xfrm>
            <a:off x="8438970" y="1892689"/>
            <a:ext cx="2034411" cy="4215504"/>
          </a:xfrm>
          <a:prstGeom prst="rect">
            <a:avLst/>
          </a:prstGeom>
        </p:spPr>
      </p:pic>
      <p:sp>
        <p:nvSpPr>
          <p:cNvPr id="14" name="TextBox 13">
            <a:extLst>
              <a:ext uri="{FF2B5EF4-FFF2-40B4-BE49-F238E27FC236}">
                <a16:creationId xmlns:a16="http://schemas.microsoft.com/office/drawing/2014/main" id="{597F67C7-6D30-16BA-8A5A-B11D72F9786F}"/>
              </a:ext>
            </a:extLst>
          </p:cNvPr>
          <p:cNvSpPr txBox="1"/>
          <p:nvPr/>
        </p:nvSpPr>
        <p:spPr>
          <a:xfrm>
            <a:off x="309372" y="6294235"/>
            <a:ext cx="7472172" cy="324833"/>
          </a:xfrm>
          <a:prstGeom prst="rect">
            <a:avLst/>
          </a:prstGeom>
          <a:noFill/>
        </p:spPr>
        <p:txBody>
          <a:bodyPr wrap="square">
            <a:spAutoFit/>
          </a:bodyPr>
          <a:lstStyle/>
          <a:p>
            <a:pPr>
              <a:lnSpc>
                <a:spcPts val="1800"/>
              </a:lnSpc>
            </a:pPr>
            <a:r>
              <a:rPr lang="en-CA" b="0" dirty="0">
                <a:solidFill>
                  <a:srgbClr val="A31515"/>
                </a:solidFill>
                <a:effectLst/>
                <a:latin typeface="Consolas" panose="020B0609020204030204" pitchFamily="49" charset="0"/>
              </a:rPr>
              <a:t>https://cdn-icons-png.flaticon.com/512/483/483361.png</a:t>
            </a:r>
            <a:endParaRPr lang="en-CA"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68701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58320</TotalTime>
  <Words>3051</Words>
  <Application>Microsoft Office PowerPoint</Application>
  <PresentationFormat>Widescreen</PresentationFormat>
  <Paragraphs>415</Paragraphs>
  <Slides>45</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Aptos</vt:lpstr>
      <vt:lpstr>Aptos Display</vt:lpstr>
      <vt:lpstr>Arial</vt:lpstr>
      <vt:lpstr>Bookman Old Style</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Plathanath Mathew</dc:creator>
  <cp:lastModifiedBy>Thomas P Mathew</cp:lastModifiedBy>
  <cp:revision>893</cp:revision>
  <dcterms:created xsi:type="dcterms:W3CDTF">2025-02-20T19:22:06Z</dcterms:created>
  <dcterms:modified xsi:type="dcterms:W3CDTF">2025-06-05T13:18:45Z</dcterms:modified>
</cp:coreProperties>
</file>