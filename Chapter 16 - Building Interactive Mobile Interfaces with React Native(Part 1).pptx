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22" r:id="rId3"/>
    <p:sldId id="326" r:id="rId4"/>
    <p:sldId id="323" r:id="rId5"/>
    <p:sldId id="324" r:id="rId6"/>
    <p:sldId id="325" r:id="rId7"/>
    <p:sldId id="328" r:id="rId8"/>
    <p:sldId id="332" r:id="rId9"/>
    <p:sldId id="327" r:id="rId10"/>
    <p:sldId id="329" r:id="rId11"/>
    <p:sldId id="330" r:id="rId12"/>
    <p:sldId id="331" r:id="rId13"/>
    <p:sldId id="333" r:id="rId14"/>
    <p:sldId id="335" r:id="rId15"/>
    <p:sldId id="336" r:id="rId16"/>
    <p:sldId id="337" r:id="rId17"/>
    <p:sldId id="338" r:id="rId18"/>
    <p:sldId id="340" r:id="rId19"/>
    <p:sldId id="339" r:id="rId20"/>
    <p:sldId id="341" r:id="rId21"/>
    <p:sldId id="342" r:id="rId22"/>
    <p:sldId id="345" r:id="rId23"/>
    <p:sldId id="346" r:id="rId24"/>
    <p:sldId id="343" r:id="rId25"/>
    <p:sldId id="344" r:id="rId26"/>
    <p:sldId id="34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2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78479-941D-4A62-9E39-5A64F4ECB896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BD9AF-AE78-435B-BDB7-7959223117C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560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1C531-5DA3-CA2E-FDE9-423D5E7D2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E69867-0EE4-F46D-A420-AFB3464CC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71B31-2BF9-5E4A-4D2D-80D4CA61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A066D-F2E4-536D-647C-4CD9490E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C2941-F117-DCB5-B980-3163C191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251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F5FB4-B696-3AD5-980F-7579F1E2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4C012-0C7C-F445-841D-D071FE865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3A14-8140-C0CA-521C-7F88074E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B5C35-35E1-D1A7-6EF4-5BB1A86E6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95859-1A6F-E30F-C996-2A1C4C033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412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94E5-E431-9270-4F7F-4C129C02D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AA0AB-DDD7-14C7-0334-706EFE329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93A53-3323-52F7-416A-B76D87F2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4D244-5A8F-8F9B-3FAF-4A4356356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5B4A6-D07D-C7DF-98F0-567512C3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8191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89E2-1090-B294-42BF-8FDD2FA2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A956D-647F-B00F-A95C-133B0A03B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18419-7CBA-972A-FBB5-F0128B43D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84012-5F5C-1DA6-0544-BA9467EB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5126D-BB2D-0610-0F0E-DBCDE1D5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47C6A-64F2-355B-A1A2-979859AE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425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33B65-D86D-817C-C30B-EAB139F3B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DBCB5-128C-5588-68B3-16924561C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E041F-FBDD-0B66-7110-C640885F7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D69943-3E18-1A2C-BA39-5187A1431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36C1-E465-F3DC-66EA-13FC2F8D5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64C5BA-C432-C266-5F43-E8EFCF843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61B18-8DAB-8E5C-2910-BEDB174FB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D96C07-9C4A-5762-3268-B66AC76D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343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F076-C11E-1A79-45A4-FDD4933C4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B0088C-46DF-3E79-33D9-41ED0CCB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D5FD7-6F7F-4F4D-6267-81BAB4484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0B0193-289E-7816-8710-D7ED27ED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625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1913A-8787-A1DF-04EE-45ECA336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6EE3E-91E9-42B6-AC8E-2C1FA1DF6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E219-A388-0D10-B8CF-12DD0F4C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399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F54CD-BEB8-B785-9B61-6F1C9363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D01BA-190D-F0A1-2AC0-C18B1C8B0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D6B88-030E-B3A8-9401-F5795883B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1D7C7-B80D-1116-4045-03C0DE994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ED88A-9B8F-CEC0-3906-9D83D93B1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6B21F-0C4D-EA06-3CA7-6C291B212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2941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22D4-85E8-3420-AA55-3B69BD0D6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90BCF-A676-EEEC-2F4A-01AA0A8AB1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9D43C-5C17-5EE9-CD0B-065D0213F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899D4-20D4-0001-A420-FB3EA8CC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32237-479A-D1E9-E512-B01A3424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02209-632A-39F3-5CF5-E0AC1DF6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854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6728-B6B5-0441-636E-088BA8454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BBDCC-9B35-4FAB-E7FA-6041C34D2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99C2E-8E9C-BFAA-263A-F2BC4A2C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99F91-28A5-9A44-5423-C4D2ABAD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8EEBB-5BED-884B-64D1-529B9DC49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1509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0E35CB-34BE-0A02-972C-361EADC9E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DA809-A71E-8438-C492-6411E7E45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D1EC1-7F6A-41D8-53F5-9462EAC94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DC52B-C376-4889-8A2B-994EE086F39A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48E6-B4C7-CA70-5A09-90B6A084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24F59-C009-8E60-AB62-CCA8610A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550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0F1B85-09E1-1EBD-F407-DF611541A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ADCE8-1B00-82ED-0DBA-FDD05DA47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DDB2F-3779-C5CE-1272-869B5D176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FDC52B-C376-4889-8A2B-994EE086F39A}" type="datetimeFigureOut">
              <a:rPr lang="en-CA" smtClean="0"/>
              <a:t>2025-06-05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152EC-494E-A05B-6D9E-5A9D2DF5F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87490-54F8-2973-AFB0-E1DDC69BF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D58FD-F4A6-43A9-A5E7-46B876E800C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65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2C99E-B598-9BB6-9EB7-61E61B9C4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520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13A407-28A4-4989-473D-53FE733E9671}"/>
              </a:ext>
            </a:extLst>
          </p:cNvPr>
          <p:cNvSpPr txBox="1"/>
          <p:nvPr/>
        </p:nvSpPr>
        <p:spPr>
          <a:xfrm>
            <a:off x="1612490" y="1375499"/>
            <a:ext cx="89670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54A542-43C2-74E9-2B44-F5386755BEF4}"/>
              </a:ext>
            </a:extLst>
          </p:cNvPr>
          <p:cNvSpPr txBox="1"/>
          <p:nvPr/>
        </p:nvSpPr>
        <p:spPr>
          <a:xfrm>
            <a:off x="0" y="4312253"/>
            <a:ext cx="12022454" cy="58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Chapter 16 -Building Interactive Mobile Interfaces with React Native (Part 1)</a:t>
            </a:r>
          </a:p>
        </p:txBody>
      </p:sp>
    </p:spTree>
    <p:extLst>
      <p:ext uri="{BB962C8B-B14F-4D97-AF65-F5344CB8AC3E}">
        <p14:creationId xmlns:p14="http://schemas.microsoft.com/office/powerpoint/2010/main" val="4244075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DF982-F4F0-6642-83CC-C673888D7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E8214E-F585-C62C-2A02-C31EE4700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81E4AC-65BE-DD68-78BA-4BFEF945F771}"/>
              </a:ext>
            </a:extLst>
          </p:cNvPr>
          <p:cNvSpPr txBox="1"/>
          <p:nvPr/>
        </p:nvSpPr>
        <p:spPr>
          <a:xfrm>
            <a:off x="162306" y="244655"/>
            <a:ext cx="10929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C98441-DB3B-8EB7-2162-49BEA9A8F482}"/>
              </a:ext>
            </a:extLst>
          </p:cNvPr>
          <p:cNvSpPr/>
          <p:nvPr/>
        </p:nvSpPr>
        <p:spPr>
          <a:xfrm>
            <a:off x="-2" y="1221723"/>
            <a:ext cx="581558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D21D77-45FA-0AC8-6D23-EA3952E9F4DA}"/>
              </a:ext>
            </a:extLst>
          </p:cNvPr>
          <p:cNvSpPr txBox="1"/>
          <p:nvPr/>
        </p:nvSpPr>
        <p:spPr>
          <a:xfrm>
            <a:off x="162306" y="1672744"/>
            <a:ext cx="11852910" cy="3594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this chapter, we'll look at a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few interactive components in React Native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for mobile app development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TextInput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Group &amp; Radio Button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Button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We’ll be developing a ‘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Tip Calculator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’ application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   to demonstrate these components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DF9EB5-3522-3342-903B-39D44C49C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6142" y="2375535"/>
            <a:ext cx="2103552" cy="44141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ABFFC1-B1CA-F961-A3AF-D09A5275E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655" y="2375535"/>
            <a:ext cx="2103552" cy="441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26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5641E-8EE4-9EE5-AFA7-3C7864FD8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9CE8CD-D628-52F9-011F-2F535EBEB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47065E-FEDB-A2FF-B834-98322A070E5E}"/>
              </a:ext>
            </a:extLst>
          </p:cNvPr>
          <p:cNvSpPr txBox="1"/>
          <p:nvPr/>
        </p:nvSpPr>
        <p:spPr>
          <a:xfrm>
            <a:off x="162306" y="244655"/>
            <a:ext cx="9886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3A3FFF-8D4E-BE75-F91B-40FE70F2927B}"/>
              </a:ext>
            </a:extLst>
          </p:cNvPr>
          <p:cNvSpPr/>
          <p:nvPr/>
        </p:nvSpPr>
        <p:spPr>
          <a:xfrm>
            <a:off x="-2" y="1221723"/>
            <a:ext cx="581558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ADB3A2-784F-BF04-E4FC-75F7E5E8E253}"/>
              </a:ext>
            </a:extLst>
          </p:cNvPr>
          <p:cNvSpPr txBox="1"/>
          <p:nvPr/>
        </p:nvSpPr>
        <p:spPr>
          <a:xfrm>
            <a:off x="162306" y="1672744"/>
            <a:ext cx="11852910" cy="963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a new React Native CLI project named ‘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TipCalculator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’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D4FCF44-4D64-9130-06D9-374283D5A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12" y="2431088"/>
            <a:ext cx="7464552" cy="218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435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0EE57-F599-8B5C-E4B1-B8BF656A9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DE6CAA-CD16-CC2F-1378-A9F7EE5F9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8AF436-C68F-B287-1B66-863C0506767F}"/>
              </a:ext>
            </a:extLst>
          </p:cNvPr>
          <p:cNvSpPr txBox="1"/>
          <p:nvPr/>
        </p:nvSpPr>
        <p:spPr>
          <a:xfrm>
            <a:off x="162306" y="244655"/>
            <a:ext cx="9786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0D2033-D5F0-96C5-9AD6-82C48C7B3A3F}"/>
              </a:ext>
            </a:extLst>
          </p:cNvPr>
          <p:cNvSpPr/>
          <p:nvPr/>
        </p:nvSpPr>
        <p:spPr>
          <a:xfrm>
            <a:off x="-2" y="1221723"/>
            <a:ext cx="581558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Working with Text Input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E0A82C-0271-26F6-7C5B-914B42BAFA0E}"/>
              </a:ext>
            </a:extLst>
          </p:cNvPr>
          <p:cNvSpPr txBox="1"/>
          <p:nvPr/>
        </p:nvSpPr>
        <p:spPr>
          <a:xfrm>
            <a:off x="162306" y="1672744"/>
            <a:ext cx="11852910" cy="5580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TextInput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is a core component in React Native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used to capture user input through the device’s keyboard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It behaves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like a text field in web or mobile apps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 is highly customizable for different input types such as text, numbers, email, passwords,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etc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offers a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wide range of configurable props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allowing developers to enable features like auto-correction, auto-capitalization, placeholder text, and select specific keyboard types (e.g., numeric keypad)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simplest way to use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TextInput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is by rendering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and listening to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onChangeText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events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track user input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Additionally, it supports other useful event handlers like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onSubmitEditing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and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onFocus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enabling more interactive and responsive behavior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398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66C7F-63FC-70C0-3178-20B85D9D2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173F12-F276-4EB4-6905-7B0959E6F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07CD29-8213-0CFE-F939-00EB46A85839}"/>
              </a:ext>
            </a:extLst>
          </p:cNvPr>
          <p:cNvSpPr txBox="1"/>
          <p:nvPr/>
        </p:nvSpPr>
        <p:spPr>
          <a:xfrm>
            <a:off x="162306" y="244655"/>
            <a:ext cx="10426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4C9B5D-7BBC-74D2-0E94-EDE3A9369A10}"/>
              </a:ext>
            </a:extLst>
          </p:cNvPr>
          <p:cNvSpPr/>
          <p:nvPr/>
        </p:nvSpPr>
        <p:spPr>
          <a:xfrm>
            <a:off x="-2" y="1221723"/>
            <a:ext cx="581558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Working with Text Input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78DBEA-F18F-77FB-5BBB-0BEA918E6921}"/>
              </a:ext>
            </a:extLst>
          </p:cNvPr>
          <p:cNvSpPr txBox="1"/>
          <p:nvPr/>
        </p:nvSpPr>
        <p:spPr>
          <a:xfrm>
            <a:off x="162306" y="1672744"/>
            <a:ext cx="12374118" cy="5262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Syntax:</a:t>
            </a: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yourStyleObject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Your custom style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placeholder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Hint text shown inside the input field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keyboardType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Type of keyboard (default, numeric, email-address, etc.)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value: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value property is used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 bind the input field to a state variable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making it a controlled component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onChangeText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prop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is 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callback function that gets triggered every time the text in the input field changes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DDCB38-50B8-7909-8C8E-2DF765648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65" y="2232064"/>
            <a:ext cx="8020259" cy="182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930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EECBD-87BD-32FA-EC90-BE265E65F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AFF272-AE9B-0CFE-9674-8E9DF0BBF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935D28-C8C3-D648-F4E7-B2A2F8AABE1B}"/>
              </a:ext>
            </a:extLst>
          </p:cNvPr>
          <p:cNvSpPr txBox="1"/>
          <p:nvPr/>
        </p:nvSpPr>
        <p:spPr>
          <a:xfrm>
            <a:off x="162306" y="244655"/>
            <a:ext cx="10481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DB2440-AD41-D87D-329C-47FEFF38E227}"/>
              </a:ext>
            </a:extLst>
          </p:cNvPr>
          <p:cNvSpPr/>
          <p:nvPr/>
        </p:nvSpPr>
        <p:spPr>
          <a:xfrm>
            <a:off x="-2" y="1221723"/>
            <a:ext cx="640994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TextInput</a:t>
            </a:r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for Entering Bill Amount</a:t>
            </a:r>
            <a:endParaRPr lang="en-CA" sz="2200" dirty="0">
              <a:solidFill>
                <a:srgbClr val="FFFF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351009-13A5-7E65-9B84-6A9669033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" y="2275672"/>
            <a:ext cx="11176254" cy="44527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3E416E-7D20-ED6F-70B3-202BEF70655E}"/>
              </a:ext>
            </a:extLst>
          </p:cNvPr>
          <p:cNvSpPr txBox="1"/>
          <p:nvPr/>
        </p:nvSpPr>
        <p:spPr>
          <a:xfrm>
            <a:off x="80010" y="1672744"/>
            <a:ext cx="11404854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 need to create a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TextInput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for entering the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bill amount through device keyboard</a:t>
            </a: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484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03006-0BC7-21FE-827D-63E63280A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5623F0-0B71-66F3-2D39-A450B82D5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56245A-1CF5-D590-EACA-642599F65CA6}"/>
              </a:ext>
            </a:extLst>
          </p:cNvPr>
          <p:cNvSpPr txBox="1"/>
          <p:nvPr/>
        </p:nvSpPr>
        <p:spPr>
          <a:xfrm>
            <a:off x="162306" y="244655"/>
            <a:ext cx="10298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B21171-B794-83AA-A8FF-D2DD750357E1}"/>
              </a:ext>
            </a:extLst>
          </p:cNvPr>
          <p:cNvSpPr/>
          <p:nvPr/>
        </p:nvSpPr>
        <p:spPr>
          <a:xfrm>
            <a:off x="-2" y="1221723"/>
            <a:ext cx="640994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TextInput</a:t>
            </a:r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for Entering Bill Amount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A3445E-FC06-05A0-F107-BFB40DB8941B}"/>
              </a:ext>
            </a:extLst>
          </p:cNvPr>
          <p:cNvSpPr txBox="1"/>
          <p:nvPr/>
        </p:nvSpPr>
        <p:spPr>
          <a:xfrm>
            <a:off x="-2" y="1672744"/>
            <a:ext cx="11852910" cy="4656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value={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billAmount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} – Sets the current value from state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onChangeText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={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setBillAmount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} – Updates the state when the user types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It’s a controlled component, meaning its value is synced with the component’s state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means: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Whenever the user types something in the input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That new text is passed automatically to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setBillAmount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Which updates the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billAmount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state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Install safe-area-context by running the command ‘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yarn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add react-native-safe-area-context’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730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F5104-7437-C3E6-98AD-9F696D77A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8186D2-42AF-1999-D0F2-71F808012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534CD2-F269-EF9F-6CEB-4C35E4E3DFA5}"/>
              </a:ext>
            </a:extLst>
          </p:cNvPr>
          <p:cNvSpPr txBox="1"/>
          <p:nvPr/>
        </p:nvSpPr>
        <p:spPr>
          <a:xfrm>
            <a:off x="162306" y="244655"/>
            <a:ext cx="100241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319A70-556C-4DC4-9B65-44A7C8FCA766}"/>
              </a:ext>
            </a:extLst>
          </p:cNvPr>
          <p:cNvSpPr/>
          <p:nvPr/>
        </p:nvSpPr>
        <p:spPr>
          <a:xfrm>
            <a:off x="-2" y="1221723"/>
            <a:ext cx="3291842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Style Sheet</a:t>
            </a:r>
            <a:endParaRPr lang="en-CA" sz="2200" dirty="0">
              <a:solidFill>
                <a:srgbClr val="FFFF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8168ED-70DC-60D2-873B-93008D06F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757" y="2250546"/>
            <a:ext cx="4297680" cy="44733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D45526-7D4A-7ABD-BCE6-84F7EA04C558}"/>
              </a:ext>
            </a:extLst>
          </p:cNvPr>
          <p:cNvSpPr txBox="1"/>
          <p:nvPr/>
        </p:nvSpPr>
        <p:spPr>
          <a:xfrm>
            <a:off x="80010" y="1672744"/>
            <a:ext cx="11404854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a Style Sheet to define the style objects that’s used for styling various UI components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705C04-3C3A-E017-1232-B28C9DB5E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4659" y="2286813"/>
            <a:ext cx="2443973" cy="443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373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1F942-FE9E-A0C6-F29C-0B9D08FE4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50EB89-A1F1-B171-586A-C657F6705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A9A5A7-B022-5462-5EAC-05A17487E5A7}"/>
              </a:ext>
            </a:extLst>
          </p:cNvPr>
          <p:cNvSpPr txBox="1"/>
          <p:nvPr/>
        </p:nvSpPr>
        <p:spPr>
          <a:xfrm>
            <a:off x="162306" y="244655"/>
            <a:ext cx="9960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14D6BA-5BEE-A27D-CACC-BE4947762363}"/>
              </a:ext>
            </a:extLst>
          </p:cNvPr>
          <p:cNvSpPr/>
          <p:nvPr/>
        </p:nvSpPr>
        <p:spPr>
          <a:xfrm>
            <a:off x="-2" y="1221723"/>
            <a:ext cx="6254498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Working with 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RadioGroup</a:t>
            </a:r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&amp; 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22D5894-16C5-32B9-459F-03FC08DACE18}"/>
              </a:ext>
            </a:extLst>
          </p:cNvPr>
          <p:cNvSpPr txBox="1"/>
          <p:nvPr/>
        </p:nvSpPr>
        <p:spPr>
          <a:xfrm>
            <a:off x="162306" y="1672744"/>
            <a:ext cx="11852910" cy="2348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RadioButton.Group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is a wrapper component that manages the selection state of multiple radio buttons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represents an individual selectable option within the group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Syntax: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BB4063-3CF7-0674-B5A3-BD503D20E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" y="3634171"/>
            <a:ext cx="11415196" cy="234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19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11BD-F98A-5C9F-EADF-F4B27E7D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628050-17D9-1941-B9DD-257D199AC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F7AACF-FC82-523F-8722-63D112A61363}"/>
              </a:ext>
            </a:extLst>
          </p:cNvPr>
          <p:cNvSpPr txBox="1"/>
          <p:nvPr/>
        </p:nvSpPr>
        <p:spPr>
          <a:xfrm>
            <a:off x="162306" y="244655"/>
            <a:ext cx="10152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C3A5DA-DC48-6ADD-1FFB-D4892C3BFEAF}"/>
              </a:ext>
            </a:extLst>
          </p:cNvPr>
          <p:cNvSpPr/>
          <p:nvPr/>
        </p:nvSpPr>
        <p:spPr>
          <a:xfrm>
            <a:off x="-2" y="1221723"/>
            <a:ext cx="6254498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Working with 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RadioGroup</a:t>
            </a:r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&amp; 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EEE5A-FEE7-7EA7-F0E4-5C9595E103F9}"/>
              </a:ext>
            </a:extLst>
          </p:cNvPr>
          <p:cNvSpPr txBox="1"/>
          <p:nvPr/>
        </p:nvSpPr>
        <p:spPr>
          <a:xfrm>
            <a:off x="162306" y="1672744"/>
            <a:ext cx="12192000" cy="327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Only one option can be selected at a time in a group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RadioButton.Group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requires: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value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prop (current selected value)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onValueChange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prop (callback to update the selected value)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In this setup, selecting a radio button will trigger </a:t>
            </a:r>
            <a:r>
              <a:rPr lang="en-CA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setSelectedValue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(‘value 1') or </a:t>
            </a:r>
            <a:r>
              <a:rPr lang="en-CA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setSelectedValue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(‘value 2')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50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6948D-AD7E-A17F-AF76-34DF74366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13C6DD-9644-A626-82CD-B480E9CF6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E168A5-7421-7D3E-BFCA-E45A381C2D1F}"/>
              </a:ext>
            </a:extLst>
          </p:cNvPr>
          <p:cNvSpPr txBox="1"/>
          <p:nvPr/>
        </p:nvSpPr>
        <p:spPr>
          <a:xfrm>
            <a:off x="162306" y="244655"/>
            <a:ext cx="10289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72715E-9428-F0CE-0992-1C6B69A61D03}"/>
              </a:ext>
            </a:extLst>
          </p:cNvPr>
          <p:cNvSpPr/>
          <p:nvPr/>
        </p:nvSpPr>
        <p:spPr>
          <a:xfrm>
            <a:off x="-2" y="1221723"/>
            <a:ext cx="6254498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Working with 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RadioGroup</a:t>
            </a:r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&amp; 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766E7C-9C1A-862F-EDB2-C1DBC0FD656A}"/>
              </a:ext>
            </a:extLst>
          </p:cNvPr>
          <p:cNvSpPr txBox="1"/>
          <p:nvPr/>
        </p:nvSpPr>
        <p:spPr>
          <a:xfrm>
            <a:off x="158496" y="1662992"/>
            <a:ext cx="11801856" cy="3830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What Happens When You Select Radio Button 1 with 'value 1':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User taps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1 -  It has the value "value 1"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onValueChange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fires automatically, passing "value 1" as its argument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setSelectedValue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("value 1") is called - This updates the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selectedValue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state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Because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selectedValue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now equals "value 1", the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RadioButton.Group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recognizes that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1 should be selected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group re-renders the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and: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1 is shown as selected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2 is shown as unselected</a:t>
            </a:r>
          </a:p>
        </p:txBody>
      </p:sp>
    </p:spTree>
    <p:extLst>
      <p:ext uri="{BB962C8B-B14F-4D97-AF65-F5344CB8AC3E}">
        <p14:creationId xmlns:p14="http://schemas.microsoft.com/office/powerpoint/2010/main" val="115457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E952B-2C65-5A4D-2999-351EA5284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F0DA00-A4B2-E03F-8DCD-19DF040E4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D8C173-7AE6-49F3-EDF5-C7E5AF97A1D0}"/>
              </a:ext>
            </a:extLst>
          </p:cNvPr>
          <p:cNvSpPr txBox="1"/>
          <p:nvPr/>
        </p:nvSpPr>
        <p:spPr>
          <a:xfrm>
            <a:off x="162306" y="244655"/>
            <a:ext cx="10527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FAA23B-E0D5-E299-2D89-499CBAC625AB}"/>
              </a:ext>
            </a:extLst>
          </p:cNvPr>
          <p:cNvSpPr/>
          <p:nvPr/>
        </p:nvSpPr>
        <p:spPr>
          <a:xfrm>
            <a:off x="-2" y="1221723"/>
            <a:ext cx="7607810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Radio Buttons for Selecting Tip Percentage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75A843-F996-8693-9117-0FE0D81EB908}"/>
              </a:ext>
            </a:extLst>
          </p:cNvPr>
          <p:cNvSpPr txBox="1"/>
          <p:nvPr/>
        </p:nvSpPr>
        <p:spPr>
          <a:xfrm>
            <a:off x="80010" y="1672744"/>
            <a:ext cx="11404854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 need to create a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RadioGroup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with three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RadioButtons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for selecting a tip percentage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9A17E2-B423-1551-2392-591D0A34B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36" y="2238614"/>
            <a:ext cx="9543288" cy="448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53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34CDD-7F83-4928-2D69-8AFEA2D95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6D7018-863D-73F7-1B3E-87602D365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5F795B-5609-6F3A-AB17-1BD0518CD838}"/>
              </a:ext>
            </a:extLst>
          </p:cNvPr>
          <p:cNvSpPr txBox="1"/>
          <p:nvPr/>
        </p:nvSpPr>
        <p:spPr>
          <a:xfrm>
            <a:off x="162306" y="244655"/>
            <a:ext cx="10563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8D4AC5-E990-54F2-35C9-B44B6F72420B}"/>
              </a:ext>
            </a:extLst>
          </p:cNvPr>
          <p:cNvSpPr/>
          <p:nvPr/>
        </p:nvSpPr>
        <p:spPr>
          <a:xfrm>
            <a:off x="-2" y="1221723"/>
            <a:ext cx="5056634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Import 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</a:t>
            </a:r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Component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9BCE3B-2188-3CBE-3688-F083B70810D1}"/>
              </a:ext>
            </a:extLst>
          </p:cNvPr>
          <p:cNvSpPr txBox="1"/>
          <p:nvPr/>
        </p:nvSpPr>
        <p:spPr>
          <a:xfrm>
            <a:off x="80010" y="1672744"/>
            <a:ext cx="11404854" cy="420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 need to import the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component from the react-native-paper library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react-native-paper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i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 a UI component library for React Native that follows Material Design guidelines, providing components like: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Buttons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TextInputs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AppBars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And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among many others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Install react-native-paper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	</a:t>
            </a:r>
            <a:r>
              <a:rPr lang="en-US" sz="1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yarn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add react-native-paper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pic>
        <p:nvPicPr>
          <p:cNvPr id="9" name="Picture 8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0623EB41-6BC4-A9A2-7304-1BD0C58F9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6" y="5569383"/>
            <a:ext cx="8077200" cy="107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96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DA683-9EA2-7169-E9BF-5A7ABE236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7CB1B8-F841-61E3-D9F3-07D89EC27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66B318-5522-E637-15B8-7BA8B8AD067A}"/>
              </a:ext>
            </a:extLst>
          </p:cNvPr>
          <p:cNvSpPr txBox="1"/>
          <p:nvPr/>
        </p:nvSpPr>
        <p:spPr>
          <a:xfrm>
            <a:off x="162306" y="244655"/>
            <a:ext cx="10289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BADCCA-6B37-5485-01B1-D695ED132527}"/>
              </a:ext>
            </a:extLst>
          </p:cNvPr>
          <p:cNvSpPr/>
          <p:nvPr/>
        </p:nvSpPr>
        <p:spPr>
          <a:xfrm>
            <a:off x="-2" y="1221723"/>
            <a:ext cx="5056634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Import 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</a:t>
            </a:r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Component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762E5-A6FB-EFB5-3093-8A0712CC18B8}"/>
              </a:ext>
            </a:extLst>
          </p:cNvPr>
          <p:cNvSpPr txBox="1"/>
          <p:nvPr/>
        </p:nvSpPr>
        <p:spPr>
          <a:xfrm>
            <a:off x="80010" y="1672744"/>
            <a:ext cx="11404854" cy="378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2. Install react-native-vector-icons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 react-native-paper, the react-native-vector-icons library is used internally to render icons in components like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Button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	</a:t>
            </a:r>
            <a:r>
              <a:rPr lang="en-US" sz="1800" b="1" dirty="0" err="1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npm</a:t>
            </a:r>
            <a:r>
              <a:rPr lang="en-US" sz="1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install react-native-vector-icons</a:t>
            </a: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3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. 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Install react-native-paper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6B84477-0C76-77FD-94FC-643CBF7E6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12" y="3504583"/>
            <a:ext cx="8333232" cy="10519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8A26E8-4121-1C4D-9FB9-488B5136C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12" y="5129941"/>
            <a:ext cx="9083040" cy="142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305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66F75-B825-9712-C5AC-74C5B98E0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4E5BBA-2A09-0049-7391-7C07C8BB1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231D57-A180-1433-368E-7AC9B3D05FD4}"/>
              </a:ext>
            </a:extLst>
          </p:cNvPr>
          <p:cNvSpPr txBox="1"/>
          <p:nvPr/>
        </p:nvSpPr>
        <p:spPr>
          <a:xfrm>
            <a:off x="162306" y="244655"/>
            <a:ext cx="1038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0D4871-F4B3-EF2D-B7AC-330B48383599}"/>
              </a:ext>
            </a:extLst>
          </p:cNvPr>
          <p:cNvSpPr/>
          <p:nvPr/>
        </p:nvSpPr>
        <p:spPr>
          <a:xfrm>
            <a:off x="-2" y="1221723"/>
            <a:ext cx="869594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Managing State with 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useState</a:t>
            </a:r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for Selected Tip Percentage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E3985A-CE57-53A9-2BCE-401CE6D9EAD4}"/>
              </a:ext>
            </a:extLst>
          </p:cNvPr>
          <p:cNvSpPr txBox="1"/>
          <p:nvPr/>
        </p:nvSpPr>
        <p:spPr>
          <a:xfrm>
            <a:off x="80010" y="1672744"/>
            <a:ext cx="12017502" cy="4805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a state variable to set the tip percentage selected</a:t>
            </a: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reates a state variable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tipPercent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with an initial value of '15' and a function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setTipPercent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to update it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tipPercent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Holds the value of the selected tip percentage, which will be updated when a user selects a radio button. Initially, it is set to '15', meaning the default tip percentage is 15%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setTipPercent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Is the function that updates the value of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tipPercent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. This function is called when the user selects a different radio button. For example, if the user selects the 20% tip option,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setTipPercent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will update the value of </a:t>
            </a:r>
            <a:r>
              <a:rPr 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tipPercent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to '20'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FEF23E-A5E5-C07C-03EA-642ABFE1C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60" y="2251781"/>
            <a:ext cx="10073260" cy="178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58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1E51-0AC4-BC09-02CB-0D3E71E1B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DB9C04-55CD-06AE-42B0-C05657612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CC569B-98C0-721B-BBA0-1543DE7E4155}"/>
              </a:ext>
            </a:extLst>
          </p:cNvPr>
          <p:cNvSpPr txBox="1"/>
          <p:nvPr/>
        </p:nvSpPr>
        <p:spPr>
          <a:xfrm>
            <a:off x="162306" y="244655"/>
            <a:ext cx="10344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E5F9AF-587B-2ADB-18B7-0AAB7613D5DD}"/>
              </a:ext>
            </a:extLst>
          </p:cNvPr>
          <p:cNvSpPr/>
          <p:nvPr/>
        </p:nvSpPr>
        <p:spPr>
          <a:xfrm>
            <a:off x="0" y="1195631"/>
            <a:ext cx="7635240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the Styles for 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RadioGroup</a:t>
            </a:r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and </a:t>
            </a:r>
            <a:r>
              <a:rPr lang="en-US" sz="22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RadioButton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E759B-E630-C7C0-FDA3-02AA4792E5C6}"/>
              </a:ext>
            </a:extLst>
          </p:cNvPr>
          <p:cNvSpPr txBox="1"/>
          <p:nvPr/>
        </p:nvSpPr>
        <p:spPr>
          <a:xfrm>
            <a:off x="9144" y="1614020"/>
            <a:ext cx="11715750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 need to create the styles label,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radioGroup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, and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radioOption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C0CBD8-49AD-3BF6-B75F-9E6CF531A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204200"/>
            <a:ext cx="4553712" cy="45709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95369B-AB86-3866-9821-D955B9934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7248" y="2204200"/>
            <a:ext cx="2455976" cy="434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368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E5D7-89AA-3332-5CB9-5681E1672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23A4C5-345A-AD43-F385-9EB5ADDE7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DD9D9A-876A-417D-29E3-2FA0528CDA3B}"/>
              </a:ext>
            </a:extLst>
          </p:cNvPr>
          <p:cNvSpPr txBox="1"/>
          <p:nvPr/>
        </p:nvSpPr>
        <p:spPr>
          <a:xfrm>
            <a:off x="162306" y="244655"/>
            <a:ext cx="9786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817D88-9726-773A-A976-BCC6A18637B2}"/>
              </a:ext>
            </a:extLst>
          </p:cNvPr>
          <p:cNvSpPr/>
          <p:nvPr/>
        </p:nvSpPr>
        <p:spPr>
          <a:xfrm>
            <a:off x="-2" y="1221723"/>
            <a:ext cx="618134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Calculate Tip Amount and Total Amount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E831BC-A828-5C2C-1BB9-539E0EA7732B}"/>
              </a:ext>
            </a:extLst>
          </p:cNvPr>
          <p:cNvSpPr txBox="1"/>
          <p:nvPr/>
        </p:nvSpPr>
        <p:spPr>
          <a:xfrm>
            <a:off x="162306" y="1672744"/>
            <a:ext cx="11852910" cy="5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 need to calculate and display the tip amount and total amount in text views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6BE1049-29B9-18BA-7512-9BA57E877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18" y="2625569"/>
            <a:ext cx="10895418" cy="23968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1C5D720-5F2C-37B1-AC99-D1DCE1E5B3F8}"/>
              </a:ext>
            </a:extLst>
          </p:cNvPr>
          <p:cNvSpPr txBox="1"/>
          <p:nvPr/>
        </p:nvSpPr>
        <p:spPr>
          <a:xfrm>
            <a:off x="162306" y="5145886"/>
            <a:ext cx="11852910" cy="1425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state variables </a:t>
            </a:r>
            <a:r>
              <a:rPr lang="en-CA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tipAmount</a:t>
            </a: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and </a:t>
            </a:r>
            <a:r>
              <a:rPr lang="en-CA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totalAmount</a:t>
            </a:r>
            <a:r>
              <a:rPr lang="en-CA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are needed to store and dynamically display the calculated tip and total values whenever the user inputs or updates the bill amount or tip percent</a:t>
            </a:r>
          </a:p>
        </p:txBody>
      </p:sp>
    </p:spTree>
    <p:extLst>
      <p:ext uri="{BB962C8B-B14F-4D97-AF65-F5344CB8AC3E}">
        <p14:creationId xmlns:p14="http://schemas.microsoft.com/office/powerpoint/2010/main" val="2524118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806B5-DEEE-52F9-0196-F3ED5D2A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A3666E-343C-AEF5-188A-91F474872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91F192-2892-450E-5818-6DE03FE63945}"/>
              </a:ext>
            </a:extLst>
          </p:cNvPr>
          <p:cNvSpPr txBox="1"/>
          <p:nvPr/>
        </p:nvSpPr>
        <p:spPr>
          <a:xfrm>
            <a:off x="162306" y="244655"/>
            <a:ext cx="10527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DDE40D-8325-E547-8653-17DBB3FED559}"/>
              </a:ext>
            </a:extLst>
          </p:cNvPr>
          <p:cNvSpPr/>
          <p:nvPr/>
        </p:nvSpPr>
        <p:spPr>
          <a:xfrm>
            <a:off x="-2" y="1221723"/>
            <a:ext cx="618134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Calculate Tip Amount and Total Amount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B2FB8F-D93F-F877-4225-3043B5D510AE}"/>
              </a:ext>
            </a:extLst>
          </p:cNvPr>
          <p:cNvSpPr txBox="1"/>
          <p:nvPr/>
        </p:nvSpPr>
        <p:spPr>
          <a:xfrm>
            <a:off x="162306" y="1672744"/>
            <a:ext cx="11852910" cy="50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Define the state variables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tipAmount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and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totalAmount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F17D8-AC1D-D7DF-2DBD-08C75ECEA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50" y="2394512"/>
            <a:ext cx="9181570" cy="228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593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0EA53-74B2-CA81-3519-838850425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03FBA7-0941-84FB-07A5-0F6C5C357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8AC18F-8CE5-493E-F0FF-6C20B8B5616D}"/>
              </a:ext>
            </a:extLst>
          </p:cNvPr>
          <p:cNvSpPr txBox="1"/>
          <p:nvPr/>
        </p:nvSpPr>
        <p:spPr>
          <a:xfrm>
            <a:off x="162306" y="244655"/>
            <a:ext cx="9795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A8D163-E1BD-AFC1-CE88-A5FAD5A35431}"/>
              </a:ext>
            </a:extLst>
          </p:cNvPr>
          <p:cNvSpPr/>
          <p:nvPr/>
        </p:nvSpPr>
        <p:spPr>
          <a:xfrm>
            <a:off x="-2" y="1221723"/>
            <a:ext cx="618134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Calculate Tip Amount and Total Amount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6A934D-4E01-A7BC-5D61-CEBBD469ADD4}"/>
              </a:ext>
            </a:extLst>
          </p:cNvPr>
          <p:cNvSpPr txBox="1"/>
          <p:nvPr/>
        </p:nvSpPr>
        <p:spPr>
          <a:xfrm>
            <a:off x="162306" y="1672744"/>
            <a:ext cx="11852910" cy="2122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tip amount is calculated based on the selected tip percentage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total amount will be the sum of bill amount and tip percent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useEffect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hook is needed to calculate the tip amount and total amount because it automatically runs whenever the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billAmount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or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tipPercent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state values change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This ensures that the calculation is always up-to-date when either of these values changes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31B3EC-24C5-D699-6A07-6499D26CC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4753997"/>
            <a:ext cx="5887065" cy="5278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326999-1A51-576B-858D-C1546290B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804751"/>
            <a:ext cx="5650992" cy="295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637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737EC-11CC-AEDD-D633-BA1881AB7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0F0655-AF30-AA92-5814-17463D1F5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C44854-DB90-A811-A543-8718DBE41AF6}"/>
              </a:ext>
            </a:extLst>
          </p:cNvPr>
          <p:cNvSpPr txBox="1"/>
          <p:nvPr/>
        </p:nvSpPr>
        <p:spPr>
          <a:xfrm>
            <a:off x="162306" y="244655"/>
            <a:ext cx="10152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43B484-3D0F-BCC6-C245-30DD206331CE}"/>
              </a:ext>
            </a:extLst>
          </p:cNvPr>
          <p:cNvSpPr/>
          <p:nvPr/>
        </p:nvSpPr>
        <p:spPr>
          <a:xfrm>
            <a:off x="-2" y="1221723"/>
            <a:ext cx="618134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Calculate Tip Amount and Total Amount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F83840-1F19-40D4-59B9-D4D0A438F387}"/>
              </a:ext>
            </a:extLst>
          </p:cNvPr>
          <p:cNvSpPr txBox="1"/>
          <p:nvPr/>
        </p:nvSpPr>
        <p:spPr>
          <a:xfrm>
            <a:off x="162306" y="1672744"/>
            <a:ext cx="11852910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reate the style for the Text Views that shows the tip amount and total amount – style ‘result’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DA8A00-C88A-068D-2DA1-8CE663B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10" y="2584532"/>
            <a:ext cx="3170329" cy="25536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7BC734-E9DD-8B26-BDAD-507DEE349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654" y="2290337"/>
            <a:ext cx="2327506" cy="41975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A34AB6-ABEE-FA8A-163E-8389E40C42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510" y="2233184"/>
            <a:ext cx="2410594" cy="43371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8BCA74-B905-FCFE-4704-3A32D78205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5789" y="2233184"/>
            <a:ext cx="2403287" cy="425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48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4682D-9FBD-BB53-603C-4B313FDBD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D1EEC7-6580-F837-B480-DA0B772AB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0E544C-2208-EA44-52C5-F2B012B4E37E}"/>
              </a:ext>
            </a:extLst>
          </p:cNvPr>
          <p:cNvSpPr txBox="1"/>
          <p:nvPr/>
        </p:nvSpPr>
        <p:spPr>
          <a:xfrm>
            <a:off x="162306" y="244655"/>
            <a:ext cx="9914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3B4AF1-F361-1725-8415-66D367BA5294}"/>
              </a:ext>
            </a:extLst>
          </p:cNvPr>
          <p:cNvSpPr/>
          <p:nvPr/>
        </p:nvSpPr>
        <p:spPr>
          <a:xfrm>
            <a:off x="-2" y="1221723"/>
            <a:ext cx="343814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Submit Feedback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BC9164-8054-FAA2-155E-8E73B5FFD353}"/>
              </a:ext>
            </a:extLst>
          </p:cNvPr>
          <p:cNvSpPr txBox="1"/>
          <p:nvPr/>
        </p:nvSpPr>
        <p:spPr>
          <a:xfrm>
            <a:off x="162306" y="1672744"/>
            <a:ext cx="11852910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reate a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TextInput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for entering the feedback and a </a:t>
            </a:r>
            <a:r>
              <a:rPr lang="en-US" sz="1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TouchableOpacity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for submitting the feedback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F963FE-9A69-B787-E921-D280080FF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5" y="2692787"/>
            <a:ext cx="6178297" cy="31657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BABE7C-F091-C0B9-AC8E-9A7C128CA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5" y="2692787"/>
            <a:ext cx="5919216" cy="6068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8353EEA-96C8-5DD7-86E1-D8DE1EB78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5" y="3827733"/>
            <a:ext cx="5824728" cy="179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02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4E875-F526-A83A-D939-D46848CFD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0F8C91-4365-AF3D-70A0-E61A720D6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E71C75-DD0E-8FCE-3419-7FD1F0C32BDD}"/>
              </a:ext>
            </a:extLst>
          </p:cNvPr>
          <p:cNvSpPr txBox="1"/>
          <p:nvPr/>
        </p:nvSpPr>
        <p:spPr>
          <a:xfrm>
            <a:off x="162306" y="244655"/>
            <a:ext cx="9832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4F006D-B83D-247D-F871-4ED68BB1E106}"/>
              </a:ext>
            </a:extLst>
          </p:cNvPr>
          <p:cNvSpPr/>
          <p:nvPr/>
        </p:nvSpPr>
        <p:spPr>
          <a:xfrm>
            <a:off x="-2" y="1221723"/>
            <a:ext cx="343814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Submit Feedback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9E8849-2A4E-A889-FF74-6779D1B67091}"/>
              </a:ext>
            </a:extLst>
          </p:cNvPr>
          <p:cNvSpPr txBox="1"/>
          <p:nvPr/>
        </p:nvSpPr>
        <p:spPr>
          <a:xfrm>
            <a:off x="162306" y="1672744"/>
            <a:ext cx="11852910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Implement the ‘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submitFeedback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’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onPress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event handler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CF47B3-39F8-F160-65D6-CCC657258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37" y="2584532"/>
            <a:ext cx="6538214" cy="21399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002C7B-C670-FBF2-5573-00931C434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37" y="5632133"/>
            <a:ext cx="8573696" cy="9812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52DF4E9-B0F3-1235-744D-DE45837C7C4B}"/>
              </a:ext>
            </a:extLst>
          </p:cNvPr>
          <p:cNvSpPr txBox="1"/>
          <p:nvPr/>
        </p:nvSpPr>
        <p:spPr>
          <a:xfrm>
            <a:off x="169545" y="4815232"/>
            <a:ext cx="11852910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Import ‘Alert’ library</a:t>
            </a:r>
          </a:p>
        </p:txBody>
      </p:sp>
    </p:spTree>
    <p:extLst>
      <p:ext uri="{BB962C8B-B14F-4D97-AF65-F5344CB8AC3E}">
        <p14:creationId xmlns:p14="http://schemas.microsoft.com/office/powerpoint/2010/main" val="1657649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91F5B-65FA-3E36-BF97-F644BC4CF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372A85-3D40-E3F6-6216-1643D66C7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A067D1-1866-76B6-CD9B-A7AD32AD0616}"/>
              </a:ext>
            </a:extLst>
          </p:cNvPr>
          <p:cNvSpPr txBox="1"/>
          <p:nvPr/>
        </p:nvSpPr>
        <p:spPr>
          <a:xfrm>
            <a:off x="162306" y="244655"/>
            <a:ext cx="9786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71B0CE-08E6-D4B4-28EC-8A3313BC58C6}"/>
              </a:ext>
            </a:extLst>
          </p:cNvPr>
          <p:cNvSpPr/>
          <p:nvPr/>
        </p:nvSpPr>
        <p:spPr>
          <a:xfrm>
            <a:off x="-2" y="1221723"/>
            <a:ext cx="343814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Submit Feedback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79F78B-4F82-D451-DD70-9BE42BFF3804}"/>
              </a:ext>
            </a:extLst>
          </p:cNvPr>
          <p:cNvSpPr txBox="1"/>
          <p:nvPr/>
        </p:nvSpPr>
        <p:spPr>
          <a:xfrm>
            <a:off x="162306" y="1672744"/>
            <a:ext cx="11852910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the styles for Touchable Opacity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1E8789-CBF2-1F5D-1280-93D367761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49" y="2394513"/>
            <a:ext cx="3639378" cy="29272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881029-0944-8DE7-CDC2-09B5C1243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398" y="2247213"/>
            <a:ext cx="2277034" cy="41912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F6B218-0EE1-8B3E-D7EB-C8934A4AA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036" y="2199585"/>
            <a:ext cx="2038455" cy="42864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B78A62-5801-6546-E68B-BB8D124D00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0188" y="2199585"/>
            <a:ext cx="2191563" cy="419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275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6A38D-F7F1-C909-C95F-3EB9FD767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AE3A80-1CBB-4846-DD2D-ABDD2299A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AFF6A9-9408-E367-DC55-45F81F3A8081}"/>
              </a:ext>
            </a:extLst>
          </p:cNvPr>
          <p:cNvSpPr txBox="1"/>
          <p:nvPr/>
        </p:nvSpPr>
        <p:spPr>
          <a:xfrm>
            <a:off x="162306" y="244655"/>
            <a:ext cx="10261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EEFC03-E494-9B21-57B7-AC7A2BA61D2E}"/>
              </a:ext>
            </a:extLst>
          </p:cNvPr>
          <p:cNvSpPr/>
          <p:nvPr/>
        </p:nvSpPr>
        <p:spPr>
          <a:xfrm>
            <a:off x="-2" y="1221723"/>
            <a:ext cx="3438146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Working with Button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5597D2-032F-A927-B43E-158CA19468BE}"/>
              </a:ext>
            </a:extLst>
          </p:cNvPr>
          <p:cNvSpPr txBox="1"/>
          <p:nvPr/>
        </p:nvSpPr>
        <p:spPr>
          <a:xfrm>
            <a:off x="176784" y="1672744"/>
            <a:ext cx="11852910" cy="253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The Button component in React Native is used to trigger actions when the user presses 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It's a simple UI element that displays a label and responds to user interactions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 simple and cross-platform button component that renders well across all devices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It offers basic customization options</a:t>
            </a:r>
          </a:p>
          <a:p>
            <a:pPr>
              <a:lnSpc>
                <a:spcPct val="150000"/>
              </a:lnSpc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Syntax:</a:t>
            </a: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E0088D-D8EF-5955-6875-FD09D416B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865338"/>
            <a:ext cx="4287833" cy="12002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83EB2E-DAA8-8170-008A-7863416064F5}"/>
              </a:ext>
            </a:extLst>
          </p:cNvPr>
          <p:cNvSpPr txBox="1"/>
          <p:nvPr/>
        </p:nvSpPr>
        <p:spPr>
          <a:xfrm>
            <a:off x="176784" y="5185256"/>
            <a:ext cx="10494265" cy="876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title: The text shown on the button.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onPress</a:t>
            </a:r>
            <a:r>
              <a:rPr lang="en-C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: Event handler function to be executed when the button is pressed</a:t>
            </a:r>
          </a:p>
        </p:txBody>
      </p:sp>
    </p:spTree>
    <p:extLst>
      <p:ext uri="{BB962C8B-B14F-4D97-AF65-F5344CB8AC3E}">
        <p14:creationId xmlns:p14="http://schemas.microsoft.com/office/powerpoint/2010/main" val="1599359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F390-8E50-3A6F-184F-DEF0FFBFC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0707E1-B869-B26C-CD19-2F3411DCB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DAF331-C5E2-372F-A0A9-CA217CEF9F74}"/>
              </a:ext>
            </a:extLst>
          </p:cNvPr>
          <p:cNvSpPr txBox="1"/>
          <p:nvPr/>
        </p:nvSpPr>
        <p:spPr>
          <a:xfrm>
            <a:off x="162306" y="244655"/>
            <a:ext cx="107007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13DEA8-3973-A7AC-D412-1D0549134BEE}"/>
              </a:ext>
            </a:extLst>
          </p:cNvPr>
          <p:cNvSpPr/>
          <p:nvPr/>
        </p:nvSpPr>
        <p:spPr>
          <a:xfrm>
            <a:off x="-2" y="1221723"/>
            <a:ext cx="4636010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Reset the Tip Calculator Form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3B695C-5694-1148-C0E0-3A8B97FBF38C}"/>
              </a:ext>
            </a:extLst>
          </p:cNvPr>
          <p:cNvSpPr txBox="1"/>
          <p:nvPr/>
        </p:nvSpPr>
        <p:spPr>
          <a:xfrm>
            <a:off x="162306" y="1672744"/>
            <a:ext cx="11852910" cy="295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We need to create a button for resetting the tip calculator form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Import the ‘Button’ library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2D246B-14EF-0E38-6AE4-25DEC81EB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4" y="2208865"/>
            <a:ext cx="7659624" cy="20818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828BF3-BF47-05A6-C311-F3EE92B08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05" y="4766432"/>
            <a:ext cx="6908559" cy="172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7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2345-087C-E37E-2CBC-6007D4693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FFD63C-8017-5F24-CD58-E63BA0B31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509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7A2E6C-A201-328D-61C3-C4A0D87D3F37}"/>
              </a:ext>
            </a:extLst>
          </p:cNvPr>
          <p:cNvSpPr txBox="1"/>
          <p:nvPr/>
        </p:nvSpPr>
        <p:spPr>
          <a:xfrm>
            <a:off x="162306" y="244655"/>
            <a:ext cx="9862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Building Interactive Mobile Interfaces with React Native (Part 1)</a:t>
            </a:r>
            <a:endParaRPr lang="en-CA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AB2054-BAD3-8699-19D9-8E3B102A586A}"/>
              </a:ext>
            </a:extLst>
          </p:cNvPr>
          <p:cNvSpPr/>
          <p:nvPr/>
        </p:nvSpPr>
        <p:spPr>
          <a:xfrm>
            <a:off x="-2" y="1221723"/>
            <a:ext cx="4636010" cy="451021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Reset the Tip Calculator Form</a:t>
            </a:r>
            <a:endParaRPr lang="en-CA" sz="22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AB4375-D2AF-BA16-D3DF-97CAB91DAF3A}"/>
              </a:ext>
            </a:extLst>
          </p:cNvPr>
          <p:cNvSpPr txBox="1"/>
          <p:nvPr/>
        </p:nvSpPr>
        <p:spPr>
          <a:xfrm>
            <a:off x="162306" y="1672744"/>
            <a:ext cx="11852910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Implement the ‘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resetForm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’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onPress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event handler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B5E60E-4679-E96D-1B61-FBF4E2BA3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17" y="2257351"/>
            <a:ext cx="7326085" cy="38611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41A933-D243-F2D0-E94E-0451D660E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079" y="3076415"/>
            <a:ext cx="1996440" cy="36266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E500488-E441-2BA1-5504-FB29988C24A9}"/>
              </a:ext>
            </a:extLst>
          </p:cNvPr>
          <p:cNvSpPr txBox="1"/>
          <p:nvPr/>
        </p:nvSpPr>
        <p:spPr>
          <a:xfrm>
            <a:off x="7872984" y="5458968"/>
            <a:ext cx="12710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Click ‘Reset’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0E85BBA-930F-2325-5D40-70B128D1DBA1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7251192" y="5612857"/>
            <a:ext cx="6217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AE3CD73D-3402-0837-F8A4-6A41C98CF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5081" y="2735744"/>
            <a:ext cx="1809717" cy="3861123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C23137F-0389-F8C5-5C3E-F8F34F6964C3}"/>
              </a:ext>
            </a:extLst>
          </p:cNvPr>
          <p:cNvCxnSpPr>
            <a:cxnSpLocks/>
          </p:cNvCxnSpPr>
          <p:nvPr/>
        </p:nvCxnSpPr>
        <p:spPr>
          <a:xfrm flipV="1">
            <a:off x="8970264" y="4800600"/>
            <a:ext cx="1054817" cy="812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198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58246</TotalTime>
  <Words>1420</Words>
  <Application>Microsoft Office PowerPoint</Application>
  <PresentationFormat>Widescreen</PresentationFormat>
  <Paragraphs>154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Bookman Old Style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Plathanath Mathew</dc:creator>
  <cp:lastModifiedBy>Thomas P Mathew</cp:lastModifiedBy>
  <cp:revision>904</cp:revision>
  <dcterms:created xsi:type="dcterms:W3CDTF">2025-02-20T19:22:06Z</dcterms:created>
  <dcterms:modified xsi:type="dcterms:W3CDTF">2025-06-05T13:49:55Z</dcterms:modified>
</cp:coreProperties>
</file>