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71"/>
  </p:notesMasterIdLst>
  <p:handoutMasterIdLst>
    <p:handoutMasterId r:id="rId72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7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330" r:id="rId21"/>
    <p:sldId id="278" r:id="rId22"/>
    <p:sldId id="329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326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6401" autoAdjust="0"/>
  </p:normalViewPr>
  <p:slideViewPr>
    <p:cSldViewPr>
      <p:cViewPr varScale="1">
        <p:scale>
          <a:sx n="98" d="100"/>
          <a:sy n="98" d="100"/>
        </p:scale>
        <p:origin x="172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8/23/2022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0" r:id="rId5"/>
    <p:sldLayoutId id="2147483683" r:id="rId6"/>
    <p:sldLayoutId id="2147483681" r:id="rId7"/>
    <p:sldLayoutId id="2147483674" r:id="rId8"/>
    <p:sldLayoutId id="2147483676" r:id="rId9"/>
    <p:sldLayoutId id="2147483675" r:id="rId10"/>
    <p:sldLayoutId id="2147483684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awesome.com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1143000"/>
            <a:ext cx="7772400" cy="553998"/>
          </a:xfrm>
        </p:spPr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295400" y="2209800"/>
            <a:ext cx="6553200" cy="2971800"/>
          </a:xfrm>
        </p:spPr>
        <p:txBody>
          <a:bodyPr/>
          <a:lstStyle/>
          <a:p>
            <a:r>
              <a:rPr lang="en-US" dirty="0"/>
              <a:t>How to make</a:t>
            </a:r>
            <a:br>
              <a:rPr lang="en-US" dirty="0"/>
            </a:br>
            <a:r>
              <a:rPr lang="en-US" dirty="0"/>
              <a:t>a web app responsive with Bootstrap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ASP.NET Core MVC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9699B-9A1A-4FF3-864F-E34D1144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2405-28AD-4A55-8F3A-66A1AB7F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Future Value app in a desktop browser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2BE2F-FF18-4776-A138-C202C194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342B9-C174-4E64-9CD9-EBA429AE5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25046-0478-46F2-A6BA-59263F9A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Refer to page 83 in textbook ">
            <a:extLst>
              <a:ext uri="{FF2B5EF4-FFF2-40B4-BE49-F238E27FC236}">
                <a16:creationId xmlns:a16="http://schemas.microsoft.com/office/drawing/2014/main" id="{119D3EBB-AD66-4893-BF5C-1BACD6276850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65496"/>
            <a:ext cx="7315200" cy="475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1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17AB-A057-46B9-9950-756166D7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Future Value app in a tablet browser</a:t>
            </a:r>
          </a:p>
        </p:txBody>
      </p:sp>
      <p:pic>
        <p:nvPicPr>
          <p:cNvPr id="7" name="Content Placeholder 6" descr="Refer to page 83 in textbook ">
            <a:extLst>
              <a:ext uri="{FF2B5EF4-FFF2-40B4-BE49-F238E27FC236}">
                <a16:creationId xmlns:a16="http://schemas.microsoft.com/office/drawing/2014/main" id="{154392D5-B8A7-405B-9DEE-126146E002B9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143000"/>
            <a:ext cx="4132627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CF74-C3D3-4765-A4E3-336A6831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ACDB0-758B-42C1-A553-9BEE445FE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C98EC-762F-4F27-885D-FBEC8CFD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41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4393-067A-47D6-BABA-4936ABAE4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Future Value app in a phone browser</a:t>
            </a:r>
          </a:p>
        </p:txBody>
      </p:sp>
      <p:pic>
        <p:nvPicPr>
          <p:cNvPr id="7" name="Content Placeholder 6" descr="Refer to page 83 in textbook ">
            <a:extLst>
              <a:ext uri="{FF2B5EF4-FFF2-40B4-BE49-F238E27FC236}">
                <a16:creationId xmlns:a16="http://schemas.microsoft.com/office/drawing/2014/main" id="{FD1DA0CD-544C-47E0-B3BA-946760F73F01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449" y="1143000"/>
            <a:ext cx="3222421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4C310-BC01-4C5A-8BDD-1C0271DA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BBF66-8738-42D1-A2FE-9270AD2F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16261-3395-4613-9B71-DFBF60A99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09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04BF-AB65-44F7-A628-9F2BE48C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dialog box for adding the jQuery library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0F376-10C2-4D63-829D-3C16484B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FD969-6A3F-4FB5-8E4C-32711934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DE407-39A1-4FFB-9BF0-260A4E62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Refer to page 85 in textbook ">
            <a:extLst>
              <a:ext uri="{FF2B5EF4-FFF2-40B4-BE49-F238E27FC236}">
                <a16:creationId xmlns:a16="http://schemas.microsoft.com/office/drawing/2014/main" id="{BC24F74B-878B-4159-843B-E6690743A48A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143000"/>
            <a:ext cx="60198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3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E549-4B1D-41C7-B8AF-A0B503D4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dialog box for adding the Bootstrap library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47C07-669B-44A4-81BC-32FD33946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84ACB-EADB-47A4-9ADB-E635FE149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C7851-8670-429E-B5F4-D95061FD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Refer to page 85 in textbook ">
            <a:extLst>
              <a:ext uri="{FF2B5EF4-FFF2-40B4-BE49-F238E27FC236}">
                <a16:creationId xmlns:a16="http://schemas.microsoft.com/office/drawing/2014/main" id="{37649577-EBE9-4353-A249-A1EB5ED379C0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157" y="1138103"/>
            <a:ext cx="6072043" cy="411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6986C2-105A-462C-8D68-637D27C9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369332"/>
          </a:xfrm>
        </p:spPr>
        <p:txBody>
          <a:bodyPr/>
          <a:lstStyle/>
          <a:p>
            <a:r>
              <a:rPr lang="en-US" dirty="0"/>
              <a:t>How to add the Bootstrap and jQuery libraries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1E1A51-79B6-4D1A-9E31-256F762E1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95399"/>
            <a:ext cx="8458200" cy="4502285"/>
          </a:xfrm>
        </p:spPr>
        <p:txBody>
          <a:bodyPr/>
          <a:lstStyle/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Start Visual Studio and open a project. In the Solution Explorer, expand the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wwwroot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/lib folder and delete any old Bootstrap or jQuery libraries.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 the Solution Explorer, right-click on the project name and select the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Add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Client-Side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Library item.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 the dialog box that appears, type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jquery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@”, select “3.3.1” (or whatever is latest) from the list that appears, and click the Install button.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Repeat steps 2 and 3 for the library named “twitter-bootstrap@4.3.1”, but change the target location to “www/lib/bootstrap”.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Repeat steps 2 and 3 for the library named “popper.js@1.14.7”.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Repeat steps 2 and 3 for the library named “jquery-validate@1.19.0”.</a:t>
            </a:r>
          </a:p>
          <a:p>
            <a:pPr marL="342900" marR="347345" lvl="0" indent="-3429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347345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Repeat steps 2 and 3 for the library named “jquery-validation-unobtrusive@3.2.11”.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A8702-1EEC-46ED-9C3D-053D9926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99076-51DB-42CA-930E-F09E6848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5AB8B-2FF5-4496-9393-31602930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032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B83C-9EDF-456B-93F6-41305835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libman.json</a:t>
            </a:r>
            <a:r>
              <a:rPr lang="en-US" dirty="0"/>
              <a:t> file for the client-side libraries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C8C46-4ACC-49D9-940C-4AA66CE6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8BAED-43FD-4520-89F9-A585F1859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1F7C-6FAF-41DC-8C30-E73BD90A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Refer to page 87 in textbook ">
            <a:extLst>
              <a:ext uri="{FF2B5EF4-FFF2-40B4-BE49-F238E27FC236}">
                <a16:creationId xmlns:a16="http://schemas.microsoft.com/office/drawing/2014/main" id="{726560FF-62CC-43C8-AAFA-66353AE9EB02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143000"/>
            <a:ext cx="5874336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30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7491-CDB9-4DD2-8C3C-6533B2C1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Razor layout that pulls in client-side libraries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D04FE-274E-4E66-818C-7ACAC405C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&lt;meta name="viewport" content="width=device-width" /&gt;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&lt;title&gt;@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ViewData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["Title"]&lt;/title&gt;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&lt;link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="stylesheet"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="~/lib/bootstrap/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/bootstrap.min.css" /&gt;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&lt;link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="stylesheet"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/custom.css" /&gt;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&lt;script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="~/lib/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/jquery.min.js"&gt;&lt;/script&gt;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&lt;script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="~/lib/popper.js/popper.min.js"&gt;&lt;/script&gt;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&lt;script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="~/lib/bootstrap/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/bootstrap.min.js"&gt;&lt;/script&gt;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&lt;script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="~/lib/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-validate/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jquery.validate.min.js"&gt;&lt;/script&gt;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&lt;script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="~/lib/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-validation-unobtrusive/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jquery.validate.unobtrusive.min.js"&gt;&lt;/script&gt;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@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RenderBody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&lt;/html&gt;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29D08-C0F2-4089-9FD0-0029E95E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861DD-9C49-4CC5-A86F-5768C0E1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780D7-D564-496E-AA08-8A52C4DD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57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A1078-B69C-497B-97DD-74AB996E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r>
              <a:rPr lang="en-US" dirty="0"/>
              <a:t>An extra directory that may be included </a:t>
            </a:r>
            <a:br>
              <a:rPr lang="en-US" dirty="0"/>
            </a:br>
            <a:r>
              <a:rPr lang="en-US" dirty="0"/>
              <a:t>by the MVC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FCC0A-80A2-4A36-9410-6A3A8FE5C8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&lt;link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="stylesheet"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="~/lib/bootstrap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/bootstrap.min.css" /&gt;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34714-6926-402E-A83A-D2DE5169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D15D8-74BD-43F1-BFFF-ACA12A85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2ED59-76DD-45A6-8729-D1DFAC8D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56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B8DA-1514-409B-A10E-90F642D6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URL for the Bootstrap documentation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AE1F0-56EA-48AD-A443-F98624120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u="sng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https://getbootstrap.com/docs/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key Bootstrap class values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container-fluid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offset-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key size values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lg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(none)</a:t>
            </a:r>
            <a:endParaRPr lang="en-US" sz="18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50531-8451-4E9B-A864-BD7101BC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771F4-9A2A-4EEA-BD5A-114D3387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8FB07-B827-43CE-9C0A-E30B105B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751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51E8-0E80-467B-8A0D-4500B8F4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Two columns that are automatically sized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B2D87-9E53-4880-8058-242FAE6A8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class="col"&gt;Column 1&lt;/div&gt;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class="col"&gt;Column 2&lt;/div&gt;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element that spans four columns </a:t>
            </a:r>
            <a:b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medium and larger screens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class="col-md-4"&gt;This element spans four columns&lt;/div&gt;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element that spans 4 columns </a:t>
            </a:r>
            <a:b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medium screens and 3 on large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class="col-md-4 col-lg-3"&gt;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This element spans three or four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element that is moved one column to the right on medium screens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class="col-md-4 offset-md-1"&gt;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This element is offset by one column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A672-83E5-43AC-8DEA-719E5CF8F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158B7-3AA1-41BD-B1F2-F4093DA6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2020, Mike Murach &amp; Associates,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8A83A-F01F-45F0-85C7-89DA4E55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0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39E5A-5F8F-495B-BB3E-DDB3F1B7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HTML for a sample grid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67BC1-C59B-432D-AD80-43C2EC450B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&lt;main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class="container"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class="row"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class="col-12"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&gt;Column 1&lt;/div&gt;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class="col-12"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&gt;Column 2&lt;/div&gt;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class="row"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class="col-md-4"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&gt;Column 1&lt;/div&gt;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class="col-md-8"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&gt;Column 2&lt;/div&gt;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class="row"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class="col-md-4 col-sm-6"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&gt;Column 1&lt;/div&gt;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class="col-md-8 col-sm-6"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&gt;Column 2&lt;/div&gt;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&lt;/main&gt;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Can you describe what is going on in each </a:t>
            </a:r>
            <a:r>
              <a:rPr lang="en-US" sz="1600" b="1" i="1" dirty="0"/>
              <a:t>row</a:t>
            </a:r>
            <a:r>
              <a:rPr lang="en-US" sz="1600" dirty="0"/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E6CE6-B24D-4A37-954E-A51F637CE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D10B8-CE15-46DB-B1A8-333DD689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16097-E087-465B-896D-DD97B1D1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782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A2CBE7-A359-4FB7-BA0D-617848C6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r>
              <a:rPr lang="en-US" dirty="0"/>
              <a:t>Custom CSS classes that override </a:t>
            </a:r>
            <a:br>
              <a:rPr lang="en-US" dirty="0"/>
            </a:br>
            <a:r>
              <a:rPr lang="en-US" dirty="0"/>
              <a:t>the Bootstrap CSS classes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4AEBF3-F204-40C4-B28D-7DFFA17B5A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5438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.row {                         /* custom row styles */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margin-bottom: 0.5rem;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.row div {                     /* custom column styles */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border: 1px solid black;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padding: 0.5rem;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background-color: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aliceblue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0C7F9-6AB7-47CE-92E2-5B3F1E71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2FE21-8A44-490B-A042-9E799C69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59A78-4030-4674-891E-2C3F6C36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257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5CCB-53B1-4ACE-8228-92D6BD82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24989"/>
            <a:ext cx="7467600" cy="369332"/>
          </a:xfrm>
        </p:spPr>
        <p:txBody>
          <a:bodyPr/>
          <a:lstStyle/>
          <a:p>
            <a:r>
              <a:rPr lang="en-US" dirty="0"/>
              <a:t>The Bootstrap grid on a medium (or larger) screen</a:t>
            </a:r>
          </a:p>
        </p:txBody>
      </p:sp>
      <p:pic>
        <p:nvPicPr>
          <p:cNvPr id="7" name="Content Placeholder 6" descr="Refer to page 93 in textbook ">
            <a:extLst>
              <a:ext uri="{FF2B5EF4-FFF2-40B4-BE49-F238E27FC236}">
                <a16:creationId xmlns:a16="http://schemas.microsoft.com/office/drawing/2014/main" id="{B31237C5-7618-4F23-9EE9-DAD372AD77A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143000"/>
            <a:ext cx="7367194" cy="2667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9C43F-F1BB-4342-B29A-7CE5DA8E8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2798B-ED61-4FE7-94B0-71B640436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0514B-51A0-40D3-BA23-5AEB0B620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681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E3E480-E267-4482-BA8B-823F26F62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Bootstrap grid on a small screen</a:t>
            </a:r>
          </a:p>
        </p:txBody>
      </p:sp>
      <p:pic>
        <p:nvPicPr>
          <p:cNvPr id="10" name="Content Placeholder 9" descr="Refer to page 93 in textbook ">
            <a:extLst>
              <a:ext uri="{FF2B5EF4-FFF2-40B4-BE49-F238E27FC236}">
                <a16:creationId xmlns:a16="http://schemas.microsoft.com/office/drawing/2014/main" id="{B2D5B520-DA97-482A-9544-A89482A9B8B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143000"/>
            <a:ext cx="7315200" cy="401033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E5379-77E4-44ED-96FD-91746E889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8BA85-39A2-4A8A-AA82-3FB0AE8D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E2C33-6892-4ED8-A5C7-7D497F4B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5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6BD3-2772-4B83-80FB-F9076CED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Bootstrap grid on an extra small screen</a:t>
            </a:r>
          </a:p>
        </p:txBody>
      </p:sp>
      <p:pic>
        <p:nvPicPr>
          <p:cNvPr id="7" name="Content Placeholder 6" descr="Refer to page 93 in textbook ">
            <a:extLst>
              <a:ext uri="{FF2B5EF4-FFF2-40B4-BE49-F238E27FC236}">
                <a16:creationId xmlns:a16="http://schemas.microsoft.com/office/drawing/2014/main" id="{9B757085-F3A3-407D-AEA2-391B693272F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18165" y="1066800"/>
            <a:ext cx="5082635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2AB4F-635C-47F0-853D-8E66A981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D584B-A43D-47D3-8200-BDA76B62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C4E58-5E72-42B7-B4EE-784D15EA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594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05605-8A44-4772-94FB-9F9390BE5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/>
              <a:t>Two </a:t>
            </a:r>
            <a:r>
              <a:rPr lang="en-US" dirty="0"/>
              <a:t>Bootstrap CSS classes for forms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F393D-C525-4D47-B7D9-67BEDB5A38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form-group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form-control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CCB36-B738-4356-9B1E-24E45888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E05AB-0ED8-496E-83E3-A22D069F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C54B6-75DC-4747-8468-ECD9E181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702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437CC-06C1-4916-8F3B-D9A5E89B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form with two text boxes in vertical layout</a:t>
            </a:r>
          </a:p>
        </p:txBody>
      </p:sp>
      <p:pic>
        <p:nvPicPr>
          <p:cNvPr id="8" name="Content Placeholder 7" descr="Refer to page 95 in textbook ">
            <a:extLst>
              <a:ext uri="{FF2B5EF4-FFF2-40B4-BE49-F238E27FC236}">
                <a16:creationId xmlns:a16="http://schemas.microsoft.com/office/drawing/2014/main" id="{10D50A60-7A39-4D31-8650-DF5129109DB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186209"/>
            <a:ext cx="7347500" cy="239519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306A2-3232-4CE2-B696-E2E56796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0AFB9-1681-4826-AE57-64154E46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E7766-AA22-4FA6-B70D-E38E4665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367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D658D-5C70-4313-8ECF-FA694459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form in vertical layout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5601E-9A4D-4DD0-94DE-306016893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&lt;form asp-action="Login" method="post"&gt;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class="form-group"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&lt;label for="email"&gt;Email:&lt;/label&gt;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&lt;input type="email" id="email"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class="form-control"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class="form-group"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&lt;label for="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"&gt;Password:&lt;/label&gt;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&lt;input id="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type="password"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class="form-control"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&lt;/form&gt;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51CD2-7718-404C-8443-EC4D4258F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EA341-1F03-4675-9B71-AD614CFD2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01B62-9022-41AC-942B-D05E65055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120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4AEEE-C1C9-4C19-A1DC-A70B0B424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form with two text boxes in horizontal layout</a:t>
            </a:r>
          </a:p>
        </p:txBody>
      </p:sp>
      <p:pic>
        <p:nvPicPr>
          <p:cNvPr id="8" name="Content Placeholder 7" descr="Refer to page 95 in textbook ">
            <a:extLst>
              <a:ext uri="{FF2B5EF4-FFF2-40B4-BE49-F238E27FC236}">
                <a16:creationId xmlns:a16="http://schemas.microsoft.com/office/drawing/2014/main" id="{92299C8C-5A55-434E-8E26-C739232E30F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4491" y="1066800"/>
            <a:ext cx="7311375" cy="16002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3A00E-D2FB-4464-A6CF-8C3C7566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7DBB3-9581-4091-B060-FCFBCF29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80F7D-BC13-4630-9B4F-1330D20E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87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C0E4-659B-4F13-B294-6A6FD2AB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HTML for the form in horizontal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64939-8DE6-49E7-B482-412558692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&lt;form asp-action="Login" method="post"&gt;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class="form-group row"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&lt;label for="email"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class="col-sm-2"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&gt;Email:&lt;/label&gt;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class="col-sm-10"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&lt;input type="email" id="email"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class="form-control"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&lt;/div&gt;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class="form-group row"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&lt;label for="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class="col-sm-2"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&gt;Password:&lt;/label&gt;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class="col-sm-10"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&lt;input type="password" id="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class="form-control"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&lt;/div&gt;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A4E8D-87FE-4745-892B-D53AB9672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2862-E75E-4405-8098-12035B5E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BEEDF-1DFE-4484-AA64-7A12AE060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069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64C0-D9E3-4479-9816-88A677AE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Bootstrap CSS classes for working with buttons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F875D-DDF6-4FF0-BE09-FCF127BA5E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-primary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-secondary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-outline-primary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-outline-secondary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Bootstrap CSS classes for working with images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-fluid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rounded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Bootstrap CSS class for creating a jumbotron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Jumbotron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Note: no longer in Bootstrap 5 but easily re-	creatable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6777B-79BE-4D1D-B307-E3B7E1DF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DE9D9-B5C5-4FD4-AA5C-8BC87B80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38F18-1D8B-4F59-93BC-7EF0F0E1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34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A57C-05AF-4665-9A72-20BA41C0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jumbotron, an image, and two buttons</a:t>
            </a:r>
          </a:p>
        </p:txBody>
      </p:sp>
      <p:pic>
        <p:nvPicPr>
          <p:cNvPr id="7" name="Content Placeholder 6" descr="Refer to page 97 in textbook ">
            <a:extLst>
              <a:ext uri="{FF2B5EF4-FFF2-40B4-BE49-F238E27FC236}">
                <a16:creationId xmlns:a16="http://schemas.microsoft.com/office/drawing/2014/main" id="{1A9A80B4-B07C-4768-86EB-12FE2846576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73488" y="1219200"/>
            <a:ext cx="6651312" cy="268856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725D3-0CF4-45EE-A940-2745429C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44638-19E4-4955-AD44-0AD270F3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DD284-9BD4-46EF-801A-0E1EE296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090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6B64-16EC-4AE4-9E74-0FB0FBD9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HTML for the jumbotron, image, and buttons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86C3E-37FE-400F-A0E0-4BB1FD874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class="container"&gt;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&lt;header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class="jumbotron"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id="logo" alt="Murach logo"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="~/images/MurachLogo.jpg"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-fluid rounded"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&lt;/header&gt;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&lt;main&gt;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&lt;form asp-action="Index" method="post"&gt;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&lt;span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class="mr-2"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&gt;I accept the terms for this site: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&lt;/span&gt;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&lt;button type="submit"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class="btn btn-primary"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Yes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&lt;button id="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btnNo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class="btn btn-outline-secondary"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No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&lt;/form&gt;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&lt;/main&gt;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81723-C713-47D3-8ADB-00CBFC4B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B9384-8017-4B52-A090-109EC2ABB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0FBF8-FA97-4B11-9CF6-9C11916D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404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4F78-AE81-44C0-9FFC-08EBB3BD8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Bootstrap CSS classes for working with margins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8746B-DD1F-4DAE-92EA-A0061EFE5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mt-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Bootstrap CSS classes for working with padding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pb-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FD906-0B2A-4DD1-8A54-FE03453F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BDB4F-D788-4FA9-8974-62999CEF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7312F-10CE-4DAD-9CEA-4F1CB104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811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1657-95DC-4F7F-B2E7-FA0186CA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Some elements that use margins and padding</a:t>
            </a:r>
          </a:p>
        </p:txBody>
      </p:sp>
      <p:pic>
        <p:nvPicPr>
          <p:cNvPr id="7" name="Content Placeholder 6" descr="Refer to page 99 in textbook ">
            <a:extLst>
              <a:ext uri="{FF2B5EF4-FFF2-40B4-BE49-F238E27FC236}">
                <a16:creationId xmlns:a16="http://schemas.microsoft.com/office/drawing/2014/main" id="{40C6C6D6-F999-4F0E-BD7D-6229A07081D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85971" y="1143000"/>
            <a:ext cx="6572058" cy="28653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70758-AF50-43E5-9388-8BECDCF3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F72E4-DDD4-4BB5-9A5D-0B08C7E3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C89E2-15A9-4F6E-9EDB-4F696507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643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98EB-56E7-4004-B077-F8DEACD3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HTML for the elements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439D3-5DDE-43FE-9F1E-4C492272B0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class="container"&gt;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&lt;header class="jumbotron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mt-2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id="logo" alt="Murach logo"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="~/images/MurachLogo.jpg"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class="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-fluid rounded" /&gt;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&lt;/header&gt;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&lt;main&gt;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&lt;form asp-action="Index" method="post"&gt;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&lt;span class="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mr-2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I accept the terms for this site: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&lt;/span&gt;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&lt;button type="submit"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class="btn btn-primary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p-3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mr-2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"&gt;Yes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&lt;button id="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btnNo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class="btn btn-outline-secondary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p-3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"&gt;No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&lt;/form&gt;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&lt;/main&gt;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D93E7-AD70-49C4-BF2D-44396DBBB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3E5E6-EB25-4C79-8252-044753E2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82E7F-9FFA-459B-8853-75A566A3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333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8A3BE-87E3-4CFD-9195-26A078528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code for the Index view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060B7-D9C6-4B5E-8B5D-566FBA931B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@model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FutureValueModel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@{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ViewBag.Title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"Future Value Calculator";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class="container"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&lt;header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class="jumbotron"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id="logo" alt="Murach logo"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="~/images/MurachLogo.jpg"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-responsive rounded"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&lt;h1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class="mt-3"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&gt;@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ViewBag.Title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&lt;/h1&gt;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&lt;/header&gt;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&lt;main&gt;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&lt;form asp-action="Index" method="post"&gt;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class="row form-group"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asp-for="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MonthlyInvestment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class="col-sm-3"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&gt;Monthly Investment: &lt;/label&gt;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class="col-sm-3"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&lt;input asp-for="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MonthlyInvestment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class="form-control"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&lt;/div&gt;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&lt;span asp-validation-for="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MonthlyInvestment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 text-danger"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&gt;&lt;/span&gt;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01401-6FC4-4BEB-9FB2-9721AD7A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5A93-E0E2-433A-839B-98C8C1C3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C73DE-391A-463F-BBE8-BC030435E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040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DCB7-DC0F-401D-82C3-03D30FBB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code for the Index view (part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0DC3D-4EEB-43E3-93D0-5F06B2195D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990600"/>
            <a:ext cx="7391400" cy="48768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class="row form-group"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asp-for="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YearlyInterestRate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class="col-sm-3"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&gt;Yearly Interest Rate: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&lt;/label&gt;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class="col-sm-3"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&lt;input asp-for="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YearlyInterestRate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class="form-control"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&lt;/div&gt;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&lt;span asp-validation-for="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YearlyInterestRate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 text-danger"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&gt;&lt;/span&gt;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class="row form-group"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asp-for="Years"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class="col-sm-3"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Number of Years: &lt;/label&gt;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class="col-sm-3"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&lt;input asp-for="Years"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class="form-control"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&lt;/div&gt;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&lt;span asp-validation-for="Years"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 text-danger"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&gt;&lt;/span&gt;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7BEB4-A3ED-4E22-AC86-E863B8DF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05688-6E3D-4DDE-B5F6-811E9985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89C58-7D77-473F-9AC5-3B3305FD1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802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A524-E05B-40F8-AE54-914F33309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code for the Index view (part 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64E23-D250-4FE2-91F1-AE0F7BCE77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class="row form-group"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&lt;label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class="col-sm-3"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&gt;Future Value:&lt;/label&gt;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class="col-sm-3"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&lt;input value="@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ViewBag.FutureValue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class="form-control"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&lt;/div&gt;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class="row form-group"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class="col offset-sm-3"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&lt;button type="submit"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-primary"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Calculate&lt;/button&gt;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&lt;a asp-action="Index"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class="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-outline-secondary"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&gt;Clear&lt;/a&gt;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&lt;/div&gt;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  <a:p>
            <a:pPr>
              <a:spcBef>
                <a:spcPts val="0"/>
              </a:spcBef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&lt;/form&gt;</a:t>
            </a:r>
          </a:p>
          <a:p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&lt;/main&gt;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E81AB-074F-4C3C-8A7D-AD1699A8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4C472-3ECB-4BE6-BC19-DE1936C2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D989C-D701-462A-A782-419B559D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960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EF3B-492B-453D-90BD-BA4F5150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CSS classes for working with HTML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DAD23-F604-4F34-85E2-7320BC4F0F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table-bordered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table-striped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table-hover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table-responsive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1F03-94E0-4F45-8464-1F787FD7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84284-6959-442D-ADF7-FD6CE3CC1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FF124-EEE5-45DC-949C-0D052ABE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626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0484-9FDC-40F1-B0B6-ACB9BA8C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table with default styling</a:t>
            </a:r>
          </a:p>
        </p:txBody>
      </p:sp>
      <p:pic>
        <p:nvPicPr>
          <p:cNvPr id="7" name="Content Placeholder 6" descr="Refer to page 103 in textbook ">
            <a:extLst>
              <a:ext uri="{FF2B5EF4-FFF2-40B4-BE49-F238E27FC236}">
                <a16:creationId xmlns:a16="http://schemas.microsoft.com/office/drawing/2014/main" id="{B3709124-6742-4AAB-9A73-DC082432561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70858" y="1143000"/>
            <a:ext cx="6681795" cy="31458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84E1D-D254-4303-9F23-252914734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71FC4-54C8-40AD-914C-E6CA935C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935B6-CDBD-4B31-9795-FC731450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29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DDBB-3227-4ABF-B80D-37F91E65D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HTML for the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7650D-0705-4B83-9FCD-D54C53696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&lt;table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class="table"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thead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&gt;Department&lt;/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&gt;Phone Number&lt;/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&gt;Extension&lt;/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thead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tbody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&lt;td&gt;General&lt;/td&gt;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&lt;td&gt;555-555-5555&lt;/td&gt;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&lt;td&gt;1&lt;/td&gt;&lt;/tr&gt;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&lt;td&gt;Customer Service&lt;/td&gt;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&lt;td&gt;555-555-5556&lt;/td&gt;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&lt;td&gt;2&lt;/td&gt;&lt;/tr&gt;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&lt;td&gt;Billing and Accounts&lt;/td&gt;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&lt;td&gt;555-555-5557&lt;/td&gt;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&lt;td&gt;3&lt;/td&gt;&lt;/tr&gt;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tbody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4488" indent="-344488"/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&lt;/table&gt;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E06BA-1907-407F-987C-43BA43D1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3FA4D-4651-460A-BD40-0FD4DB67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4C584-D709-40D1-845B-FB61F92B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979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C02A-A0A7-4CB2-898C-B8E02979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table with alternating stripes and borders</a:t>
            </a:r>
          </a:p>
        </p:txBody>
      </p:sp>
      <p:pic>
        <p:nvPicPr>
          <p:cNvPr id="9" name="Content Placeholder 8" descr="Refer to page 103 in textbook ">
            <a:extLst>
              <a:ext uri="{FF2B5EF4-FFF2-40B4-BE49-F238E27FC236}">
                <a16:creationId xmlns:a16="http://schemas.microsoft.com/office/drawing/2014/main" id="{0335FBAA-8AA0-493B-AEB8-0EB823F1754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082549"/>
            <a:ext cx="6567880" cy="303225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62B4E-2A2E-4DBC-BCF2-4D31AF1B85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4191000"/>
            <a:ext cx="7543800" cy="457200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table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&lt;table </a:t>
            </a:r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class="table table-striped table-bordered table-hover"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&gt;...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F80BED2-ECB9-4A6B-A5D7-0814DFA8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BA0780-2B31-4796-A3F7-4BD1FAA71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CA1138-77C0-4608-AF97-7F5F4174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958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C170-94A0-47CE-A4B4-49DB483A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Common CSS classes for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267EA-9B7A-4951-8BF9-4DD93F6E0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text-left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text-right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text-center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text-lowercase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text-uppercase 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text-capitalize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4939C-2A8F-4622-B7E5-D3D2380F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2249-BEDC-410A-A1E0-2687AB97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4BC05-1E91-4130-8F1D-977A0A78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224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49F6-0DBE-4215-B91A-D4EA5C63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Some examples of the text CSS classes</a:t>
            </a:r>
          </a:p>
        </p:txBody>
      </p:sp>
      <p:pic>
        <p:nvPicPr>
          <p:cNvPr id="9" name="Content Placeholder 8" descr="Refer to page 105 in textbook ">
            <a:extLst>
              <a:ext uri="{FF2B5EF4-FFF2-40B4-BE49-F238E27FC236}">
                <a16:creationId xmlns:a16="http://schemas.microsoft.com/office/drawing/2014/main" id="{F5152ADA-5552-4105-8AF2-91E7E4F9014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066800"/>
            <a:ext cx="6504996" cy="135952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490A0-1D4E-4B9E-B374-38CB9770BD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590800"/>
            <a:ext cx="7391400" cy="457200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text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&lt;p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class="text-right"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This text is &lt;span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class="text-uppercase"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right-aligned&lt;/span&gt;.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&lt;p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class="text-center"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&lt;span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class="text-capitalize"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&gt;This text is centered.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&lt;/span&gt;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&lt;p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class="text-left"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This text is &lt;span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class="text-lowercase"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LEFT-ALIGNED&lt;/span&gt;.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0EB3E98-CA40-48BC-AD6D-8CB6ECF77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F337D3-84C8-4F4D-8C70-983E2B54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99FEAB-375C-4F16-B48B-30E4F5E0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005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07109-8E0B-4ED6-9D7A-9F13CF5B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context classes available to most elements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581FA-695A-4EDD-B4E0-00745A72A4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400" y="1066800"/>
            <a:ext cx="3505200" cy="4191000"/>
          </a:xfr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lvl="0">
              <a:spcBef>
                <a:spcPts val="900"/>
              </a:spcBef>
              <a:spcAft>
                <a:spcPts val="600"/>
              </a:spcAft>
              <a:tabLst>
                <a:tab pos="1606550" algn="l"/>
                <a:tab pos="2743200" algn="l"/>
                <a:tab pos="2743200" algn="l"/>
              </a:tabLst>
            </a:pPr>
            <a:r>
              <a:rPr lang="en-US" b="1" spc="-1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	Default color</a:t>
            </a:r>
          </a:p>
          <a:p>
            <a:pPr marL="1606550" lvl="0" indent="-1606550">
              <a:spcBef>
                <a:spcPts val="600"/>
              </a:spcBef>
              <a:spcAft>
                <a:spcPts val="600"/>
              </a:spcAft>
              <a:tabLst>
                <a:tab pos="800100" algn="l"/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primary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Dark blue</a:t>
            </a:r>
          </a:p>
          <a:p>
            <a:pPr marL="1606550" lvl="0" indent="-1606550">
              <a:spcBef>
                <a:spcPts val="600"/>
              </a:spcBef>
              <a:spcAft>
                <a:spcPts val="600"/>
              </a:spcAft>
              <a:tabLst>
                <a:tab pos="800100" algn="l"/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secondary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Gray</a:t>
            </a:r>
          </a:p>
          <a:p>
            <a:pPr marL="1606550" lvl="0" indent="-1606550">
              <a:spcBef>
                <a:spcPts val="600"/>
              </a:spcBef>
              <a:spcAft>
                <a:spcPts val="600"/>
              </a:spcAft>
              <a:tabLst>
                <a:tab pos="800100" algn="l"/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success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Green</a:t>
            </a:r>
          </a:p>
          <a:p>
            <a:pPr marL="1606550" lvl="0" indent="-1606550">
              <a:spcBef>
                <a:spcPts val="600"/>
              </a:spcBef>
              <a:spcAft>
                <a:spcPts val="600"/>
              </a:spcAft>
              <a:tabLst>
                <a:tab pos="800100" algn="l"/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info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	Light blue</a:t>
            </a:r>
          </a:p>
          <a:p>
            <a:pPr marL="1606550" lvl="0" indent="-1606550">
              <a:spcBef>
                <a:spcPts val="600"/>
              </a:spcBef>
              <a:spcAft>
                <a:spcPts val="600"/>
              </a:spcAft>
              <a:tabLst>
                <a:tab pos="800100" algn="l"/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warning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Orange</a:t>
            </a:r>
          </a:p>
          <a:p>
            <a:pPr marL="1606550" lvl="0" indent="-1606550">
              <a:spcBef>
                <a:spcPts val="600"/>
              </a:spcBef>
              <a:spcAft>
                <a:spcPts val="600"/>
              </a:spcAft>
              <a:tabLst>
                <a:tab pos="800100" algn="l"/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danger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	Red</a:t>
            </a:r>
          </a:p>
          <a:p>
            <a:pPr marL="1606550" lvl="0" indent="-1606550">
              <a:spcBef>
                <a:spcPts val="600"/>
              </a:spcBef>
              <a:spcAft>
                <a:spcPts val="600"/>
              </a:spcAft>
              <a:tabLst>
                <a:tab pos="800100" algn="l"/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light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	White</a:t>
            </a:r>
          </a:p>
          <a:p>
            <a:pPr marL="1606550" lvl="0" indent="-1606550">
              <a:spcBef>
                <a:spcPts val="600"/>
              </a:spcBef>
              <a:spcAft>
                <a:spcPts val="600"/>
              </a:spcAft>
              <a:tabLst>
                <a:tab pos="800100" algn="l"/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dark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	Gray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1D939-BB7B-4888-8FCD-D6107534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63AAF-4F3C-4B08-BC85-FB84B861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C67F1-3463-4DDE-851E-875FE9E23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368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0C19-02F5-468F-9FEA-954E91C4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context classes applied to buttons</a:t>
            </a:r>
          </a:p>
        </p:txBody>
      </p:sp>
      <p:pic>
        <p:nvPicPr>
          <p:cNvPr id="10" name="Content Placeholder 9" descr="Refer to page 107 in textbook ">
            <a:extLst>
              <a:ext uri="{FF2B5EF4-FFF2-40B4-BE49-F238E27FC236}">
                <a16:creationId xmlns:a16="http://schemas.microsoft.com/office/drawing/2014/main" id="{82F5F133-5C10-46F3-9D66-E1737A7B63E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21957" y="1143000"/>
            <a:ext cx="6700085" cy="865707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B4DFF83-8245-4B83-8AB5-2E0C3917C1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286000"/>
            <a:ext cx="7391400" cy="457200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buttons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&lt;button class="btn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btn-primary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"&gt;Primary&lt;/button&gt;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&lt;button class="btn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btn-secondary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"&gt;Secondary&lt;/button&gt;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&lt;button class="btn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btn-success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"&gt;Success&lt;/button&gt;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&lt;button class="btn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btn-info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"&gt;Info&lt;/button&gt;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&lt;button class="btn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btn-warning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"&gt;Warning&lt;/button&gt;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&lt;button class="btn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btn-danger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"&gt;Danger&lt;/button&gt;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103781-12E8-4A85-B8BD-3A501844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929312-6EB0-4846-ABD1-4F21BC99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EE7966-4DC2-4B5C-B9F5-22CD17C6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2008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2CC29-31A7-4249-989D-64A95D09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32936"/>
            <a:ext cx="7315200" cy="738664"/>
          </a:xfrm>
        </p:spPr>
        <p:txBody>
          <a:bodyPr/>
          <a:lstStyle/>
          <a:p>
            <a:r>
              <a:rPr lang="en-US" dirty="0"/>
              <a:t>The success class applied to the text </a:t>
            </a:r>
            <a:br>
              <a:rPr lang="en-US" dirty="0"/>
            </a:br>
            <a:r>
              <a:rPr lang="en-US" dirty="0"/>
              <a:t>of an element</a:t>
            </a:r>
          </a:p>
        </p:txBody>
      </p:sp>
      <p:pic>
        <p:nvPicPr>
          <p:cNvPr id="9" name="Content Placeholder 8" descr="Refer to page 107 in textbook ">
            <a:extLst>
              <a:ext uri="{FF2B5EF4-FFF2-40B4-BE49-F238E27FC236}">
                <a16:creationId xmlns:a16="http://schemas.microsoft.com/office/drawing/2014/main" id="{7691C400-1D7D-493B-BBBE-83C7B8F5F19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5861" y="1600200"/>
            <a:ext cx="6712278" cy="56088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96DE4-0B9C-417E-BA33-2CACADC416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438400"/>
            <a:ext cx="7391400" cy="457200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element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&lt;p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class="text-success"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Congratulations! You are now registered.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CFD8BE-FF21-4186-BF49-41DB6A080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FB16F2-2828-4EA3-A33E-F7254A1A8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267F21-5E62-4A40-B631-F3D3973B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108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C4A6-306F-4828-A829-F5B48113D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32936"/>
            <a:ext cx="7315200" cy="738664"/>
          </a:xfrm>
        </p:spPr>
        <p:txBody>
          <a:bodyPr/>
          <a:lstStyle/>
          <a:p>
            <a:r>
              <a:rPr lang="en-US" dirty="0"/>
              <a:t>The warning class applied to the background </a:t>
            </a:r>
            <a:br>
              <a:rPr lang="en-US" dirty="0"/>
            </a:br>
            <a:r>
              <a:rPr lang="en-US" dirty="0"/>
              <a:t>of an element</a:t>
            </a:r>
          </a:p>
        </p:txBody>
      </p:sp>
      <p:pic>
        <p:nvPicPr>
          <p:cNvPr id="8" name="Content Placeholder 7" descr="Refer to page 107 in textbook ">
            <a:extLst>
              <a:ext uri="{FF2B5EF4-FFF2-40B4-BE49-F238E27FC236}">
                <a16:creationId xmlns:a16="http://schemas.microsoft.com/office/drawing/2014/main" id="{EC836039-D506-4BE4-A6FB-04C92E8945A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91475" y="1563556"/>
            <a:ext cx="6761050" cy="79864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9CD47-C5FC-458D-B71A-558EE46D09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667001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element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&lt;p class="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-warning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p-2 rounded"&gt;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Warning! Some required fields are empty.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80195-12AF-4EAE-984A-7423EBF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8BAD3-843A-4EE8-93FF-4DA17B9C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FA7AC-F3DA-4FBE-886B-290AA24F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541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DE3C-2C98-4FD3-9C16-07FDAC905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Common CSS classes for creating button groups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8BC28-540B-4FDF-8AAE-F9BDC7758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btn-group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btn-toolbar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btn-group-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btn-group-vertical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0A9EF-F519-423E-8785-FF8B5F35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8A577-C377-4C8E-8042-1BD6084C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218DD-FBE6-471E-9C51-E77B8D87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676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1F4BC-EA4F-4957-81AA-08B13CBA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basic button group</a:t>
            </a:r>
          </a:p>
        </p:txBody>
      </p:sp>
      <p:pic>
        <p:nvPicPr>
          <p:cNvPr id="8" name="Content Placeholder 7" descr="Refer to page 109 in textbook ">
            <a:extLst>
              <a:ext uri="{FF2B5EF4-FFF2-40B4-BE49-F238E27FC236}">
                <a16:creationId xmlns:a16="http://schemas.microsoft.com/office/drawing/2014/main" id="{7F18F9A0-1AA7-4AB8-8D94-24F7267B1F0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143000"/>
            <a:ext cx="5023539" cy="94496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AD4F6-DEA7-4130-8323-D5092B907C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286000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button group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class="btn-group"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role="group"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aria-label="Button group"&gt;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="/" class="btn btn-outline-primary"&gt;Home&lt;/a&gt;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="/cart" class="btn btn-outline-primary"&gt;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Cart&lt;/a&gt;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="/products" class="btn btn-outline-primary"&gt;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Products&lt;/a&gt;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="/contact-us" class="btn btn-outline-primary"&gt;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Contact Us&lt;/a&gt;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6791E-08F0-40D7-9450-AFA17BF4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32C7F-22AE-4B71-89BA-D57B44EA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023C6-817E-452B-AD6C-B35FB768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89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646D-E4B3-46EE-9A5C-1E225D05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toolbar with two button groups</a:t>
            </a:r>
          </a:p>
        </p:txBody>
      </p:sp>
      <p:pic>
        <p:nvPicPr>
          <p:cNvPr id="8" name="Content Placeholder 7" descr="Refer to page 109 in textbook ">
            <a:extLst>
              <a:ext uri="{FF2B5EF4-FFF2-40B4-BE49-F238E27FC236}">
                <a16:creationId xmlns:a16="http://schemas.microsoft.com/office/drawing/2014/main" id="{F9E811DC-9883-4B6E-AFA1-0E77CF80D71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155114"/>
            <a:ext cx="4950381" cy="90228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8EA79-9604-4CFB-8EA5-91667B9B82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286000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button groups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class="btn-toolbar"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role="toolbar"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aria-label="Toolbar with groups"&gt;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class="btn-group mr-2"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role="group"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aria-label="First group"&gt;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="/" class="btn btn-outline-primary"&gt;Home&lt;/a&gt;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="/Cart" class="btn btn-outline-primary"&gt;Cart&lt;/a&gt;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class="btn-group"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role="group" aria-label="Second group"&gt;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="/products" class="btn btn-outline-primary"&gt;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Products&lt;/a&gt;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="/contact-us" class="btn btn-outline-primary"&gt;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Contact Us&lt;/a&gt;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E690D-EEF1-4EBD-BA04-5610CB74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8E0A6-4EDD-4956-9292-8F7E70D9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277B5-C4A7-4DB1-9267-164E6FE6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488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F497-04E7-4CEE-869A-EF4B71A32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URL for the Font Awesome website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E81C4-1C29-4BC0-BBA8-917D87FCDE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u="sng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https://fontawesome.com/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typical &lt;link&gt; element that enables </a:t>
            </a:r>
            <a:b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Font Awesome icons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&lt;link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="stylesheet"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="https://use.fontawesome.com/releases/v5.8.1/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/all.css"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integrity="sha</a:t>
            </a:r>
            <a:r>
              <a:rPr lang="en-US" sz="1400" b="1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-long-</a:t>
            </a:r>
            <a:r>
              <a:rPr lang="en-US" sz="1400" b="1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hash_code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crossorigin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="anonymous"&gt;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26BAF-754C-4F3A-BD54-A1D1E774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03BC2-7D6F-421C-8496-3CA05189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E6CFF-275D-4DAF-A8A8-99C3BDBC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613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6454-3E80-407A-9F19-18E102D29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button group that includes icons for its buttons</a:t>
            </a:r>
          </a:p>
        </p:txBody>
      </p:sp>
      <p:pic>
        <p:nvPicPr>
          <p:cNvPr id="8" name="Content Placeholder 7" descr="Refer to page 111 in textbook ">
            <a:extLst>
              <a:ext uri="{FF2B5EF4-FFF2-40B4-BE49-F238E27FC236}">
                <a16:creationId xmlns:a16="http://schemas.microsoft.com/office/drawing/2014/main" id="{F38E2112-30B9-4923-B104-E84365331AC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73778" y="1143000"/>
            <a:ext cx="3298222" cy="111566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A1EF5-995D-4618-AE34-5F8819AF65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362200"/>
            <a:ext cx="75438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button group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class="btn-group" role="group"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aria-label="Button group"&gt;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="/" class="btn btn-outline-primary"&gt;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&lt;span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fa-home"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&gt;&lt;/span&gt;&amp;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nbsp;Home&amp;nbsp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="/cart" class="btn btn-outline-primary"&gt;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&lt;span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fa-shopping-cart"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&gt;&lt;/span&gt;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&amp;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nbsp;Cart&amp;nbsp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7259A-71F7-4141-A851-D4ED4EA4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F42B9-A2BC-4B03-9EB9-25327AA2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FE7DD-1C89-4ABD-BD36-11F675F7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3418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D97B-2493-4AFD-89B5-C035D602C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button with a badge</a:t>
            </a:r>
          </a:p>
        </p:txBody>
      </p:sp>
      <p:pic>
        <p:nvPicPr>
          <p:cNvPr id="8" name="Content Placeholder 7" descr="Refer to page 111 in textbook ">
            <a:extLst>
              <a:ext uri="{FF2B5EF4-FFF2-40B4-BE49-F238E27FC236}">
                <a16:creationId xmlns:a16="http://schemas.microsoft.com/office/drawing/2014/main" id="{889D356F-D8EE-4BE6-96A4-E12DBA6C1E0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143000"/>
            <a:ext cx="3676207" cy="120101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C18AF-7050-4A9B-A432-39251EB01C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590800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button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="/cart" class="btn btn-outline-primary"&gt;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&amp;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nbsp;Cart&amp;nbsp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&lt;span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class="badge badge-primary"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&gt;2&lt;/span&gt;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&lt;/a&gt;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BF9D9-8068-432E-ABEA-4DB00D7A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60743-5A73-4CB4-8E00-9F588C54D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04FE0-74A3-412A-BB64-E65EC979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9078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D761-DEE4-42DF-AFE0-8CA313F83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button with an icon and a badge</a:t>
            </a:r>
          </a:p>
        </p:txBody>
      </p:sp>
      <p:pic>
        <p:nvPicPr>
          <p:cNvPr id="8" name="Content Placeholder 7" descr="Refer to page 111 in textbook ">
            <a:extLst>
              <a:ext uri="{FF2B5EF4-FFF2-40B4-BE49-F238E27FC236}">
                <a16:creationId xmlns:a16="http://schemas.microsoft.com/office/drawing/2014/main" id="{747CC192-6703-4462-8F7E-4ED20C6940C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31102" y="1143000"/>
            <a:ext cx="3340898" cy="107908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6E6F1-81DA-400F-BB97-3F1A6DDE71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438400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button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="/cart" class="btn btn-outline-primary"&gt;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&lt;span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fa-shopping-cart"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&lt;/span&gt;&amp;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nbsp;Cart&amp;nbsp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&lt;span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class="badge badge-primary"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&gt;2&lt;/span&gt;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&lt;/a&gt;</a:t>
            </a:r>
          </a:p>
          <a:p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6F2AD-18CC-40CD-9EC5-80B0DE84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416AD-4358-4D2D-8524-956112E1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B06A-AE87-4D25-ACD0-EF437DC4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4303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28F7-E211-4967-9056-89958452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CSS classes for creating button dropdowns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92669-08EC-4DFF-93F6-2DFB394636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dropdown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dropdown-toggle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dropdown-menu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dropdown-item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dropup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HTML5 data attribute </a:t>
            </a:r>
            <a:br>
              <a:rPr lang="en-US" sz="2400" b="1" dirty="0">
                <a:solidFill>
                  <a:srgbClr val="000099"/>
                </a:solidFill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creating button dropdowns</a:t>
            </a:r>
            <a:endParaRPr lang="en-US" sz="2400" b="1" dirty="0">
              <a:solidFill>
                <a:srgbClr val="000099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data-toggle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18998-55BB-4F2E-92F1-9A1AFD8D8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B4B99-354E-4A4D-920A-3450594E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20228-5225-42DF-A669-30F13391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7183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FEED6-16C6-4781-A5A5-9C1D7BC2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button dropdown</a:t>
            </a:r>
          </a:p>
        </p:txBody>
      </p:sp>
      <p:pic>
        <p:nvPicPr>
          <p:cNvPr id="8" name="Content Placeholder 7" descr="Refer to page 113 in textbook ">
            <a:extLst>
              <a:ext uri="{FF2B5EF4-FFF2-40B4-BE49-F238E27FC236}">
                <a16:creationId xmlns:a16="http://schemas.microsoft.com/office/drawing/2014/main" id="{62A5F413-2D7D-43B4-B93A-77639E08697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066800"/>
            <a:ext cx="2475191" cy="18655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48DB5-0F8F-4FE1-9E28-DF1EE38A0D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048000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button dropdown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class="dropdown"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&lt;button type="button" class="btn btn-primary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dropdown-toggle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id="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productsDropdown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data-toggle="dropdown"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aria-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haspopup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="true" aria-expanded="false"&gt;Products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&lt;/button&gt;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class="dropdown-menu"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aria-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labelledby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productsDropdown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&lt;a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class="dropdown-item"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="/product/list/guitars"&gt;Guitars&lt;/a&gt;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&lt;a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class="dropdown-item"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="/product/list/drums"&gt;Drums&lt;/a&gt;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CC11B-65D1-440D-8C6C-E3ED642F9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83BC9-2565-4321-A192-BFA2B4E9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2D93A-B8F4-4516-9F44-605AD52F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61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69F0-259F-43A6-958E-9BC03C9A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Common CSS classes for creating list groups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81040-4AE0-4403-88B5-3BDACB866D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list-group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list-group-item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0A7C5-8C51-4D5C-AC7B-F018F420D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A7492-99E6-484A-BC2B-378611890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BCA2D-0D64-4541-97AD-82E1E451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7531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FD85-885D-404D-99FE-CA89FD09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basic list group</a:t>
            </a:r>
          </a:p>
        </p:txBody>
      </p:sp>
      <p:pic>
        <p:nvPicPr>
          <p:cNvPr id="8" name="Content Placeholder 7" descr="Refer to page 115 in textbook ">
            <a:extLst>
              <a:ext uri="{FF2B5EF4-FFF2-40B4-BE49-F238E27FC236}">
                <a16:creationId xmlns:a16="http://schemas.microsoft.com/office/drawing/2014/main" id="{313DD529-054D-4EE2-8652-A05BE327E35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5488" y="1196242"/>
            <a:ext cx="6633023" cy="225571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3821C-6056-4BEF-94E8-109E14AE93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list group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&lt;ul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class="list-group"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&lt;li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class="list-group-item"</a:t>
            </a:r>
            <a:r>
              <a:rPr lang="en-US" sz="1600" b="1" dirty="0"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&gt;Guitars&lt;/li&gt;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&lt;li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class="list-group-item"</a:t>
            </a:r>
            <a:r>
              <a:rPr lang="en-US" sz="1600" b="1" dirty="0"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&gt;Basses&lt;/li&gt;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&lt;li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class="list-group-item"</a:t>
            </a:r>
            <a:r>
              <a:rPr lang="en-US" sz="1600" b="1" dirty="0"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&gt;Drums&lt;/li&gt;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&lt;/ul&gt;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3FA90-2085-46DF-9E00-A686254A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19DA1-7808-4677-9BAD-93622A88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274D8-499B-4060-B934-AA030F70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4919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7A0F-E89D-4FEA-978A-63C03B29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Another basic list group with an active item</a:t>
            </a:r>
          </a:p>
        </p:txBody>
      </p:sp>
      <p:pic>
        <p:nvPicPr>
          <p:cNvPr id="8" name="Content Placeholder 7" descr="Refer to page 115 in textbook ">
            <a:extLst>
              <a:ext uri="{FF2B5EF4-FFF2-40B4-BE49-F238E27FC236}">
                <a16:creationId xmlns:a16="http://schemas.microsoft.com/office/drawing/2014/main" id="{8E5A7A32-8C26-4405-B87B-9740AF49BAC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84450" y="1143000"/>
            <a:ext cx="6498899" cy="210330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0CF0F-99E9-4FFA-ACA1-3F2C6E64F4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581400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list group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class="list-group"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="/guitars"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class="list-group-item active"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Guitars&lt;/a&gt;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="/basses"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class="list-group-item"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&gt;Basses&lt;/a&gt;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="/drums"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class="list-group-item"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&gt;Drums&lt;/a&gt;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CA40F-B444-4ADB-B1E3-A20E871C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C4E58-3DF0-4EAC-93E7-EA0F8187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07622-AB3A-4E70-953F-C8EE3D19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2659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A59F-14FF-4335-A4C5-3360DE945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Common CSS classes for creating alerts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332A8-FF23-4293-AF60-D6115DB43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alert-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alert-dismissible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alert-link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HTML5 data attribute for creating alerts</a:t>
            </a:r>
            <a:endParaRPr lang="en-US" sz="2400" b="1" dirty="0">
              <a:solidFill>
                <a:srgbClr val="000099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data-dismiss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74193-5BD1-4828-B2D3-BB6317D6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248F-00F8-4F47-8453-01C8F50E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58555-A4B6-4896-BACF-3FD48AAF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7157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52A21-BD31-4934-B342-2FA40DAC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dismissible alert with a link</a:t>
            </a:r>
          </a:p>
        </p:txBody>
      </p:sp>
      <p:pic>
        <p:nvPicPr>
          <p:cNvPr id="8" name="Content Placeholder 7" descr="Refer to page 117 in textbook ">
            <a:extLst>
              <a:ext uri="{FF2B5EF4-FFF2-40B4-BE49-F238E27FC236}">
                <a16:creationId xmlns:a16="http://schemas.microsoft.com/office/drawing/2014/main" id="{25C837EA-7364-4B4C-88D3-EA41AB10984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30174" y="1121589"/>
            <a:ext cx="6407451" cy="85961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2E446-5E59-4A61-8066-9D90B86C14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209801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alert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&lt;div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class="alert alert-success alert-dismissible"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&lt;button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class="close"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data-dismiss="alert"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&amp;times;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Success! 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="#"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class="alert-link"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Learn more&lt;/a&gt;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&lt;/div&gt;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82FC7-D138-419D-B75D-B0C7CFF5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14F0C-B039-4A87-9070-2619D339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3D3ED-C1D2-4078-B9DE-86542648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2230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EC76-3B8B-47E9-BC1E-207EB8E74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Common CSS classes for creating breadcrumbs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261C1-FF09-4B1C-9627-922CD2D07D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breadcrumb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breadcrumb-item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A0797-C847-4D93-93C8-ABC23D881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AD9F-E1C3-4BC7-859E-BB37B725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9B9E2-9079-4F7F-A0B4-470024DC6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2890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8463-E7AD-44A3-82B7-3382648A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breadcrumb with three segments</a:t>
            </a:r>
          </a:p>
        </p:txBody>
      </p:sp>
      <p:pic>
        <p:nvPicPr>
          <p:cNvPr id="8" name="Content Placeholder 7" descr="Refer to page 117 in textbook ">
            <a:extLst>
              <a:ext uri="{FF2B5EF4-FFF2-40B4-BE49-F238E27FC236}">
                <a16:creationId xmlns:a16="http://schemas.microsoft.com/office/drawing/2014/main" id="{87F43336-466D-490B-8613-3C6B8AE27F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81402" y="1164265"/>
            <a:ext cx="6504996" cy="81693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6B79D-7F2E-4F60-A199-69130CA4B2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209800"/>
            <a:ext cx="73914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breadcrumb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&lt;nav aria-label="breadcrumb"&gt;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class="breadcrumb"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&lt;li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class="breadcrumb-item"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="/"&gt;Home&lt;/a&gt;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&lt;/li&gt;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&lt;li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class="breadcrumb-item"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&lt;a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="/Products"&gt;Products&lt;/a&gt;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&lt;/li&gt;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&lt;li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class="breadcrumb-item active"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aria-current="page"&gt;Guitars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&lt;/li&gt;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&lt;/nav&gt;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55FE2-74A4-421D-BAAB-E366E7E6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97A26-DF29-486F-8B16-94DA2B18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5BD5A-F732-4552-884D-D41793AE6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1239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B5FA-E35A-4011-95E0-4CE182F6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Common CSS classes for creating </a:t>
            </a:r>
            <a:r>
              <a:rPr lang="en-US" dirty="0" err="1"/>
              <a:t>navs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9C7B6-6262-45D4-81A3-AECF6DBCD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nav-tabs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nav-pills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nav-item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nav-link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13BEE-E481-448C-AF92-ABEE96484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8B46C-0D8D-43B3-9E64-E96EFCEDC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027F9-617E-4874-B390-6B147B5C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5212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1486-E1AD-4DA4-B65D-8D25B0D8C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Nav links styled as tabs</a:t>
            </a:r>
          </a:p>
        </p:txBody>
      </p:sp>
      <p:pic>
        <p:nvPicPr>
          <p:cNvPr id="8" name="Content Placeholder 7" descr="Refer to page 119 in textbook ">
            <a:extLst>
              <a:ext uri="{FF2B5EF4-FFF2-40B4-BE49-F238E27FC236}">
                <a16:creationId xmlns:a16="http://schemas.microsoft.com/office/drawing/2014/main" id="{E0E8054E-84F8-43F5-A365-EADFD7CCB14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6716" y="1143000"/>
            <a:ext cx="6730567" cy="59746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609DF-2C5F-4249-B824-2A65E01E88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981200"/>
            <a:ext cx="75438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nav links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&lt;nav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 nav-tabs"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class="nav-item nav-link active"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="/"&gt;Home&lt;/a&gt;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class="nav-item nav-link"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="/products"&gt;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Products&lt;/a&gt;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class="nav-item nav-link"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="/cart"&gt;Cart&lt;/a&gt;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&lt;/nav&gt;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C1437-3349-4831-91CF-8C80488F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9E2AD-D0ED-4157-87ED-742924864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23B34-84C6-4C2A-B3ED-2933974B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9441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489F-4FBC-44CC-B81E-EA2C25BA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same nav links styled as pills</a:t>
            </a:r>
          </a:p>
        </p:txBody>
      </p:sp>
      <p:pic>
        <p:nvPicPr>
          <p:cNvPr id="8" name="Content Placeholder 7" descr="Refer to page 119 in textbook ">
            <a:extLst>
              <a:ext uri="{FF2B5EF4-FFF2-40B4-BE49-F238E27FC236}">
                <a16:creationId xmlns:a16="http://schemas.microsoft.com/office/drawing/2014/main" id="{99627DB3-B347-4F18-ABA4-D4F68339305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6344" y="1143000"/>
            <a:ext cx="6651312" cy="57307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ED3EA-CF0B-42F9-9C9F-CE57B8EC81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981200"/>
            <a:ext cx="7543800" cy="2209799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HTML for the nav links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&lt;nav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 nav-pills"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class="nav-item nav-link active"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="/"&gt;Home&lt;/a&gt;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class="nav-item nav-link"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="/products"&gt;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Products&lt;/a&gt;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class="nav-item nav-link"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="/cart"&gt;Cart&lt;/a&gt;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&lt;/nav&gt;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CCE9D-6009-4EC3-827B-651247237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523AE-14D3-4CEC-904F-ADC5C153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AD0B3-B3EE-419F-849F-E1E3AB7A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2324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7B13-340A-4793-9A37-2E222597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more verbose way of coding the same nav links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876B2-25A6-4A94-8A25-D775BF293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&lt;ul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 nav-pills"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&lt;li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class="nav-item"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class="nav-link active"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="/"&gt;Home&lt;/a&gt;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&lt;/li&gt;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&lt;li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class="nav-item"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class="nav-link"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="/products"&gt;Products&lt;/a&gt;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&lt;/li&gt;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&lt;li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class="nav-item"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class="nav-link"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="/cart"&gt;Cart&lt;/a&gt;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&lt;/li&gt;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&lt;/ul&gt;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9378A-E2A7-40DF-82BF-E4E0D5DD6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14CE3-5FF4-4E07-9AB6-626A0BA15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1EFB-1A52-4B89-88F4-9391E4B8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671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7268-4C58-4E7B-98AA-88CE452F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Common CSS classes for creating navbars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0DE5A-DE63-47B1-B89C-BC150391E7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navbar-expand-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light-or-dark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navbar-brand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navbar-toggler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navbar-collapse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collapse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navbar-nav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navbar-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alignment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HTML5 data attributes for creating navbars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data-toggle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data-target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A25C4-792C-487E-A5AC-ACA4B7BF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9F0EC-7902-4E66-826C-EA79D395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28B8B-946A-4E66-8DBF-E433E0C5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7749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CC2F-1DB5-413E-A33A-15D7BA56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navbar expanded on a wide screen</a:t>
            </a:r>
          </a:p>
        </p:txBody>
      </p:sp>
      <p:pic>
        <p:nvPicPr>
          <p:cNvPr id="9" name="Content Placeholder 8" descr="Refer to page 121 in textbook ">
            <a:extLst>
              <a:ext uri="{FF2B5EF4-FFF2-40B4-BE49-F238E27FC236}">
                <a16:creationId xmlns:a16="http://schemas.microsoft.com/office/drawing/2014/main" id="{57009892-AA31-4EF0-BE32-89B73E8E2ED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125099"/>
            <a:ext cx="7239000" cy="7037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004A1-2FB6-486E-AA2B-308095BF2B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981200"/>
            <a:ext cx="7391400" cy="457200"/>
          </a:xfrm>
        </p:spPr>
        <p:txBody>
          <a:bodyPr/>
          <a:lstStyle/>
          <a:p>
            <a:r>
              <a:rPr lang="en-US" dirty="0"/>
              <a:t>A navbar expanded on a small screen</a:t>
            </a:r>
          </a:p>
        </p:txBody>
      </p:sp>
      <p:pic>
        <p:nvPicPr>
          <p:cNvPr id="10" name="Content Placeholder 9" descr="Refer to page 121 in textbook ">
            <a:extLst>
              <a:ext uri="{FF2B5EF4-FFF2-40B4-BE49-F238E27FC236}">
                <a16:creationId xmlns:a16="http://schemas.microsoft.com/office/drawing/2014/main" id="{58E1510B-B803-4148-A72E-0BCEC94FA57F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949568" y="2514600"/>
            <a:ext cx="4507590" cy="67189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8C00FA-6EBF-43E2-8B92-646AD5AD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56028E-9C32-4DEF-89EE-FC37608F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DAF5D7-4675-4E97-98E4-3651D17C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4117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23B7F-F322-4652-88DB-48CCD331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HTML for the navbar (part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78F1A-A954-4DF4-BDE2-9290D6ABD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543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&lt;nav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class="navbar navbar-expand-md navbar-dark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-primary"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&lt;a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class="navbar-brand"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="/"&gt;My Guitar Shop&lt;/a&gt;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&lt;button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class="navbar-toggler"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type="button"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data-toggle="collapse"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data-target="#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navbarSupportedContent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aria-controls="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navbarSupportedContent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aria-expanded="false"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aria-label="Toggle navigation"&gt;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&lt;span class="navbar-toggler-icon"&gt;&lt;/span&gt;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&lt;/button&gt;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&lt;nav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class="collapse navbar-collapse"</a:t>
            </a:r>
            <a:endParaRPr lang="en-US" sz="14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id="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navbarSupportedContent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class="navbar-nav </a:t>
            </a:r>
            <a:r>
              <a:rPr lang="en-US" sz="14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-auto"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&lt;a class="nav-item nav-link active"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="/"&gt;Home&lt;/a&gt;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&lt;a class="nav-item nav-link"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="/products"&gt;Products&lt;/a&gt;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&lt;a class="nav-item nav-link"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="/about"&gt;About&lt;/a&gt;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&lt;/div&gt;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80D27-CC76-404A-AED2-A3E0D030D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44C5A-17FF-4DDE-A333-5EB244A3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EEF09-B3BC-4F84-AC95-48692D42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7315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DEED-445B-4C40-AC3B-7554EA9A9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HTML for the navbar (part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E60C6-32D0-40AD-9132-6FFE7F1057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2065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&lt;div </a:t>
            </a:r>
            <a:r>
              <a:rPr lang="en-US" sz="14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class="navbar-nav navbar-right"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&lt;a class="nav-item nav-link"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="/cart"&gt;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&lt;span class="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fa-shopping-cart"&gt;&lt;/span&gt;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&amp;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nbsp;Cart&amp;nbsp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&lt;span class="badge badge-primary"&gt;2&lt;/span&gt;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&lt;/a&gt;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&lt;/nav&gt;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&lt;/nav&gt;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F3EE2-8E9D-44B8-832C-E3971D49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7A983-86AA-451C-B76F-0677FD6E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40538-24A0-4B52-91F1-B20479CA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3657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D72D-3F97-4A49-961C-8B012EB4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More CSS classes for positioning navbars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A3031-C4C1-4835-B07F-75C3EFD9A1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fixed-top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fixed-bottom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A9515-ED68-460E-96FD-4E67DF55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A3CD5-D72F-4DA5-8B9C-B3024BAD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3BA11-4D14-4DEF-BCC2-6CF6BFA6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952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5D86-0E93-4373-B2DF-CE8A564B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navbar that’s fixed at the top of the screen</a:t>
            </a:r>
          </a:p>
        </p:txBody>
      </p:sp>
      <p:pic>
        <p:nvPicPr>
          <p:cNvPr id="7" name="Content Placeholder 6" descr="Refer to page 123 in textbook ">
            <a:extLst>
              <a:ext uri="{FF2B5EF4-FFF2-40B4-BE49-F238E27FC236}">
                <a16:creationId xmlns:a16="http://schemas.microsoft.com/office/drawing/2014/main" id="{2C44A3E9-AFFE-4C7E-8D1A-75B2FE9B53B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143000"/>
            <a:ext cx="7242676" cy="195088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09E4D-540B-47DF-82F5-1B00FD04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2BF48-F99E-4ABF-AE1A-7BB01BDF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68E99-38AD-4942-A40A-A006E8AAA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7900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2514-EB32-4271-A30A-07C7070D8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The HTML that displays the navbar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BCE70-AA87-4230-9F04-596F415804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&lt;nav class="navbar navbar-expand-md navbar-dark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-primary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fixed-top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&lt;!-- navbar items go here --&gt;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&lt;/nav&gt;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&lt;div class="container"&gt;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&lt;!-- container items go here --&gt;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CSS that sets the top margin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 {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margin-top: 70px;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5AA1-4E42-489D-B791-A49A02AE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01BC1-3C49-4067-B682-8DA92F6C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E54B6-F539-461A-9F63-0F696D09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2117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EE473-53A7-4F00-8DC9-232EED7C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lang="en-US" dirty="0"/>
              <a:t>A navbar that’s fixed at the bottom of the screen</a:t>
            </a:r>
          </a:p>
        </p:txBody>
      </p:sp>
      <p:pic>
        <p:nvPicPr>
          <p:cNvPr id="7" name="Content Placeholder 6" descr="Refer to page 123 in textbook ">
            <a:extLst>
              <a:ext uri="{FF2B5EF4-FFF2-40B4-BE49-F238E27FC236}">
                <a16:creationId xmlns:a16="http://schemas.microsoft.com/office/drawing/2014/main" id="{F190AB99-BC41-4300-AF32-2F55DC91155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155114"/>
            <a:ext cx="7218290" cy="90228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D757E-E48A-4DFD-A26E-3BF545A7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ASP.NET Core MVC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8194F-7FA1-4851-B1D9-9BF416FF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C223C-5829-4946-AFE8-012A7469E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583517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2CBF0C51-FCA5-4921-B1FD-7B105874AA55}" vid="{F55EC80B-EFC3-4E89-A5C8-7694F95B6FD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705</TotalTime>
  <Words>5286</Words>
  <Application>Microsoft Office PowerPoint</Application>
  <PresentationFormat>On-screen Show (4:3)</PresentationFormat>
  <Paragraphs>861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Arial Narrow</vt:lpstr>
      <vt:lpstr>Courier New</vt:lpstr>
      <vt:lpstr>Times New Roman</vt:lpstr>
      <vt:lpstr>Master slides_with_titles_logo</vt:lpstr>
      <vt:lpstr>Chapter 3</vt:lpstr>
      <vt:lpstr>The Future Value app in a desktop browser</vt:lpstr>
      <vt:lpstr>The Future Value app in a tablet browser</vt:lpstr>
      <vt:lpstr>The Future Value app in a phone browser</vt:lpstr>
      <vt:lpstr>The dialog box for adding the jQuery library</vt:lpstr>
      <vt:lpstr>The dialog box for adding the Bootstrap library</vt:lpstr>
      <vt:lpstr>How to add the Bootstrap and jQuery libraries</vt:lpstr>
      <vt:lpstr>The libman.json file for the client-side libraries</vt:lpstr>
      <vt:lpstr>A Razor layout that pulls in client-side libraries</vt:lpstr>
      <vt:lpstr>An extra directory that may be included  by the MVC template</vt:lpstr>
      <vt:lpstr>The URL for the Bootstrap documentation</vt:lpstr>
      <vt:lpstr>Two columns that are automatically sized</vt:lpstr>
      <vt:lpstr>The HTML for a sample grid</vt:lpstr>
      <vt:lpstr>Custom CSS classes that override  the Bootstrap CSS classes</vt:lpstr>
      <vt:lpstr>The Bootstrap grid on a medium (or larger) screen</vt:lpstr>
      <vt:lpstr>The Bootstrap grid on a small screen</vt:lpstr>
      <vt:lpstr>The Bootstrap grid on an extra small screen</vt:lpstr>
      <vt:lpstr>Two Bootstrap CSS classes for forms</vt:lpstr>
      <vt:lpstr>A form with two text boxes in vertical layout</vt:lpstr>
      <vt:lpstr>The HTML for the form in vertical layout</vt:lpstr>
      <vt:lpstr>A form with two text boxes in horizontal layout</vt:lpstr>
      <vt:lpstr>The HTML for the form in horizontal layout</vt:lpstr>
      <vt:lpstr>Bootstrap CSS classes for working with buttons</vt:lpstr>
      <vt:lpstr>A jumbotron, an image, and two buttons</vt:lpstr>
      <vt:lpstr>The HTML for the jumbotron, image, and buttons</vt:lpstr>
      <vt:lpstr>Bootstrap CSS classes for working with margins</vt:lpstr>
      <vt:lpstr>Some elements that use margins and padding</vt:lpstr>
      <vt:lpstr>The HTML for the elements</vt:lpstr>
      <vt:lpstr>The code for the Index view (part 1)</vt:lpstr>
      <vt:lpstr>The code for the Index view (part 2)</vt:lpstr>
      <vt:lpstr>The code for the Index view (part 3)</vt:lpstr>
      <vt:lpstr>CSS classes for working with HTML tables</vt:lpstr>
      <vt:lpstr>A table with default styling</vt:lpstr>
      <vt:lpstr>The HTML for the table</vt:lpstr>
      <vt:lpstr>A table with alternating stripes and borders</vt:lpstr>
      <vt:lpstr>Common CSS classes for text</vt:lpstr>
      <vt:lpstr>Some examples of the text CSS classes</vt:lpstr>
      <vt:lpstr>The context classes available to most elements</vt:lpstr>
      <vt:lpstr>Some of the context classes applied to buttons</vt:lpstr>
      <vt:lpstr>The success class applied to the text  of an element</vt:lpstr>
      <vt:lpstr>The warning class applied to the background  of an element</vt:lpstr>
      <vt:lpstr>Common CSS classes for creating button groups</vt:lpstr>
      <vt:lpstr>A basic button group</vt:lpstr>
      <vt:lpstr>A toolbar with two button groups</vt:lpstr>
      <vt:lpstr>The URL for the Font Awesome website</vt:lpstr>
      <vt:lpstr>A button group that includes icons for its buttons</vt:lpstr>
      <vt:lpstr>A button with a badge</vt:lpstr>
      <vt:lpstr>A button with an icon and a badge</vt:lpstr>
      <vt:lpstr>CSS classes for creating button dropdowns</vt:lpstr>
      <vt:lpstr>A button dropdown</vt:lpstr>
      <vt:lpstr>Common CSS classes for creating list groups</vt:lpstr>
      <vt:lpstr>A basic list group</vt:lpstr>
      <vt:lpstr>Another basic list group with an active item</vt:lpstr>
      <vt:lpstr>Common CSS classes for creating alerts</vt:lpstr>
      <vt:lpstr>A dismissible alert with a link</vt:lpstr>
      <vt:lpstr>Common CSS classes for creating breadcrumbs</vt:lpstr>
      <vt:lpstr>A breadcrumb with three segments</vt:lpstr>
      <vt:lpstr>Common CSS classes for creating navs</vt:lpstr>
      <vt:lpstr>Nav links styled as tabs</vt:lpstr>
      <vt:lpstr>The same nav links styled as pills</vt:lpstr>
      <vt:lpstr>A more verbose way of coding the same nav links</vt:lpstr>
      <vt:lpstr>Common CSS classes for creating navbars</vt:lpstr>
      <vt:lpstr>A navbar expanded on a wide screen</vt:lpstr>
      <vt:lpstr>The HTML for the navbar (part 1)</vt:lpstr>
      <vt:lpstr>The HTML for the navbar (part 2)</vt:lpstr>
      <vt:lpstr>More CSS classes for positioning navbars</vt:lpstr>
      <vt:lpstr>A navbar that’s fixed at the top of the screen</vt:lpstr>
      <vt:lpstr>The HTML that displays the navbar</vt:lpstr>
      <vt:lpstr>A navbar that’s fixed at the bottom of the screen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creator>Bethany Cabrera</dc:creator>
  <cp:lastModifiedBy>Peter Madziak</cp:lastModifiedBy>
  <cp:revision>45</cp:revision>
  <cp:lastPrinted>2016-01-14T23:03:16Z</cp:lastPrinted>
  <dcterms:created xsi:type="dcterms:W3CDTF">2019-12-11T19:01:25Z</dcterms:created>
  <dcterms:modified xsi:type="dcterms:W3CDTF">2022-08-23T17:18:34Z</dcterms:modified>
</cp:coreProperties>
</file>