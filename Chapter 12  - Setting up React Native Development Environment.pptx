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355" r:id="rId3"/>
    <p:sldId id="356" r:id="rId4"/>
    <p:sldId id="357" r:id="rId5"/>
    <p:sldId id="358" r:id="rId6"/>
    <p:sldId id="359" r:id="rId7"/>
    <p:sldId id="360" r:id="rId8"/>
    <p:sldId id="361" r:id="rId9"/>
    <p:sldId id="362" r:id="rId10"/>
    <p:sldId id="363" r:id="rId11"/>
    <p:sldId id="364" r:id="rId12"/>
    <p:sldId id="366" r:id="rId13"/>
    <p:sldId id="367" r:id="rId14"/>
    <p:sldId id="368" r:id="rId15"/>
    <p:sldId id="369" r:id="rId16"/>
    <p:sldId id="371" r:id="rId17"/>
    <p:sldId id="370" r:id="rId18"/>
    <p:sldId id="372" r:id="rId19"/>
    <p:sldId id="373" r:id="rId20"/>
    <p:sldId id="374" r:id="rId21"/>
    <p:sldId id="375" r:id="rId22"/>
    <p:sldId id="376" r:id="rId23"/>
    <p:sldId id="377" r:id="rId24"/>
    <p:sldId id="378" r:id="rId25"/>
    <p:sldId id="379" r:id="rId26"/>
    <p:sldId id="380" r:id="rId27"/>
    <p:sldId id="381" r:id="rId28"/>
    <p:sldId id="382" r:id="rId29"/>
    <p:sldId id="383" r:id="rId30"/>
    <p:sldId id="384" r:id="rId31"/>
    <p:sldId id="385" r:id="rId32"/>
    <p:sldId id="386" r:id="rId33"/>
    <p:sldId id="390" r:id="rId34"/>
    <p:sldId id="387" r:id="rId35"/>
    <p:sldId id="388" r:id="rId36"/>
    <p:sldId id="389" r:id="rId37"/>
    <p:sldId id="391" r:id="rId38"/>
    <p:sldId id="392" r:id="rId39"/>
    <p:sldId id="393" r:id="rId40"/>
    <p:sldId id="329" r:id="rId41"/>
    <p:sldId id="332" r:id="rId42"/>
    <p:sldId id="333" r:id="rId43"/>
    <p:sldId id="394"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4622" autoAdjust="0"/>
  </p:normalViewPr>
  <p:slideViewPr>
    <p:cSldViewPr snapToGrid="0">
      <p:cViewPr varScale="1">
        <p:scale>
          <a:sx n="105" d="100"/>
          <a:sy n="105" d="100"/>
        </p:scale>
        <p:origin x="996" y="9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178479-941D-4A62-9E39-5A64F4ECB896}" type="datetimeFigureOut">
              <a:rPr lang="en-CA" smtClean="0"/>
              <a:t>2025-05-28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DBD9AF-AE78-435B-BDB7-7959223117C3}" type="slidenum">
              <a:rPr lang="en-CA" smtClean="0"/>
              <a:t>‹#›</a:t>
            </a:fld>
            <a:endParaRPr lang="en-CA"/>
          </a:p>
        </p:txBody>
      </p:sp>
    </p:spTree>
    <p:extLst>
      <p:ext uri="{BB962C8B-B14F-4D97-AF65-F5344CB8AC3E}">
        <p14:creationId xmlns:p14="http://schemas.microsoft.com/office/powerpoint/2010/main" val="1545600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1C531-5DA3-CA2E-FDE9-423D5E7D2E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BE69867-0EE4-F46D-A420-AFB3464CC4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7C71B31-2BF9-5E4A-4D2D-80D4CA617DA8}"/>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5" name="Footer Placeholder 4">
            <a:extLst>
              <a:ext uri="{FF2B5EF4-FFF2-40B4-BE49-F238E27FC236}">
                <a16:creationId xmlns:a16="http://schemas.microsoft.com/office/drawing/2014/main" id="{98DA066D-F2E4-536D-647C-4CD9490E531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2CC2941-F117-DCB5-B980-3163C191361C}"/>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91251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F5FB4-B696-3AD5-980F-7579F1E2365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C54C012-0C7C-F445-841D-D071FE8653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AC13A14-8140-C0CA-521C-7F88074EAE14}"/>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5" name="Footer Placeholder 4">
            <a:extLst>
              <a:ext uri="{FF2B5EF4-FFF2-40B4-BE49-F238E27FC236}">
                <a16:creationId xmlns:a16="http://schemas.microsoft.com/office/drawing/2014/main" id="{FE2B5C35-35E1-D1A7-6EF4-5BB1A86E6D6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5A95859-1A6F-E30F-C996-2A1C4C033391}"/>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1314121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94E5-E431-9270-4F7F-4C129C02D6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40AA0AB-DDD7-14C7-0334-706EFE3298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893A53-3323-52F7-416A-B76D87F2EB86}"/>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5" name="Footer Placeholder 4">
            <a:extLst>
              <a:ext uri="{FF2B5EF4-FFF2-40B4-BE49-F238E27FC236}">
                <a16:creationId xmlns:a16="http://schemas.microsoft.com/office/drawing/2014/main" id="{0784D244-5A8F-8F9B-3FAF-4A43563566B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CD5B4A6-D07D-C7DF-98F0-567512C3D8B2}"/>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528191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389E2-1090-B294-42BF-8FDD2FA2EC5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68A956D-647F-B00F-A95C-133B0A03B8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4518419-7CBA-972A-FBB5-F0128B43D9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E184012-5F5C-1DA6-0544-BA9467EBD908}"/>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6" name="Footer Placeholder 5">
            <a:extLst>
              <a:ext uri="{FF2B5EF4-FFF2-40B4-BE49-F238E27FC236}">
                <a16:creationId xmlns:a16="http://schemas.microsoft.com/office/drawing/2014/main" id="{E135126D-BB2D-0610-0F0E-DBCDE1D58A4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0847C6A-64F2-355B-A1A2-979859AE7B20}"/>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32842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33B65-D86D-817C-C30B-EAB139F3B4D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1CDBCB5-128C-5588-68B3-16924561C5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E041F-FBDD-0B66-7110-C640885F76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76D69943-3E18-1A2C-BA39-5187A14314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4736C1-E465-F3DC-66EA-13FC2F8D59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F64C5BA-C432-C266-5F43-E8EFCF843082}"/>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8" name="Footer Placeholder 7">
            <a:extLst>
              <a:ext uri="{FF2B5EF4-FFF2-40B4-BE49-F238E27FC236}">
                <a16:creationId xmlns:a16="http://schemas.microsoft.com/office/drawing/2014/main" id="{6D761B18-8DAB-8E5C-2910-BEDB174FB6C5}"/>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6D96C07-9C4A-5762-3268-B66AC76D9A21}"/>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753435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4F076-C11E-1A79-45A4-FDD4933C4C7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90B0088C-46DF-3E79-33D9-41ED0CCB77E4}"/>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4" name="Footer Placeholder 3">
            <a:extLst>
              <a:ext uri="{FF2B5EF4-FFF2-40B4-BE49-F238E27FC236}">
                <a16:creationId xmlns:a16="http://schemas.microsoft.com/office/drawing/2014/main" id="{0F2D5FD7-6F7F-4F4D-6267-81BAB448430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BD0B0193-289E-7816-8710-D7ED27EDCB55}"/>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2481625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1913A-8787-A1DF-04EE-45ECA336E5E2}"/>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3" name="Footer Placeholder 2">
            <a:extLst>
              <a:ext uri="{FF2B5EF4-FFF2-40B4-BE49-F238E27FC236}">
                <a16:creationId xmlns:a16="http://schemas.microsoft.com/office/drawing/2014/main" id="{D256EE3E-91E9-42B6-AC8E-2C1FA1DF6083}"/>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CAF5E219-A388-0D10-B8CF-12DD0F4C36F1}"/>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3043996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F54CD-BEB8-B785-9B61-6F1C93632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08D01BA-190D-F0A1-2AC0-C18B1C8B0B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70D6B88-030E-B3A8-9401-F5795883B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21D7C7-B80D-1116-4045-03C0DE994A24}"/>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6" name="Footer Placeholder 5">
            <a:extLst>
              <a:ext uri="{FF2B5EF4-FFF2-40B4-BE49-F238E27FC236}">
                <a16:creationId xmlns:a16="http://schemas.microsoft.com/office/drawing/2014/main" id="{AD7ED88A-9B8F-CEC0-3906-9D83D93B127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3F6B21F-0C4D-EA06-3CA7-6C291B2126E3}"/>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1772941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822D4-85E8-3420-AA55-3B69BD0D6B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AB90BCF-A676-EEEC-2F4A-01AA0A8AB1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B99D43C-5C17-5EE9-CD0B-065D0213F1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0899D4-20D4-0001-A420-FB3EA8CC1630}"/>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6" name="Footer Placeholder 5">
            <a:extLst>
              <a:ext uri="{FF2B5EF4-FFF2-40B4-BE49-F238E27FC236}">
                <a16:creationId xmlns:a16="http://schemas.microsoft.com/office/drawing/2014/main" id="{A5C32237-479A-D1E9-E512-B01A3424A2F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6602209-632A-39F3-5CF5-E0AC1DF63804}"/>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137854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36728-B6B5-0441-636E-088BA8454A5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27BBDCC-9B35-4FAB-E7FA-6041C34D22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2699C2E-8E9C-BFAA-263A-F2BC4A2CC4DB}"/>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5" name="Footer Placeholder 4">
            <a:extLst>
              <a:ext uri="{FF2B5EF4-FFF2-40B4-BE49-F238E27FC236}">
                <a16:creationId xmlns:a16="http://schemas.microsoft.com/office/drawing/2014/main" id="{96D99F91-28A5-9A44-5423-C4D2ABAD0BC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FF8EEBB-5BED-884B-64D1-529B9DC492D4}"/>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4171509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0E35CB-34BE-0A02-972C-361EADC9E3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E5DA809-A71E-8438-C492-6411E7E45A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93D1EC1-7F6A-41D8-53F5-9462EAC94F73}"/>
              </a:ext>
            </a:extLst>
          </p:cNvPr>
          <p:cNvSpPr>
            <a:spLocks noGrp="1"/>
          </p:cNvSpPr>
          <p:nvPr>
            <p:ph type="dt" sz="half" idx="10"/>
          </p:nvPr>
        </p:nvSpPr>
        <p:spPr/>
        <p:txBody>
          <a:bodyPr/>
          <a:lstStyle/>
          <a:p>
            <a:fld id="{50FDC52B-C376-4889-8A2B-994EE086F39A}" type="datetimeFigureOut">
              <a:rPr lang="en-CA" smtClean="0"/>
              <a:t>2025-05-28</a:t>
            </a:fld>
            <a:endParaRPr lang="en-CA"/>
          </a:p>
        </p:txBody>
      </p:sp>
      <p:sp>
        <p:nvSpPr>
          <p:cNvPr id="5" name="Footer Placeholder 4">
            <a:extLst>
              <a:ext uri="{FF2B5EF4-FFF2-40B4-BE49-F238E27FC236}">
                <a16:creationId xmlns:a16="http://schemas.microsoft.com/office/drawing/2014/main" id="{589848E6-B4C7-CA70-5A09-90B6A084333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7924F59-C009-8E60-AB62-CCA8610A3129}"/>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2835503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0F1B85-09E1-1EBD-F407-DF611541A8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EFADCE8-1B00-82ED-0DBA-FDD05DA474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44DDB2F-3779-C5CE-1272-869B5D1762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FDC52B-C376-4889-8A2B-994EE086F39A}" type="datetimeFigureOut">
              <a:rPr lang="en-CA" smtClean="0"/>
              <a:t>2025-05-28</a:t>
            </a:fld>
            <a:endParaRPr lang="en-CA"/>
          </a:p>
        </p:txBody>
      </p:sp>
      <p:sp>
        <p:nvSpPr>
          <p:cNvPr id="5" name="Footer Placeholder 4">
            <a:extLst>
              <a:ext uri="{FF2B5EF4-FFF2-40B4-BE49-F238E27FC236}">
                <a16:creationId xmlns:a16="http://schemas.microsoft.com/office/drawing/2014/main" id="{06A152EC-494E-A05B-6D9E-5A9D2DF5F0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71587490-54F8-2973-AFB0-E1DDC69BF4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4D58FD-F4A6-43A9-A5E7-46B876E800CD}" type="slidenum">
              <a:rPr lang="en-CA" smtClean="0"/>
              <a:t>‹#›</a:t>
            </a:fld>
            <a:endParaRPr lang="en-CA"/>
          </a:p>
        </p:txBody>
      </p:sp>
    </p:spTree>
    <p:extLst>
      <p:ext uri="{BB962C8B-B14F-4D97-AF65-F5344CB8AC3E}">
        <p14:creationId xmlns:p14="http://schemas.microsoft.com/office/powerpoint/2010/main" val="252655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oracle.com/java/technologies/javase/jdk17-archive-downloads.html"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s://developer.android.com/studio"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hyperlink" Target="https://nodejs.org/en"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92C99E-B598-9BB6-9EB7-61E61B9C4388}"/>
              </a:ext>
            </a:extLst>
          </p:cNvPr>
          <p:cNvPicPr>
            <a:picLocks noChangeAspect="1"/>
          </p:cNvPicPr>
          <p:nvPr/>
        </p:nvPicPr>
        <p:blipFill>
          <a:blip r:embed="rId2"/>
          <a:stretch>
            <a:fillRect/>
          </a:stretch>
        </p:blipFill>
        <p:spPr>
          <a:xfrm>
            <a:off x="0" y="0"/>
            <a:ext cx="12192000" cy="3520440"/>
          </a:xfrm>
          <a:prstGeom prst="rect">
            <a:avLst/>
          </a:prstGeom>
        </p:spPr>
      </p:pic>
      <p:sp>
        <p:nvSpPr>
          <p:cNvPr id="6" name="TextBox 5">
            <a:extLst>
              <a:ext uri="{FF2B5EF4-FFF2-40B4-BE49-F238E27FC236}">
                <a16:creationId xmlns:a16="http://schemas.microsoft.com/office/drawing/2014/main" id="{5C13A407-28A4-4989-473D-53FE733E9671}"/>
              </a:ext>
            </a:extLst>
          </p:cNvPr>
          <p:cNvSpPr txBox="1"/>
          <p:nvPr/>
        </p:nvSpPr>
        <p:spPr>
          <a:xfrm>
            <a:off x="1612490" y="1375499"/>
            <a:ext cx="8967019" cy="1200329"/>
          </a:xfrm>
          <a:prstGeom prst="rect">
            <a:avLst/>
          </a:prstGeom>
          <a:noFill/>
        </p:spPr>
        <p:txBody>
          <a:bodyPr wrap="square" rtlCol="0">
            <a:spAutoFit/>
          </a:bodyPr>
          <a:lstStyle/>
          <a:p>
            <a:pPr algn="ctr"/>
            <a:r>
              <a:rPr lang="en-US" sz="3600" dirty="0">
                <a:solidFill>
                  <a:schemeClr val="bg1"/>
                </a:solidFill>
                <a:effectLst>
                  <a:outerShdw blurRad="38100" dist="38100" dir="2700000" algn="tl">
                    <a:srgbClr val="000000">
                      <a:alpha val="43137"/>
                    </a:srgbClr>
                  </a:outerShdw>
                </a:effectLst>
                <a:latin typeface="Bookman Old Style" panose="02050604050505020204" pitchFamily="18" charset="0"/>
              </a:rPr>
              <a:t>Setting up React Native Development Environment</a:t>
            </a:r>
            <a:endParaRPr lang="en-CA" sz="3600" dirty="0">
              <a:solidFill>
                <a:schemeClr val="bg1"/>
              </a:solidFill>
              <a:effectLst>
                <a:outerShdw blurRad="38100" dist="38100" dir="2700000" algn="tl">
                  <a:srgbClr val="000000">
                    <a:alpha val="43137"/>
                  </a:srgbClr>
                </a:outerShdw>
              </a:effectLst>
              <a:latin typeface="Bookman Old Style" panose="02050604050505020204" pitchFamily="18" charset="0"/>
            </a:endParaRPr>
          </a:p>
        </p:txBody>
      </p:sp>
      <p:sp>
        <p:nvSpPr>
          <p:cNvPr id="2" name="TextBox 1">
            <a:extLst>
              <a:ext uri="{FF2B5EF4-FFF2-40B4-BE49-F238E27FC236}">
                <a16:creationId xmlns:a16="http://schemas.microsoft.com/office/drawing/2014/main" id="{CF54A542-43C2-74E9-2B44-F5386755BEF4}"/>
              </a:ext>
            </a:extLst>
          </p:cNvPr>
          <p:cNvSpPr txBox="1"/>
          <p:nvPr/>
        </p:nvSpPr>
        <p:spPr>
          <a:xfrm>
            <a:off x="169544" y="4354842"/>
            <a:ext cx="11852910" cy="1660326"/>
          </a:xfrm>
          <a:prstGeom prst="rect">
            <a:avLst/>
          </a:prstGeom>
          <a:noFill/>
        </p:spPr>
        <p:txBody>
          <a:bodyPr wrap="square">
            <a:spAutoFit/>
          </a:bodyPr>
          <a:lstStyle/>
          <a:p>
            <a:pPr lvl="1" algn="ctr">
              <a:lnSpc>
                <a:spcPct val="150000"/>
              </a:lnSpc>
            </a:pPr>
            <a:r>
              <a:rPr lang="en-US" sz="3600" dirty="0">
                <a:effectLst>
                  <a:outerShdw blurRad="38100" dist="38100" dir="2700000" algn="tl">
                    <a:srgbClr val="000000">
                      <a:alpha val="43137"/>
                    </a:srgbClr>
                  </a:outerShdw>
                </a:effectLst>
                <a:latin typeface="Bookman Old Style" panose="02050604050505020204" pitchFamily="18" charset="0"/>
              </a:rPr>
              <a:t>Chapter 12 – Setting up React Native Development Environment</a:t>
            </a:r>
          </a:p>
        </p:txBody>
      </p:sp>
    </p:spTree>
    <p:extLst>
      <p:ext uri="{BB962C8B-B14F-4D97-AF65-F5344CB8AC3E}">
        <p14:creationId xmlns:p14="http://schemas.microsoft.com/office/powerpoint/2010/main" val="4244075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B105A-1427-C313-07CB-EEE7D18E7D9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22168D-0A6D-1250-3A35-6540282EC8C5}"/>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B3D6AE6B-5FE5-2443-5DFD-0292029BCDC1}"/>
              </a:ext>
            </a:extLst>
          </p:cNvPr>
          <p:cNvSpPr txBox="1"/>
          <p:nvPr/>
        </p:nvSpPr>
        <p:spPr>
          <a:xfrm>
            <a:off x="162306" y="244655"/>
            <a:ext cx="895426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C9775BA7-A1C8-86E6-A11B-384263C7B3B6}"/>
              </a:ext>
            </a:extLst>
          </p:cNvPr>
          <p:cNvSpPr/>
          <p:nvPr/>
        </p:nvSpPr>
        <p:spPr>
          <a:xfrm>
            <a:off x="-1" y="1221723"/>
            <a:ext cx="7781545"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React Native Development Environment</a:t>
            </a:r>
            <a:endParaRPr lang="en-CA" sz="2200" dirty="0">
              <a:solidFill>
                <a:srgbClr val="FFFF00"/>
              </a:solidFill>
            </a:endParaRPr>
          </a:p>
        </p:txBody>
      </p:sp>
      <p:sp>
        <p:nvSpPr>
          <p:cNvPr id="3" name="TextBox 2">
            <a:extLst>
              <a:ext uri="{FF2B5EF4-FFF2-40B4-BE49-F238E27FC236}">
                <a16:creationId xmlns:a16="http://schemas.microsoft.com/office/drawing/2014/main" id="{3981F601-F0F3-7BB5-7DB7-7A5F6F6BCEED}"/>
              </a:ext>
            </a:extLst>
          </p:cNvPr>
          <p:cNvSpPr txBox="1"/>
          <p:nvPr/>
        </p:nvSpPr>
        <p:spPr>
          <a:xfrm>
            <a:off x="162306" y="1672744"/>
            <a:ext cx="11852910" cy="549291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500" dirty="0">
                <a:effectLst>
                  <a:outerShdw blurRad="38100" dist="38100" dir="2700000" algn="tl">
                    <a:srgbClr val="000000">
                      <a:alpha val="43137"/>
                    </a:srgbClr>
                  </a:outerShdw>
                </a:effectLst>
                <a:latin typeface="Bookman Old Style" panose="02050604050505020204" pitchFamily="18" charset="0"/>
              </a:rPr>
              <a:t>Setting up a React Native development environment involves configuring tools that allow you to build and run mobile applications on Android and iOS</a:t>
            </a:r>
          </a:p>
          <a:p>
            <a:pPr marL="285750" indent="-285750">
              <a:lnSpc>
                <a:spcPct val="150000"/>
              </a:lnSpc>
              <a:buFont typeface="Arial" panose="020B0604020202020204" pitchFamily="34" charset="0"/>
              <a:buChar char="•"/>
            </a:pPr>
            <a:r>
              <a:rPr lang="en-US" sz="1500" dirty="0">
                <a:effectLst>
                  <a:outerShdw blurRad="38100" dist="38100" dir="2700000" algn="tl">
                    <a:srgbClr val="000000">
                      <a:alpha val="43137"/>
                    </a:srgbClr>
                  </a:outerShdw>
                </a:effectLst>
                <a:latin typeface="Bookman Old Style" panose="02050604050505020204" pitchFamily="18" charset="0"/>
              </a:rPr>
              <a:t>React Native provides a framework for creating mobile apps using TypeScript and React, enabling developers to build cross-platform applications efficiently</a:t>
            </a:r>
          </a:p>
          <a:p>
            <a:pPr marL="285750" indent="-285750">
              <a:lnSpc>
                <a:spcPct val="150000"/>
              </a:lnSpc>
              <a:buFont typeface="Arial" panose="020B0604020202020204" pitchFamily="34" charset="0"/>
              <a:buChar char="•"/>
            </a:pPr>
            <a:r>
              <a:rPr lang="en-US" sz="1500" dirty="0">
                <a:effectLst>
                  <a:outerShdw blurRad="38100" dist="38100" dir="2700000" algn="tl">
                    <a:srgbClr val="000000">
                      <a:alpha val="43137"/>
                    </a:srgbClr>
                  </a:outerShdw>
                </a:effectLst>
                <a:latin typeface="Bookman Old Style" panose="02050604050505020204" pitchFamily="18" charset="0"/>
              </a:rPr>
              <a:t>Here are the steps to set up the React Native environment:</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Install Java 17 (Oracle, Amazon </a:t>
            </a:r>
            <a:r>
              <a:rPr lang="en-US" sz="1300" dirty="0" err="1">
                <a:effectLst>
                  <a:outerShdw blurRad="38100" dist="38100" dir="2700000" algn="tl">
                    <a:srgbClr val="000000">
                      <a:alpha val="43137"/>
                    </a:srgbClr>
                  </a:outerShdw>
                </a:effectLst>
                <a:latin typeface="Bookman Old Style" panose="02050604050505020204" pitchFamily="18" charset="0"/>
              </a:rPr>
              <a:t>Corretto</a:t>
            </a:r>
            <a:r>
              <a:rPr lang="en-US" sz="1300" dirty="0">
                <a:effectLst>
                  <a:outerShdw blurRad="38100" dist="38100" dir="2700000" algn="tl">
                    <a:srgbClr val="000000">
                      <a:alpha val="43137"/>
                    </a:srgbClr>
                  </a:outerShdw>
                </a:effectLst>
                <a:latin typeface="Bookman Old Style" panose="02050604050505020204" pitchFamily="18" charset="0"/>
              </a:rPr>
              <a:t>, or </a:t>
            </a:r>
            <a:r>
              <a:rPr lang="en-US" sz="1300" dirty="0" err="1">
                <a:effectLst>
                  <a:outerShdw blurRad="38100" dist="38100" dir="2700000" algn="tl">
                    <a:srgbClr val="000000">
                      <a:alpha val="43137"/>
                    </a:srgbClr>
                  </a:outerShdw>
                </a:effectLst>
                <a:latin typeface="Bookman Old Style" panose="02050604050505020204" pitchFamily="18" charset="0"/>
              </a:rPr>
              <a:t>Temurin</a:t>
            </a:r>
            <a:r>
              <a:rPr lang="en-US" sz="1300" dirty="0">
                <a:effectLst>
                  <a:outerShdw blurRad="38100" dist="38100" dir="2700000" algn="tl">
                    <a:srgbClr val="000000">
                      <a:alpha val="43137"/>
                    </a:srgbClr>
                  </a:outerShdw>
                </a:effectLst>
                <a:latin typeface="Bookman Old Style" panose="02050604050505020204" pitchFamily="18" charset="0"/>
              </a:rPr>
              <a:t>)</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Set the JAVA_HOME environment variable</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Verify Java Installation</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Install Android Studio (it will auto-detect Java if set properly)</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Create AVD (Android Virtual Device)</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Add Android SDK tools to PATH</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Configure VS Code for Launching Android Emulators</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Verify Emulator Setup with VS Code</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Install Node.js, React Native CLI</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Install yarn</a:t>
            </a:r>
          </a:p>
          <a:p>
            <a:pPr marL="800100" lvl="1" indent="-342900">
              <a:lnSpc>
                <a:spcPct val="150000"/>
              </a:lnSpc>
              <a:buFont typeface="+mj-lt"/>
              <a:buAutoNum type="arabicPeriod"/>
            </a:pPr>
            <a:r>
              <a:rPr lang="en-US" sz="1300" dirty="0">
                <a:effectLst>
                  <a:outerShdw blurRad="38100" dist="38100" dir="2700000" algn="tl">
                    <a:srgbClr val="000000">
                      <a:alpha val="43137"/>
                    </a:srgbClr>
                  </a:outerShdw>
                </a:effectLst>
                <a:latin typeface="Bookman Old Style" panose="02050604050505020204" pitchFamily="18" charset="0"/>
              </a:rPr>
              <a:t>Start developing </a:t>
            </a: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4062615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2CAD-0C53-9FB0-EBB3-625000A7A1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7DF04E-BE05-FA0D-DFEE-8D1B85A38574}"/>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1E8848E8-0BCA-68C0-2FA4-DA7EB3CD1B0D}"/>
              </a:ext>
            </a:extLst>
          </p:cNvPr>
          <p:cNvSpPr txBox="1"/>
          <p:nvPr/>
        </p:nvSpPr>
        <p:spPr>
          <a:xfrm>
            <a:off x="162306" y="244655"/>
            <a:ext cx="835990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357AB383-57E4-AAA0-868F-A9EB723FA80C}"/>
              </a:ext>
            </a:extLst>
          </p:cNvPr>
          <p:cNvSpPr/>
          <p:nvPr/>
        </p:nvSpPr>
        <p:spPr>
          <a:xfrm>
            <a:off x="-1" y="1221723"/>
            <a:ext cx="2825497"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1. Install Java 17</a:t>
            </a:r>
            <a:endParaRPr lang="en-CA" sz="2200" dirty="0">
              <a:solidFill>
                <a:srgbClr val="FFFF00"/>
              </a:solidFill>
            </a:endParaRPr>
          </a:p>
        </p:txBody>
      </p:sp>
      <p:sp>
        <p:nvSpPr>
          <p:cNvPr id="3" name="TextBox 2">
            <a:extLst>
              <a:ext uri="{FF2B5EF4-FFF2-40B4-BE49-F238E27FC236}">
                <a16:creationId xmlns:a16="http://schemas.microsoft.com/office/drawing/2014/main" id="{E22E164F-7FD7-E5EC-749F-D2BB86054800}"/>
              </a:ext>
            </a:extLst>
          </p:cNvPr>
          <p:cNvSpPr txBox="1"/>
          <p:nvPr/>
        </p:nvSpPr>
        <p:spPr>
          <a:xfrm>
            <a:off x="162306" y="1672744"/>
            <a:ext cx="11852910" cy="429784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Java 17 is recommended for React Native development</a:t>
            </a:r>
            <a:r>
              <a:rPr lang="en-US" dirty="0">
                <a:effectLst>
                  <a:outerShdw blurRad="38100" dist="38100" dir="2700000" algn="tl">
                    <a:srgbClr val="000000">
                      <a:alpha val="43137"/>
                    </a:srgbClr>
                  </a:outerShdw>
                </a:effectLst>
                <a:latin typeface="Bookman Old Style" panose="02050604050505020204" pitchFamily="18" charset="0"/>
              </a:rPr>
              <a:t>, specifically for Android app development, because </a:t>
            </a:r>
            <a:r>
              <a:rPr lang="en-US" b="1" dirty="0">
                <a:effectLst>
                  <a:outerShdw blurRad="38100" dist="38100" dir="2700000" algn="tl">
                    <a:srgbClr val="000000">
                      <a:alpha val="43137"/>
                    </a:srgbClr>
                  </a:outerShdw>
                </a:effectLst>
                <a:latin typeface="Bookman Old Style" panose="02050604050505020204" pitchFamily="18" charset="0"/>
              </a:rPr>
              <a:t>it is the version that aligns with the latest Android development tools and libraries</a:t>
            </a: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Android Studio and React Native CLI both require Java (especially for building APKs).</a:t>
            </a:r>
          </a:p>
          <a:p>
            <a:pPr marL="285750" indent="-28575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Java 17 is the proper choice for React Native </a:t>
            </a:r>
            <a:r>
              <a:rPr lang="en-US" dirty="0">
                <a:effectLst>
                  <a:outerShdw blurRad="38100" dist="38100" dir="2700000" algn="tl">
                    <a:srgbClr val="000000">
                      <a:alpha val="43137"/>
                    </a:srgbClr>
                  </a:outerShdw>
                </a:effectLst>
                <a:latin typeface="Bookman Old Style" panose="02050604050505020204" pitchFamily="18" charset="0"/>
              </a:rPr>
              <a:t>development because:</a:t>
            </a:r>
          </a:p>
          <a:p>
            <a:pPr marL="742950" lvl="1" indent="-285750">
              <a:lnSpc>
                <a:spcPct val="150000"/>
              </a:lnSpc>
              <a:buFont typeface="Wingdings" panose="05000000000000000000" pitchFamily="2" charset="2"/>
              <a:buChar char="Ø"/>
            </a:pPr>
            <a:r>
              <a:rPr lang="en-US" sz="1600" b="1" dirty="0">
                <a:effectLst>
                  <a:outerShdw blurRad="38100" dist="38100" dir="2700000" algn="tl">
                    <a:srgbClr val="000000">
                      <a:alpha val="43137"/>
                    </a:srgbClr>
                  </a:outerShdw>
                </a:effectLst>
                <a:latin typeface="Bookman Old Style" panose="02050604050505020204" pitchFamily="18" charset="0"/>
              </a:rPr>
              <a:t>Compatibility with Android SDK and Gradle</a:t>
            </a:r>
          </a:p>
          <a:p>
            <a:pPr marL="1200150" lvl="2" indent="-285750">
              <a:lnSpc>
                <a:spcPct val="150000"/>
              </a:lnSpc>
              <a:buFont typeface="Wingdings" panose="05000000000000000000" pitchFamily="2" charset="2"/>
              <a:buChar char="§"/>
            </a:pPr>
            <a:r>
              <a:rPr lang="en-US" sz="1600" dirty="0">
                <a:effectLst>
                  <a:outerShdw blurRad="38100" dist="38100" dir="2700000" algn="tl">
                    <a:srgbClr val="000000">
                      <a:alpha val="43137"/>
                    </a:srgbClr>
                  </a:outerShdw>
                </a:effectLst>
                <a:latin typeface="Bookman Old Style" panose="02050604050505020204" pitchFamily="18" charset="0"/>
              </a:rPr>
              <a:t>Android development, particularly using Android Studio, depends on Java. Gradle, the build system used by Android Studio, requires a specific version of Java to build Android apps. Java 17 is the latest version supported by Android Gradle Plugin and the Android SDK, ensuring compatibility with the newest tools and features.</a:t>
            </a:r>
          </a:p>
          <a:p>
            <a:pPr marL="1200150" lvl="2" indent="-285750">
              <a:lnSpc>
                <a:spcPct val="150000"/>
              </a:lnSpc>
              <a:buFont typeface="Wingdings" panose="05000000000000000000" pitchFamily="2" charset="2"/>
              <a:buChar char="§"/>
            </a:pPr>
            <a:r>
              <a:rPr lang="en-US" sz="1600" dirty="0">
                <a:effectLst>
                  <a:outerShdw blurRad="38100" dist="38100" dir="2700000" algn="tl">
                    <a:srgbClr val="000000">
                      <a:alpha val="43137"/>
                    </a:srgbClr>
                  </a:outerShdw>
                </a:effectLst>
                <a:latin typeface="Bookman Old Style" panose="02050604050505020204" pitchFamily="18" charset="0"/>
              </a:rPr>
              <a:t>Older versions of Java (e.g., Java 8 or Java 11) might work, but Java 17 provides better support, performance, and security.</a:t>
            </a:r>
          </a:p>
        </p:txBody>
      </p:sp>
    </p:spTree>
    <p:extLst>
      <p:ext uri="{BB962C8B-B14F-4D97-AF65-F5344CB8AC3E}">
        <p14:creationId xmlns:p14="http://schemas.microsoft.com/office/powerpoint/2010/main" val="2831784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9AE35-1ACE-16CC-829F-FBB3D67DDE3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6B1023-6364-88AA-0D19-ACC51A0DFD5B}"/>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88DBBC4A-487C-53F0-9AB2-22954EB7D3F2}"/>
              </a:ext>
            </a:extLst>
          </p:cNvPr>
          <p:cNvSpPr txBox="1"/>
          <p:nvPr/>
        </p:nvSpPr>
        <p:spPr>
          <a:xfrm>
            <a:off x="162306" y="244655"/>
            <a:ext cx="8753094"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770D7CC1-1F94-0787-EA8E-343E71DEF505}"/>
              </a:ext>
            </a:extLst>
          </p:cNvPr>
          <p:cNvSpPr/>
          <p:nvPr/>
        </p:nvSpPr>
        <p:spPr>
          <a:xfrm>
            <a:off x="-1" y="1221723"/>
            <a:ext cx="2825497"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Java 17</a:t>
            </a:r>
            <a:endParaRPr lang="en-CA" sz="2200" dirty="0">
              <a:solidFill>
                <a:srgbClr val="FFFF00"/>
              </a:solidFill>
            </a:endParaRPr>
          </a:p>
        </p:txBody>
      </p:sp>
      <p:sp>
        <p:nvSpPr>
          <p:cNvPr id="3" name="TextBox 2">
            <a:extLst>
              <a:ext uri="{FF2B5EF4-FFF2-40B4-BE49-F238E27FC236}">
                <a16:creationId xmlns:a16="http://schemas.microsoft.com/office/drawing/2014/main" id="{336A162D-8736-9097-2EE3-C809A5B4291B}"/>
              </a:ext>
            </a:extLst>
          </p:cNvPr>
          <p:cNvSpPr txBox="1"/>
          <p:nvPr/>
        </p:nvSpPr>
        <p:spPr>
          <a:xfrm>
            <a:off x="162306" y="1672744"/>
            <a:ext cx="11852910" cy="4482509"/>
          </a:xfrm>
          <a:prstGeom prst="rect">
            <a:avLst/>
          </a:prstGeom>
          <a:noFill/>
        </p:spPr>
        <p:txBody>
          <a:bodyPr wrap="square">
            <a:spAutoFit/>
          </a:bodyPr>
          <a:lstStyle/>
          <a:p>
            <a:pPr marL="742950" lvl="1" indent="-285750">
              <a:lnSpc>
                <a:spcPct val="150000"/>
              </a:lnSpc>
              <a:buFont typeface="Wingdings" panose="05000000000000000000" pitchFamily="2" charset="2"/>
              <a:buChar char="Ø"/>
            </a:pPr>
            <a:r>
              <a:rPr lang="en-US" sz="1600" b="1" dirty="0">
                <a:effectLst>
                  <a:outerShdw blurRad="38100" dist="38100" dir="2700000" algn="tl">
                    <a:srgbClr val="000000">
                      <a:alpha val="43137"/>
                    </a:srgbClr>
                  </a:outerShdw>
                </a:effectLst>
                <a:latin typeface="Bookman Old Style" panose="02050604050505020204" pitchFamily="18" charset="0"/>
              </a:rPr>
              <a:t>New Features and Performance Improvements</a:t>
            </a:r>
          </a:p>
          <a:p>
            <a:pPr marL="1200150" lvl="2" indent="-285750">
              <a:lnSpc>
                <a:spcPct val="150000"/>
              </a:lnSpc>
              <a:buFont typeface="Wingdings" panose="05000000000000000000" pitchFamily="2" charset="2"/>
              <a:buChar char="§"/>
            </a:pPr>
            <a:r>
              <a:rPr lang="en-US" sz="1600" dirty="0">
                <a:effectLst>
                  <a:outerShdw blurRad="38100" dist="38100" dir="2700000" algn="tl">
                    <a:srgbClr val="000000">
                      <a:alpha val="43137"/>
                    </a:srgbClr>
                  </a:outerShdw>
                </a:effectLst>
                <a:latin typeface="Bookman Old Style" panose="02050604050505020204" pitchFamily="18" charset="0"/>
              </a:rPr>
              <a:t>Java 17 includes important language features and performance improvements that </a:t>
            </a:r>
            <a:r>
              <a:rPr lang="en-US" sz="1600" b="1" dirty="0">
                <a:effectLst>
                  <a:outerShdw blurRad="38100" dist="38100" dir="2700000" algn="tl">
                    <a:srgbClr val="000000">
                      <a:alpha val="43137"/>
                    </a:srgbClr>
                  </a:outerShdw>
                </a:effectLst>
                <a:latin typeface="Bookman Old Style" panose="02050604050505020204" pitchFamily="18" charset="0"/>
              </a:rPr>
              <a:t>enhance the stability, speed, and efficiency of Android apps</a:t>
            </a:r>
            <a:r>
              <a:rPr lang="en-US" sz="1600" dirty="0">
                <a:effectLst>
                  <a:outerShdw blurRad="38100" dist="38100" dir="2700000" algn="tl">
                    <a:srgbClr val="000000">
                      <a:alpha val="43137"/>
                    </a:srgbClr>
                  </a:outerShdw>
                </a:effectLst>
                <a:latin typeface="Bookman Old Style" panose="02050604050505020204" pitchFamily="18" charset="0"/>
              </a:rPr>
              <a:t>, making the development process smoother and more reliable.</a:t>
            </a:r>
          </a:p>
          <a:p>
            <a:pPr marL="742950" lvl="1" indent="-285750">
              <a:lnSpc>
                <a:spcPct val="150000"/>
              </a:lnSpc>
              <a:buFont typeface="Wingdings" panose="05000000000000000000" pitchFamily="2" charset="2"/>
              <a:buChar char="Ø"/>
            </a:pPr>
            <a:r>
              <a:rPr lang="en-US" sz="1600" b="1" dirty="0">
                <a:effectLst>
                  <a:outerShdw blurRad="38100" dist="38100" dir="2700000" algn="tl">
                    <a:srgbClr val="000000">
                      <a:alpha val="43137"/>
                    </a:srgbClr>
                  </a:outerShdw>
                </a:effectLst>
                <a:latin typeface="Bookman Old Style" panose="02050604050505020204" pitchFamily="18" charset="0"/>
              </a:rPr>
              <a:t>Official Support</a:t>
            </a:r>
          </a:p>
          <a:p>
            <a:pPr marL="1200150" lvl="2" indent="-285750">
              <a:lnSpc>
                <a:spcPct val="150000"/>
              </a:lnSpc>
              <a:buFont typeface="Wingdings" panose="05000000000000000000" pitchFamily="2" charset="2"/>
              <a:buChar char="§"/>
            </a:pPr>
            <a:r>
              <a:rPr lang="en-US" sz="1600" dirty="0">
                <a:effectLst>
                  <a:outerShdw blurRad="38100" dist="38100" dir="2700000" algn="tl">
                    <a:srgbClr val="000000">
                      <a:alpha val="43137"/>
                    </a:srgbClr>
                  </a:outerShdw>
                </a:effectLst>
                <a:latin typeface="Bookman Old Style" panose="02050604050505020204" pitchFamily="18" charset="0"/>
              </a:rPr>
              <a:t>As of now, Android Studio and the Android Gradle Plugin officially support Java 17. Using the latest version ensures </a:t>
            </a:r>
            <a:r>
              <a:rPr lang="en-US" sz="1600" b="1" dirty="0">
                <a:effectLst>
                  <a:outerShdw blurRad="38100" dist="38100" dir="2700000" algn="tl">
                    <a:srgbClr val="000000">
                      <a:alpha val="43137"/>
                    </a:srgbClr>
                  </a:outerShdw>
                </a:effectLst>
                <a:latin typeface="Bookman Old Style" panose="02050604050505020204" pitchFamily="18" charset="0"/>
              </a:rPr>
              <a:t>you have access to the most recent bug fixes</a:t>
            </a:r>
            <a:r>
              <a:rPr lang="en-US" sz="1600" dirty="0">
                <a:effectLst>
                  <a:outerShdw blurRad="38100" dist="38100" dir="2700000" algn="tl">
                    <a:srgbClr val="000000">
                      <a:alpha val="43137"/>
                    </a:srgbClr>
                  </a:outerShdw>
                </a:effectLst>
                <a:latin typeface="Bookman Old Style" panose="02050604050505020204" pitchFamily="18" charset="0"/>
              </a:rPr>
              <a:t>, </a:t>
            </a:r>
            <a:r>
              <a:rPr lang="en-US" sz="1600" b="1" dirty="0">
                <a:effectLst>
                  <a:outerShdw blurRad="38100" dist="38100" dir="2700000" algn="tl">
                    <a:srgbClr val="000000">
                      <a:alpha val="43137"/>
                    </a:srgbClr>
                  </a:outerShdw>
                </a:effectLst>
                <a:latin typeface="Bookman Old Style" panose="02050604050505020204" pitchFamily="18" charset="0"/>
              </a:rPr>
              <a:t>security patches, and features offered by both the Android ecosystem and Java itself.</a:t>
            </a:r>
          </a:p>
          <a:p>
            <a:pPr marL="742950" lvl="1" indent="-285750">
              <a:lnSpc>
                <a:spcPct val="150000"/>
              </a:lnSpc>
              <a:buFont typeface="Wingdings" panose="05000000000000000000" pitchFamily="2" charset="2"/>
              <a:buChar char="Ø"/>
            </a:pPr>
            <a:r>
              <a:rPr lang="en-US" sz="1600" b="1" dirty="0">
                <a:effectLst>
                  <a:outerShdw blurRad="38100" dist="38100" dir="2700000" algn="tl">
                    <a:srgbClr val="000000">
                      <a:alpha val="43137"/>
                    </a:srgbClr>
                  </a:outerShdw>
                </a:effectLst>
                <a:latin typeface="Bookman Old Style" panose="02050604050505020204" pitchFamily="18" charset="0"/>
              </a:rPr>
              <a:t>Security and Long-Term Support</a:t>
            </a:r>
          </a:p>
          <a:p>
            <a:pPr marL="1200150" lvl="2" indent="-285750">
              <a:lnSpc>
                <a:spcPct val="150000"/>
              </a:lnSpc>
              <a:buFont typeface="Wingdings" panose="05000000000000000000" pitchFamily="2" charset="2"/>
              <a:buChar char="§"/>
            </a:pPr>
            <a:r>
              <a:rPr lang="en-US" sz="1600" b="1" dirty="0">
                <a:effectLst>
                  <a:outerShdw blurRad="38100" dist="38100" dir="2700000" algn="tl">
                    <a:srgbClr val="000000">
                      <a:alpha val="43137"/>
                    </a:srgbClr>
                  </a:outerShdw>
                </a:effectLst>
                <a:latin typeface="Bookman Old Style" panose="02050604050505020204" pitchFamily="18" charset="0"/>
              </a:rPr>
              <a:t>Java 17 is a Long-Term Support (LTS) release</a:t>
            </a:r>
            <a:r>
              <a:rPr lang="en-US" sz="1600" dirty="0">
                <a:effectLst>
                  <a:outerShdw blurRad="38100" dist="38100" dir="2700000" algn="tl">
                    <a:srgbClr val="000000">
                      <a:alpha val="43137"/>
                    </a:srgbClr>
                  </a:outerShdw>
                </a:effectLst>
                <a:latin typeface="Bookman Old Style" panose="02050604050505020204" pitchFamily="18" charset="0"/>
              </a:rPr>
              <a:t>, which means it will receive updates and security patches for several years. This is crucial for ensuring the security and stability of your development environment and applications.</a:t>
            </a:r>
          </a:p>
        </p:txBody>
      </p:sp>
    </p:spTree>
    <p:extLst>
      <p:ext uri="{BB962C8B-B14F-4D97-AF65-F5344CB8AC3E}">
        <p14:creationId xmlns:p14="http://schemas.microsoft.com/office/powerpoint/2010/main" val="686083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4DC6D-A87C-58A6-770C-A34D801C6C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95B1137-B4D5-6108-2DF0-5916FF08304F}"/>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1804A335-0FF1-E49A-688F-906D9D041A8C}"/>
              </a:ext>
            </a:extLst>
          </p:cNvPr>
          <p:cNvSpPr txBox="1"/>
          <p:nvPr/>
        </p:nvSpPr>
        <p:spPr>
          <a:xfrm>
            <a:off x="162306" y="244655"/>
            <a:ext cx="863422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693B4F47-44A3-ADDB-166F-0FFA65051344}"/>
              </a:ext>
            </a:extLst>
          </p:cNvPr>
          <p:cNvSpPr/>
          <p:nvPr/>
        </p:nvSpPr>
        <p:spPr>
          <a:xfrm>
            <a:off x="-1" y="1221723"/>
            <a:ext cx="2825497"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Java 17</a:t>
            </a:r>
            <a:endParaRPr lang="en-CA" sz="2200" dirty="0">
              <a:solidFill>
                <a:srgbClr val="FFFF00"/>
              </a:solidFill>
            </a:endParaRPr>
          </a:p>
        </p:txBody>
      </p:sp>
      <p:sp>
        <p:nvSpPr>
          <p:cNvPr id="4" name="TextBox 3">
            <a:extLst>
              <a:ext uri="{FF2B5EF4-FFF2-40B4-BE49-F238E27FC236}">
                <a16:creationId xmlns:a16="http://schemas.microsoft.com/office/drawing/2014/main" id="{CF17E2E5-15C1-E554-33F6-5D6C013A3B13}"/>
              </a:ext>
            </a:extLst>
          </p:cNvPr>
          <p:cNvSpPr txBox="1"/>
          <p:nvPr/>
        </p:nvSpPr>
        <p:spPr>
          <a:xfrm>
            <a:off x="162306" y="1672744"/>
            <a:ext cx="11852910" cy="88338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Download and install Java 17 at the below link:</a:t>
            </a:r>
          </a:p>
          <a:p>
            <a:pPr>
              <a:lnSpc>
                <a:spcPct val="150000"/>
              </a:lnSpc>
            </a:pPr>
            <a:r>
              <a:rPr lang="en-CA"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https://www.oracle.com/java/technologies/javase/jdk17-archive-downloads.html</a:t>
            </a:r>
            <a:endParaRPr lang="en-CA"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9" name="Picture 8" descr="A screenshot of a computer&#10;&#10;AI-generated content may be incorrect.">
            <a:extLst>
              <a:ext uri="{FF2B5EF4-FFF2-40B4-BE49-F238E27FC236}">
                <a16:creationId xmlns:a16="http://schemas.microsoft.com/office/drawing/2014/main" id="{5BB8A79F-2D72-D1B5-1162-F2A2608CB64C}"/>
              </a:ext>
            </a:extLst>
          </p:cNvPr>
          <p:cNvPicPr>
            <a:picLocks noChangeAspect="1"/>
          </p:cNvPicPr>
          <p:nvPr/>
        </p:nvPicPr>
        <p:blipFill>
          <a:blip r:embed="rId4"/>
          <a:stretch>
            <a:fillRect/>
          </a:stretch>
        </p:blipFill>
        <p:spPr>
          <a:xfrm>
            <a:off x="316992" y="2650506"/>
            <a:ext cx="8397240" cy="3146823"/>
          </a:xfrm>
          <a:prstGeom prst="rect">
            <a:avLst/>
          </a:prstGeom>
        </p:spPr>
      </p:pic>
    </p:spTree>
    <p:extLst>
      <p:ext uri="{BB962C8B-B14F-4D97-AF65-F5344CB8AC3E}">
        <p14:creationId xmlns:p14="http://schemas.microsoft.com/office/powerpoint/2010/main" val="718928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7630-1AE2-0E4F-6749-C6A2C7C632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30B126-C504-EF0A-1E6C-1002A03BE1D8}"/>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C5132A9E-A1BB-9353-DE48-40B0D4552BA4}"/>
              </a:ext>
            </a:extLst>
          </p:cNvPr>
          <p:cNvSpPr txBox="1"/>
          <p:nvPr/>
        </p:nvSpPr>
        <p:spPr>
          <a:xfrm>
            <a:off x="162306" y="244655"/>
            <a:ext cx="8716518"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4CC28FB7-55A0-8DEE-5AEB-2491D0944541}"/>
              </a:ext>
            </a:extLst>
          </p:cNvPr>
          <p:cNvSpPr/>
          <p:nvPr/>
        </p:nvSpPr>
        <p:spPr>
          <a:xfrm>
            <a:off x="-1" y="1221723"/>
            <a:ext cx="683971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2. Set the JAVA_HOME Environment Variable</a:t>
            </a:r>
            <a:endParaRPr lang="en-CA" sz="2200" dirty="0">
              <a:solidFill>
                <a:srgbClr val="FFFF00"/>
              </a:solidFill>
            </a:endParaRPr>
          </a:p>
        </p:txBody>
      </p:sp>
      <p:sp>
        <p:nvSpPr>
          <p:cNvPr id="4" name="TextBox 3">
            <a:extLst>
              <a:ext uri="{FF2B5EF4-FFF2-40B4-BE49-F238E27FC236}">
                <a16:creationId xmlns:a16="http://schemas.microsoft.com/office/drawing/2014/main" id="{C7AB95FC-41CB-7176-257C-F69982EBBE69}"/>
              </a:ext>
            </a:extLst>
          </p:cNvPr>
          <p:cNvSpPr txBox="1"/>
          <p:nvPr/>
        </p:nvSpPr>
        <p:spPr>
          <a:xfrm>
            <a:off x="162306" y="1672744"/>
            <a:ext cx="11852910" cy="37847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Setting the JAVA_HOME environment variable is crucial because </a:t>
            </a:r>
            <a:r>
              <a:rPr lang="en-US" b="1" dirty="0">
                <a:effectLst>
                  <a:outerShdw blurRad="38100" dist="38100" dir="2700000" algn="tl">
                    <a:srgbClr val="000000">
                      <a:alpha val="43137"/>
                    </a:srgbClr>
                  </a:outerShdw>
                </a:effectLst>
                <a:latin typeface="Bookman Old Style" panose="02050604050505020204" pitchFamily="18" charset="0"/>
              </a:rPr>
              <a:t>it tells your operating system where to find the Java Development Kit (JDK) installation on your machine</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This is essential for various development tools and programs, including Android Studio, Gradle, and React Native, to properly locate and utilize the Java tools needed for building and running Android apps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Setting JAVA_HOME ensures your development environment is properly configured and that your system can efficiently locate and use the correct version of Java for your development needs</a:t>
            </a: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892831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13883-115A-CD4D-7728-29AE4E3A48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0457322-3676-CEE6-6BC7-EDBE865EB099}"/>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5AF20E44-2ED2-73B9-5041-12613A9FEC05}"/>
              </a:ext>
            </a:extLst>
          </p:cNvPr>
          <p:cNvSpPr txBox="1"/>
          <p:nvPr/>
        </p:nvSpPr>
        <p:spPr>
          <a:xfrm>
            <a:off x="162306" y="244655"/>
            <a:ext cx="881710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6C7B4FE1-7639-33F9-3BC7-765E742ABB24}"/>
              </a:ext>
            </a:extLst>
          </p:cNvPr>
          <p:cNvSpPr/>
          <p:nvPr/>
        </p:nvSpPr>
        <p:spPr>
          <a:xfrm>
            <a:off x="-1" y="1221723"/>
            <a:ext cx="683971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Set the JAVA_HOME Environment Variable</a:t>
            </a:r>
            <a:endParaRPr lang="en-CA" sz="2200" dirty="0">
              <a:solidFill>
                <a:srgbClr val="FFFF00"/>
              </a:solidFill>
            </a:endParaRPr>
          </a:p>
        </p:txBody>
      </p:sp>
      <p:sp>
        <p:nvSpPr>
          <p:cNvPr id="4" name="TextBox 3">
            <a:extLst>
              <a:ext uri="{FF2B5EF4-FFF2-40B4-BE49-F238E27FC236}">
                <a16:creationId xmlns:a16="http://schemas.microsoft.com/office/drawing/2014/main" id="{90DB0E3B-DFF2-E012-C7A0-76FF324887FB}"/>
              </a:ext>
            </a:extLst>
          </p:cNvPr>
          <p:cNvSpPr txBox="1"/>
          <p:nvPr/>
        </p:nvSpPr>
        <p:spPr>
          <a:xfrm>
            <a:off x="162306" y="1672744"/>
            <a:ext cx="11852910" cy="212840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To set the JAVA_HOME variable, first </a:t>
            </a:r>
            <a:r>
              <a:rPr lang="en-CA" dirty="0">
                <a:effectLst>
                  <a:outerShdw blurRad="38100" dist="38100" dir="2700000" algn="tl">
                    <a:srgbClr val="000000">
                      <a:alpha val="43137"/>
                    </a:srgbClr>
                  </a:outerShdw>
                </a:effectLst>
                <a:latin typeface="Bookman Old Style" panose="02050604050505020204" pitchFamily="18" charset="0"/>
              </a:rPr>
              <a:t>find the path where Java is installed and copy the path</a:t>
            </a:r>
          </a:p>
          <a:p>
            <a:pPr marL="742950" lvl="1"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It’s usually installed in the below path:</a:t>
            </a:r>
          </a:p>
          <a:p>
            <a:pPr lvl="1">
              <a:lnSpc>
                <a:spcPct val="150000"/>
              </a:lnSpc>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	</a:t>
            </a:r>
            <a:r>
              <a:rPr lang="en-CA" sz="1800" b="1" kern="100" dirty="0">
                <a:effectLst/>
                <a:latin typeface="Aptos" panose="020B0004020202020204" pitchFamily="34" charset="0"/>
                <a:ea typeface="Aptos" panose="020B0004020202020204" pitchFamily="34" charset="0"/>
                <a:cs typeface="Times New Roman" panose="02020603050405020304" pitchFamily="18" charset="0"/>
              </a:rPr>
              <a:t>C:\Program Files\Java\jdk-17</a:t>
            </a: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3" name="Picture 2" descr="A screenshot of a computer&#10;&#10;AI-generated content may be incorrect.">
            <a:extLst>
              <a:ext uri="{FF2B5EF4-FFF2-40B4-BE49-F238E27FC236}">
                <a16:creationId xmlns:a16="http://schemas.microsoft.com/office/drawing/2014/main" id="{DBF59E5E-2710-C240-244D-DE2C091F720F}"/>
              </a:ext>
            </a:extLst>
          </p:cNvPr>
          <p:cNvPicPr>
            <a:picLocks noChangeAspect="1"/>
          </p:cNvPicPr>
          <p:nvPr/>
        </p:nvPicPr>
        <p:blipFill>
          <a:blip r:embed="rId3"/>
          <a:stretch>
            <a:fillRect/>
          </a:stretch>
        </p:blipFill>
        <p:spPr>
          <a:xfrm>
            <a:off x="776694" y="3098492"/>
            <a:ext cx="8202714" cy="2415243"/>
          </a:xfrm>
          <a:prstGeom prst="rect">
            <a:avLst/>
          </a:prstGeom>
        </p:spPr>
      </p:pic>
    </p:spTree>
    <p:extLst>
      <p:ext uri="{BB962C8B-B14F-4D97-AF65-F5344CB8AC3E}">
        <p14:creationId xmlns:p14="http://schemas.microsoft.com/office/powerpoint/2010/main" val="2991148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A586-709A-133E-A6CA-3215B9602F3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1C3DC3C-DD90-CF9F-3E79-BBF07DEE79D9}"/>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6296FF3E-C85A-59DE-1CF9-632E9A3B3774}"/>
              </a:ext>
            </a:extLst>
          </p:cNvPr>
          <p:cNvSpPr txBox="1"/>
          <p:nvPr/>
        </p:nvSpPr>
        <p:spPr>
          <a:xfrm>
            <a:off x="162306" y="244655"/>
            <a:ext cx="8698230"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FB8FF3E1-C651-BE3B-5DBF-2E70D300A636}"/>
              </a:ext>
            </a:extLst>
          </p:cNvPr>
          <p:cNvSpPr/>
          <p:nvPr/>
        </p:nvSpPr>
        <p:spPr>
          <a:xfrm>
            <a:off x="-1" y="1221723"/>
            <a:ext cx="683971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Set the JAVA_HOME Environment Variable</a:t>
            </a:r>
            <a:endParaRPr lang="en-CA" sz="2200" dirty="0">
              <a:solidFill>
                <a:srgbClr val="FFFF00"/>
              </a:solidFill>
            </a:endParaRPr>
          </a:p>
        </p:txBody>
      </p:sp>
      <p:sp>
        <p:nvSpPr>
          <p:cNvPr id="4" name="TextBox 3">
            <a:extLst>
              <a:ext uri="{FF2B5EF4-FFF2-40B4-BE49-F238E27FC236}">
                <a16:creationId xmlns:a16="http://schemas.microsoft.com/office/drawing/2014/main" id="{62F4C76C-858E-C950-22F0-59B3CB9B5133}"/>
              </a:ext>
            </a:extLst>
          </p:cNvPr>
          <p:cNvSpPr txBox="1"/>
          <p:nvPr/>
        </p:nvSpPr>
        <p:spPr>
          <a:xfrm>
            <a:off x="162306" y="1672744"/>
            <a:ext cx="11852910" cy="32030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To set the JAVA_HOME variable on Windows:</a:t>
            </a:r>
          </a:p>
          <a:p>
            <a:pPr marL="800100" lvl="1" indent="-342900">
              <a:lnSpc>
                <a:spcPct val="115000"/>
              </a:lnSpc>
              <a:buSzPts val="1000"/>
              <a:buFont typeface="Symbol" panose="05050102010706020507" pitchFamily="18" charset="2"/>
              <a:buChar char=""/>
              <a:tabLst>
                <a:tab pos="457200" algn="l"/>
              </a:tabLst>
            </a:pPr>
            <a:r>
              <a:rPr lang="en-CA" sz="1600" dirty="0">
                <a:effectLst>
                  <a:outerShdw blurRad="38100" dist="38100" dir="2700000" algn="tl">
                    <a:srgbClr val="000000">
                      <a:alpha val="43137"/>
                    </a:srgbClr>
                  </a:outerShdw>
                </a:effectLst>
                <a:latin typeface="Bookman Old Style" panose="02050604050505020204" pitchFamily="18" charset="0"/>
              </a:rPr>
              <a:t>Search for "Environment Variables" in Start menu</a:t>
            </a:r>
          </a:p>
          <a:p>
            <a:pPr marL="800100" lvl="1" indent="-342900">
              <a:lnSpc>
                <a:spcPct val="115000"/>
              </a:lnSpc>
              <a:buSzPts val="1000"/>
              <a:buFont typeface="Symbol" panose="05050102010706020507" pitchFamily="18" charset="2"/>
              <a:buChar char=""/>
              <a:tabLst>
                <a:tab pos="457200" algn="l"/>
              </a:tabLst>
            </a:pPr>
            <a:r>
              <a:rPr lang="en-CA" sz="1600" dirty="0">
                <a:effectLst>
                  <a:outerShdw blurRad="38100" dist="38100" dir="2700000" algn="tl">
                    <a:srgbClr val="000000">
                      <a:alpha val="43137"/>
                    </a:srgbClr>
                  </a:outerShdw>
                </a:effectLst>
                <a:latin typeface="Bookman Old Style" panose="02050604050505020204" pitchFamily="18" charset="0"/>
              </a:rPr>
              <a:t>Click Edit the system environment variables</a:t>
            </a:r>
          </a:p>
          <a:p>
            <a:pPr marL="800100" lvl="1" indent="-342900">
              <a:lnSpc>
                <a:spcPct val="115000"/>
              </a:lnSpc>
              <a:buSzPts val="1000"/>
              <a:buFont typeface="Symbol" panose="05050102010706020507" pitchFamily="18" charset="2"/>
              <a:buChar char=""/>
              <a:tabLst>
                <a:tab pos="457200" algn="l"/>
              </a:tabLst>
            </a:pPr>
            <a:r>
              <a:rPr lang="en-CA" sz="1600" dirty="0">
                <a:effectLst>
                  <a:outerShdw blurRad="38100" dist="38100" dir="2700000" algn="tl">
                    <a:srgbClr val="000000">
                      <a:alpha val="43137"/>
                    </a:srgbClr>
                  </a:outerShdw>
                </a:effectLst>
                <a:latin typeface="Bookman Old Style" panose="02050604050505020204" pitchFamily="18" charset="0"/>
              </a:rPr>
              <a:t>In the System Properties window, click Environment Variables</a:t>
            </a:r>
          </a:p>
          <a:p>
            <a:pPr marL="800100" lvl="1" indent="-342900">
              <a:lnSpc>
                <a:spcPct val="115000"/>
              </a:lnSpc>
              <a:buSzPts val="1000"/>
              <a:buFont typeface="Symbol" panose="05050102010706020507" pitchFamily="18" charset="2"/>
              <a:buChar char=""/>
              <a:tabLst>
                <a:tab pos="457200" algn="l"/>
              </a:tabLst>
            </a:pPr>
            <a:r>
              <a:rPr lang="en-CA" sz="1600" dirty="0">
                <a:effectLst>
                  <a:outerShdw blurRad="38100" dist="38100" dir="2700000" algn="tl">
                    <a:srgbClr val="000000">
                      <a:alpha val="43137"/>
                    </a:srgbClr>
                  </a:outerShdw>
                </a:effectLst>
                <a:latin typeface="Bookman Old Style" panose="02050604050505020204" pitchFamily="18" charset="0"/>
              </a:rPr>
              <a:t>Under System variables, click New</a:t>
            </a:r>
          </a:p>
          <a:p>
            <a:pPr marL="800100" lvl="1" indent="-342900">
              <a:lnSpc>
                <a:spcPct val="115000"/>
              </a:lnSpc>
              <a:buSzPts val="1000"/>
              <a:buFont typeface="Symbol" panose="05050102010706020507" pitchFamily="18" charset="2"/>
              <a:buChar char=""/>
              <a:tabLst>
                <a:tab pos="457200" algn="l"/>
              </a:tabLst>
            </a:pPr>
            <a:r>
              <a:rPr lang="en-CA" sz="1600" dirty="0">
                <a:effectLst>
                  <a:outerShdw blurRad="38100" dist="38100" dir="2700000" algn="tl">
                    <a:srgbClr val="000000">
                      <a:alpha val="43137"/>
                    </a:srgbClr>
                  </a:outerShdw>
                </a:effectLst>
                <a:latin typeface="Bookman Old Style" panose="02050604050505020204" pitchFamily="18" charset="0"/>
              </a:rPr>
              <a:t>Set:</a:t>
            </a:r>
          </a:p>
          <a:p>
            <a:pPr marL="1200150" lvl="2" indent="-285750">
              <a:lnSpc>
                <a:spcPct val="115000"/>
              </a:lnSpc>
              <a:buSzPts val="1000"/>
              <a:buFont typeface="Courier New" panose="02070309020205020404" pitchFamily="49" charset="0"/>
              <a:buChar char="o"/>
              <a:tabLst>
                <a:tab pos="914400" algn="l"/>
              </a:tabLst>
            </a:pPr>
            <a:r>
              <a:rPr lang="en-CA" sz="1400" dirty="0">
                <a:effectLst>
                  <a:outerShdw blurRad="38100" dist="38100" dir="2700000" algn="tl">
                    <a:srgbClr val="000000">
                      <a:alpha val="43137"/>
                    </a:srgbClr>
                  </a:outerShdw>
                </a:effectLst>
                <a:latin typeface="Bookman Old Style" panose="02050604050505020204" pitchFamily="18" charset="0"/>
              </a:rPr>
              <a:t>Variable name:</a:t>
            </a:r>
            <a:r>
              <a:rPr lang="en-CA" sz="1400" b="1" dirty="0">
                <a:effectLst>
                  <a:outerShdw blurRad="38100" dist="38100" dir="2700000" algn="tl">
                    <a:srgbClr val="000000">
                      <a:alpha val="43137"/>
                    </a:srgbClr>
                  </a:outerShdw>
                </a:effectLst>
                <a:latin typeface="Bookman Old Style" panose="02050604050505020204" pitchFamily="18" charset="0"/>
              </a:rPr>
              <a:t> JAVA_HOME</a:t>
            </a:r>
          </a:p>
          <a:p>
            <a:pPr marL="1200150" lvl="2" indent="-285750">
              <a:lnSpc>
                <a:spcPct val="115000"/>
              </a:lnSpc>
              <a:buSzPts val="1000"/>
              <a:buFont typeface="Courier New" panose="02070309020205020404" pitchFamily="49" charset="0"/>
              <a:buChar char="o"/>
              <a:tabLst>
                <a:tab pos="914400" algn="l"/>
              </a:tabLst>
            </a:pPr>
            <a:r>
              <a:rPr lang="en-CA" sz="1400" dirty="0">
                <a:effectLst>
                  <a:outerShdw blurRad="38100" dist="38100" dir="2700000" algn="tl">
                    <a:srgbClr val="000000">
                      <a:alpha val="43137"/>
                    </a:srgbClr>
                  </a:outerShdw>
                </a:effectLst>
                <a:latin typeface="Bookman Old Style" panose="02050604050505020204" pitchFamily="18" charset="0"/>
              </a:rPr>
              <a:t>Variable value: Path to your Java JDK folder (e.g., </a:t>
            </a:r>
            <a:r>
              <a:rPr lang="en-CA" sz="1400" b="1" kern="100" dirty="0">
                <a:effectLst/>
                <a:latin typeface="Aptos" panose="020B0004020202020204" pitchFamily="34" charset="0"/>
                <a:ea typeface="Aptos" panose="020B0004020202020204" pitchFamily="34" charset="0"/>
                <a:cs typeface="Times New Roman" panose="02020603050405020304" pitchFamily="18" charset="0"/>
              </a:rPr>
              <a:t>C:\Program Files\Java\jdk-17)</a:t>
            </a:r>
          </a:p>
          <a:p>
            <a:pPr marL="742950" lvl="1"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7" name="Picture 6" descr="A screenshot of a computer&#10;&#10;AI-generated content may be incorrect.">
            <a:extLst>
              <a:ext uri="{FF2B5EF4-FFF2-40B4-BE49-F238E27FC236}">
                <a16:creationId xmlns:a16="http://schemas.microsoft.com/office/drawing/2014/main" id="{83C319D8-78A1-C1C1-4DFA-2D1CC6E97A23}"/>
              </a:ext>
            </a:extLst>
          </p:cNvPr>
          <p:cNvPicPr>
            <a:picLocks noChangeAspect="1"/>
          </p:cNvPicPr>
          <p:nvPr/>
        </p:nvPicPr>
        <p:blipFill>
          <a:blip r:embed="rId3"/>
          <a:stretch>
            <a:fillRect/>
          </a:stretch>
        </p:blipFill>
        <p:spPr>
          <a:xfrm>
            <a:off x="448054" y="4297807"/>
            <a:ext cx="7854697" cy="1884792"/>
          </a:xfrm>
          <a:prstGeom prst="rect">
            <a:avLst/>
          </a:prstGeom>
        </p:spPr>
      </p:pic>
    </p:spTree>
    <p:extLst>
      <p:ext uri="{BB962C8B-B14F-4D97-AF65-F5344CB8AC3E}">
        <p14:creationId xmlns:p14="http://schemas.microsoft.com/office/powerpoint/2010/main" val="198038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09E4B-F0D4-6C29-1F2E-527B093975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A4C1F78-4906-2E21-8851-777D1E18962D}"/>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AFAA0AC7-A206-D97A-E1E0-FABBBF5FD37D}"/>
              </a:ext>
            </a:extLst>
          </p:cNvPr>
          <p:cNvSpPr txBox="1"/>
          <p:nvPr/>
        </p:nvSpPr>
        <p:spPr>
          <a:xfrm>
            <a:off x="162306" y="244655"/>
            <a:ext cx="867994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780B0CDE-FDA0-1678-3BA5-A7E4DB7DD6B1}"/>
              </a:ext>
            </a:extLst>
          </p:cNvPr>
          <p:cNvSpPr/>
          <p:nvPr/>
        </p:nvSpPr>
        <p:spPr>
          <a:xfrm>
            <a:off x="-1" y="1221723"/>
            <a:ext cx="585216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Add ‘</a:t>
            </a:r>
            <a:r>
              <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rPr>
              <a:t>%JAVA_HOME%\bin’ to the Path </a:t>
            </a:r>
          </a:p>
        </p:txBody>
      </p:sp>
      <p:sp>
        <p:nvSpPr>
          <p:cNvPr id="4" name="TextBox 3">
            <a:extLst>
              <a:ext uri="{FF2B5EF4-FFF2-40B4-BE49-F238E27FC236}">
                <a16:creationId xmlns:a16="http://schemas.microsoft.com/office/drawing/2014/main" id="{4A324CCA-961C-4F88-0C34-CEAD95AB14E9}"/>
              </a:ext>
            </a:extLst>
          </p:cNvPr>
          <p:cNvSpPr txBox="1"/>
          <p:nvPr/>
        </p:nvSpPr>
        <p:spPr>
          <a:xfrm>
            <a:off x="162306" y="1672744"/>
            <a:ext cx="11852910" cy="21227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By adding </a:t>
            </a:r>
            <a:r>
              <a:rPr lang="en-US" b="1" dirty="0">
                <a:effectLst>
                  <a:outerShdw blurRad="38100" dist="38100" dir="2700000" algn="tl">
                    <a:srgbClr val="000000">
                      <a:alpha val="43137"/>
                    </a:srgbClr>
                  </a:outerShdw>
                </a:effectLst>
                <a:latin typeface="Bookman Old Style" panose="02050604050505020204" pitchFamily="18" charset="0"/>
              </a:rPr>
              <a:t>%JAVA_HOME%\bin </a:t>
            </a:r>
            <a:r>
              <a:rPr lang="en-US" dirty="0">
                <a:effectLst>
                  <a:outerShdw blurRad="38100" dist="38100" dir="2700000" algn="tl">
                    <a:srgbClr val="000000">
                      <a:alpha val="43137"/>
                    </a:srgbClr>
                  </a:outerShdw>
                </a:effectLst>
                <a:latin typeface="Bookman Old Style" panose="02050604050505020204" pitchFamily="18" charset="0"/>
              </a:rPr>
              <a:t>to your Path, you enable the ability to run Java tools (such as java, </a:t>
            </a:r>
            <a:r>
              <a:rPr lang="en-US" dirty="0" err="1">
                <a:effectLst>
                  <a:outerShdw blurRad="38100" dist="38100" dir="2700000" algn="tl">
                    <a:srgbClr val="000000">
                      <a:alpha val="43137"/>
                    </a:srgbClr>
                  </a:outerShdw>
                </a:effectLst>
                <a:latin typeface="Bookman Old Style" panose="02050604050505020204" pitchFamily="18" charset="0"/>
              </a:rPr>
              <a:t>javac</a:t>
            </a:r>
            <a:r>
              <a:rPr lang="en-US" dirty="0">
                <a:effectLst>
                  <a:outerShdw blurRad="38100" dist="38100" dir="2700000" algn="tl">
                    <a:srgbClr val="000000">
                      <a:alpha val="43137"/>
                    </a:srgbClr>
                  </a:outerShdw>
                </a:effectLst>
                <a:latin typeface="Bookman Old Style" panose="02050604050505020204" pitchFamily="18" charset="0"/>
              </a:rPr>
              <a:t>, </a:t>
            </a:r>
            <a:r>
              <a:rPr lang="en-US" dirty="0" err="1">
                <a:effectLst>
                  <a:outerShdw blurRad="38100" dist="38100" dir="2700000" algn="tl">
                    <a:srgbClr val="000000">
                      <a:alpha val="43137"/>
                    </a:srgbClr>
                  </a:outerShdw>
                </a:effectLst>
                <a:latin typeface="Bookman Old Style" panose="02050604050505020204" pitchFamily="18" charset="0"/>
              </a:rPr>
              <a:t>javadoc</a:t>
            </a:r>
            <a:r>
              <a:rPr lang="en-US" dirty="0">
                <a:effectLst>
                  <a:outerShdw blurRad="38100" dist="38100" dir="2700000" algn="tl">
                    <a:srgbClr val="000000">
                      <a:alpha val="43137"/>
                    </a:srgbClr>
                  </a:outerShdw>
                </a:effectLst>
                <a:latin typeface="Bookman Old Style" panose="02050604050505020204" pitchFamily="18" charset="0"/>
              </a:rPr>
              <a:t>, etc.) from any directory in your terminal or command prompt</a:t>
            </a: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Add </a:t>
            </a:r>
            <a:r>
              <a:rPr lang="en-CA" b="1" dirty="0">
                <a:effectLst>
                  <a:outerShdw blurRad="38100" dist="38100" dir="2700000" algn="tl">
                    <a:srgbClr val="000000">
                      <a:alpha val="43137"/>
                    </a:srgbClr>
                  </a:outerShdw>
                </a:effectLst>
                <a:latin typeface="Bookman Old Style" panose="02050604050505020204" pitchFamily="18" charset="0"/>
              </a:rPr>
              <a:t>%JAVA_HOME%\bin </a:t>
            </a:r>
            <a:r>
              <a:rPr lang="en-CA" dirty="0">
                <a:effectLst>
                  <a:outerShdw blurRad="38100" dist="38100" dir="2700000" algn="tl">
                    <a:srgbClr val="000000">
                      <a:alpha val="43137"/>
                    </a:srgbClr>
                  </a:outerShdw>
                </a:effectLst>
                <a:latin typeface="Bookman Old Style" panose="02050604050505020204" pitchFamily="18" charset="0"/>
              </a:rPr>
              <a:t>to your </a:t>
            </a:r>
            <a:r>
              <a:rPr lang="en-CA" b="1" dirty="0">
                <a:effectLst>
                  <a:outerShdw blurRad="38100" dist="38100" dir="2700000" algn="tl">
                    <a:srgbClr val="000000">
                      <a:alpha val="43137"/>
                    </a:srgbClr>
                  </a:outerShdw>
                </a:effectLst>
                <a:latin typeface="Bookman Old Style" panose="02050604050505020204" pitchFamily="18" charset="0"/>
              </a:rPr>
              <a:t>Path variable </a:t>
            </a:r>
            <a:r>
              <a:rPr lang="en-CA" dirty="0">
                <a:effectLst>
                  <a:outerShdw blurRad="38100" dist="38100" dir="2700000" algn="tl">
                    <a:srgbClr val="000000">
                      <a:alpha val="43137"/>
                    </a:srgbClr>
                  </a:outerShdw>
                </a:effectLst>
                <a:latin typeface="Bookman Old Style" panose="02050604050505020204" pitchFamily="18" charset="0"/>
              </a:rPr>
              <a:t>under </a:t>
            </a:r>
            <a:r>
              <a:rPr lang="en-CA" b="1" dirty="0">
                <a:effectLst>
                  <a:outerShdw blurRad="38100" dist="38100" dir="2700000" algn="tl">
                    <a:srgbClr val="000000">
                      <a:alpha val="43137"/>
                    </a:srgbClr>
                  </a:outerShdw>
                </a:effectLst>
                <a:latin typeface="Bookman Old Style" panose="02050604050505020204" pitchFamily="18" charset="0"/>
              </a:rPr>
              <a:t>System Variables</a:t>
            </a:r>
            <a:endParaRPr lang="en-US" b="1" dirty="0">
              <a:effectLst>
                <a:outerShdw blurRad="38100" dist="38100" dir="2700000" algn="tl">
                  <a:srgbClr val="000000">
                    <a:alpha val="43137"/>
                  </a:srgbClr>
                </a:outerShdw>
              </a:effectLst>
              <a:latin typeface="Bookman Old Style" panose="02050604050505020204" pitchFamily="18" charset="0"/>
            </a:endParaRPr>
          </a:p>
          <a:p>
            <a:pPr marL="742950" lvl="1"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3" name="Picture 2" descr="A screenshot of a computer program&#10;&#10;AI-generated content may be incorrect.">
            <a:extLst>
              <a:ext uri="{FF2B5EF4-FFF2-40B4-BE49-F238E27FC236}">
                <a16:creationId xmlns:a16="http://schemas.microsoft.com/office/drawing/2014/main" id="{527ACFA2-24FF-6A39-449E-F3401BAC4B5C}"/>
              </a:ext>
            </a:extLst>
          </p:cNvPr>
          <p:cNvPicPr>
            <a:picLocks noChangeAspect="1"/>
          </p:cNvPicPr>
          <p:nvPr/>
        </p:nvPicPr>
        <p:blipFill>
          <a:blip r:embed="rId3"/>
          <a:stretch>
            <a:fillRect/>
          </a:stretch>
        </p:blipFill>
        <p:spPr>
          <a:xfrm>
            <a:off x="3154679" y="3094743"/>
            <a:ext cx="5797297" cy="3377811"/>
          </a:xfrm>
          <a:prstGeom prst="rect">
            <a:avLst/>
          </a:prstGeom>
        </p:spPr>
      </p:pic>
    </p:spTree>
    <p:extLst>
      <p:ext uri="{BB962C8B-B14F-4D97-AF65-F5344CB8AC3E}">
        <p14:creationId xmlns:p14="http://schemas.microsoft.com/office/powerpoint/2010/main" val="3346806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74904-52D7-64A9-5555-5E9D40E0E4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86233F-2643-BA9B-1013-BCD6EC742F7C}"/>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82ABC48B-4BB5-AB2E-5206-82DAC9EABBFC}"/>
              </a:ext>
            </a:extLst>
          </p:cNvPr>
          <p:cNvSpPr txBox="1"/>
          <p:nvPr/>
        </p:nvSpPr>
        <p:spPr>
          <a:xfrm>
            <a:off x="162306" y="244655"/>
            <a:ext cx="945718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1FD92A5E-2890-C093-E0CA-1AD60BC3D2CA}"/>
              </a:ext>
            </a:extLst>
          </p:cNvPr>
          <p:cNvSpPr/>
          <p:nvPr/>
        </p:nvSpPr>
        <p:spPr>
          <a:xfrm>
            <a:off x="-1" y="1221723"/>
            <a:ext cx="41605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3. Verify Java Installation</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4" name="TextBox 3">
            <a:extLst>
              <a:ext uri="{FF2B5EF4-FFF2-40B4-BE49-F238E27FC236}">
                <a16:creationId xmlns:a16="http://schemas.microsoft.com/office/drawing/2014/main" id="{644493D8-0459-4312-7854-C4B465A770B7}"/>
              </a:ext>
            </a:extLst>
          </p:cNvPr>
          <p:cNvSpPr txBox="1"/>
          <p:nvPr/>
        </p:nvSpPr>
        <p:spPr>
          <a:xfrm>
            <a:off x="162306" y="1672744"/>
            <a:ext cx="11852910" cy="420589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Restart your computer after all the above are set</a:t>
            </a: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Run the command </a:t>
            </a:r>
            <a:r>
              <a:rPr lang="en-CA" b="1" dirty="0">
                <a:effectLst>
                  <a:outerShdw blurRad="38100" dist="38100" dir="2700000" algn="tl">
                    <a:srgbClr val="000000">
                      <a:alpha val="43137"/>
                    </a:srgbClr>
                  </a:outerShdw>
                </a:effectLst>
                <a:latin typeface="Bookman Old Style" panose="02050604050505020204" pitchFamily="18" charset="0"/>
              </a:rPr>
              <a:t>echo</a:t>
            </a:r>
            <a:r>
              <a:rPr lang="en-CA" dirty="0">
                <a:effectLst>
                  <a:outerShdw blurRad="38100" dist="38100" dir="2700000" algn="tl">
                    <a:srgbClr val="000000">
                      <a:alpha val="43137"/>
                    </a:srgbClr>
                  </a:outerShdw>
                </a:effectLst>
                <a:latin typeface="Bookman Old Style" panose="02050604050505020204" pitchFamily="18" charset="0"/>
              </a:rPr>
              <a:t> </a:t>
            </a:r>
            <a:r>
              <a:rPr lang="en-CA" b="1" dirty="0">
                <a:effectLst>
                  <a:outerShdw blurRad="38100" dist="38100" dir="2700000" algn="tl">
                    <a:srgbClr val="000000">
                      <a:alpha val="43137"/>
                    </a:srgbClr>
                  </a:outerShdw>
                </a:effectLst>
                <a:latin typeface="Bookman Old Style" panose="02050604050505020204" pitchFamily="18" charset="0"/>
              </a:rPr>
              <a:t>%JAVA_HOME% </a:t>
            </a:r>
            <a:r>
              <a:rPr lang="en-CA" dirty="0">
                <a:effectLst>
                  <a:outerShdw blurRad="38100" dist="38100" dir="2700000" algn="tl">
                    <a:srgbClr val="000000">
                      <a:alpha val="43137"/>
                    </a:srgbClr>
                  </a:outerShdw>
                </a:effectLst>
                <a:latin typeface="Bookman Old Style" panose="02050604050505020204" pitchFamily="18" charset="0"/>
              </a:rPr>
              <a:t>on command prompt (</a:t>
            </a:r>
            <a:r>
              <a:rPr lang="en-CA" dirty="0" err="1">
                <a:effectLst>
                  <a:outerShdw blurRad="38100" dist="38100" dir="2700000" algn="tl">
                    <a:srgbClr val="000000">
                      <a:alpha val="43137"/>
                    </a:srgbClr>
                  </a:outerShdw>
                </a:effectLst>
                <a:latin typeface="Bookman Old Style" panose="02050604050505020204" pitchFamily="18" charset="0"/>
              </a:rPr>
              <a:t>cmd</a:t>
            </a:r>
            <a:r>
              <a:rPr lang="en-CA" dirty="0">
                <a:effectLst>
                  <a:outerShdw blurRad="38100" dist="38100" dir="2700000" algn="tl">
                    <a:srgbClr val="000000">
                      <a:alpha val="43137"/>
                    </a:srgbClr>
                  </a:outerShdw>
                </a:effectLst>
                <a:latin typeface="Bookman Old Style" panose="02050604050505020204" pitchFamily="18" charset="0"/>
              </a:rPr>
              <a:t>), you should see your JDK path displayed</a:t>
            </a:r>
          </a:p>
          <a:p>
            <a:pPr marL="285750"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Check the Java version installed by running the command </a:t>
            </a:r>
            <a:r>
              <a:rPr lang="en-CA" b="1" dirty="0">
                <a:effectLst>
                  <a:outerShdw blurRad="38100" dist="38100" dir="2700000" algn="tl">
                    <a:srgbClr val="000000">
                      <a:alpha val="43137"/>
                    </a:srgbClr>
                  </a:outerShdw>
                </a:effectLst>
                <a:latin typeface="Bookman Old Style" panose="02050604050505020204" pitchFamily="18" charset="0"/>
              </a:rPr>
              <a:t>java -version</a:t>
            </a:r>
          </a:p>
          <a:p>
            <a:pPr marL="285750"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7" name="Picture 6" descr="A black background with white text&#10;&#10;AI-generated content may be incorrect.">
            <a:extLst>
              <a:ext uri="{FF2B5EF4-FFF2-40B4-BE49-F238E27FC236}">
                <a16:creationId xmlns:a16="http://schemas.microsoft.com/office/drawing/2014/main" id="{481ACF22-E500-696E-E08E-E971A500A3CB}"/>
              </a:ext>
            </a:extLst>
          </p:cNvPr>
          <p:cNvPicPr>
            <a:picLocks noChangeAspect="1"/>
          </p:cNvPicPr>
          <p:nvPr/>
        </p:nvPicPr>
        <p:blipFill>
          <a:blip r:embed="rId3"/>
          <a:stretch>
            <a:fillRect/>
          </a:stretch>
        </p:blipFill>
        <p:spPr>
          <a:xfrm>
            <a:off x="601980" y="3128962"/>
            <a:ext cx="4034028" cy="804252"/>
          </a:xfrm>
          <a:prstGeom prst="rect">
            <a:avLst/>
          </a:prstGeom>
        </p:spPr>
      </p:pic>
      <p:pic>
        <p:nvPicPr>
          <p:cNvPr id="8" name="Picture 7" descr="A screen shot of a computer&#10;&#10;AI-generated content may be incorrect.">
            <a:extLst>
              <a:ext uri="{FF2B5EF4-FFF2-40B4-BE49-F238E27FC236}">
                <a16:creationId xmlns:a16="http://schemas.microsoft.com/office/drawing/2014/main" id="{9BB823B0-D5D3-8D9D-2524-7E8C9C10E051}"/>
              </a:ext>
            </a:extLst>
          </p:cNvPr>
          <p:cNvPicPr>
            <a:picLocks noChangeAspect="1"/>
          </p:cNvPicPr>
          <p:nvPr/>
        </p:nvPicPr>
        <p:blipFill>
          <a:blip r:embed="rId4"/>
          <a:stretch>
            <a:fillRect/>
          </a:stretch>
        </p:blipFill>
        <p:spPr>
          <a:xfrm>
            <a:off x="601980" y="4880863"/>
            <a:ext cx="7170420" cy="1483113"/>
          </a:xfrm>
          <a:prstGeom prst="rect">
            <a:avLst/>
          </a:prstGeom>
        </p:spPr>
      </p:pic>
    </p:spTree>
    <p:extLst>
      <p:ext uri="{BB962C8B-B14F-4D97-AF65-F5344CB8AC3E}">
        <p14:creationId xmlns:p14="http://schemas.microsoft.com/office/powerpoint/2010/main" val="3066053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12AB7-8406-F1AE-8E9E-42BBDDA527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B40CCBB-27DF-6E20-11BB-909D3B6D7912}"/>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CB3700F7-F6D0-C64C-AD66-FB748131C45F}"/>
              </a:ext>
            </a:extLst>
          </p:cNvPr>
          <p:cNvSpPr txBox="1"/>
          <p:nvPr/>
        </p:nvSpPr>
        <p:spPr>
          <a:xfrm>
            <a:off x="162306" y="244655"/>
            <a:ext cx="899998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BDF44A31-901D-C590-BE32-6AFE5D5B558B}"/>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4. 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4" name="TextBox 3">
            <a:extLst>
              <a:ext uri="{FF2B5EF4-FFF2-40B4-BE49-F238E27FC236}">
                <a16:creationId xmlns:a16="http://schemas.microsoft.com/office/drawing/2014/main" id="{AC262AC8-E3B8-1D60-8FE3-26B8F9A513DF}"/>
              </a:ext>
            </a:extLst>
          </p:cNvPr>
          <p:cNvSpPr txBox="1"/>
          <p:nvPr/>
        </p:nvSpPr>
        <p:spPr>
          <a:xfrm>
            <a:off x="162306" y="1672744"/>
            <a:ext cx="11852910" cy="544674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Android Studio is essential for React Native development because it </a:t>
            </a:r>
            <a:r>
              <a:rPr lang="en-US" b="1" dirty="0">
                <a:effectLst>
                  <a:outerShdw blurRad="38100" dist="38100" dir="2700000" algn="tl">
                    <a:srgbClr val="000000">
                      <a:alpha val="43137"/>
                    </a:srgbClr>
                  </a:outerShdw>
                </a:effectLst>
                <a:latin typeface="Bookman Old Style" panose="02050604050505020204" pitchFamily="18" charset="0"/>
              </a:rPr>
              <a:t>provides the Android SDK, necessary for building and running Android apps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It </a:t>
            </a:r>
            <a:r>
              <a:rPr lang="en-US" b="1" dirty="0">
                <a:effectLst>
                  <a:outerShdw blurRad="38100" dist="38100" dir="2700000" algn="tl">
                    <a:srgbClr val="000000">
                      <a:alpha val="43137"/>
                    </a:srgbClr>
                  </a:outerShdw>
                </a:effectLst>
                <a:latin typeface="Bookman Old Style" panose="02050604050505020204" pitchFamily="18" charset="0"/>
              </a:rPr>
              <a:t>also includes an emulator for testing</a:t>
            </a:r>
            <a:r>
              <a:rPr lang="en-US" dirty="0">
                <a:effectLst>
                  <a:outerShdw blurRad="38100" dist="38100" dir="2700000" algn="tl">
                    <a:srgbClr val="000000">
                      <a:alpha val="43137"/>
                    </a:srgbClr>
                  </a:outerShdw>
                </a:effectLst>
                <a:latin typeface="Bookman Old Style" panose="02050604050505020204" pitchFamily="18" charset="0"/>
              </a:rPr>
              <a:t>, </a:t>
            </a:r>
            <a:r>
              <a:rPr lang="en-US" b="1" dirty="0">
                <a:effectLst>
                  <a:outerShdw blurRad="38100" dist="38100" dir="2700000" algn="tl">
                    <a:srgbClr val="000000">
                      <a:alpha val="43137"/>
                    </a:srgbClr>
                  </a:outerShdw>
                </a:effectLst>
                <a:latin typeface="Bookman Old Style" panose="02050604050505020204" pitchFamily="18" charset="0"/>
              </a:rPr>
              <a:t>Gradle for automating builds, and tools for managing native Android code</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Additionally, </a:t>
            </a:r>
            <a:r>
              <a:rPr lang="en-US" b="1" dirty="0">
                <a:effectLst>
                  <a:outerShdw blurRad="38100" dist="38100" dir="2700000" algn="tl">
                    <a:srgbClr val="000000">
                      <a:alpha val="43137"/>
                    </a:srgbClr>
                  </a:outerShdw>
                </a:effectLst>
                <a:latin typeface="Bookman Old Style" panose="02050604050505020204" pitchFamily="18" charset="0"/>
              </a:rPr>
              <a:t>Android Studio simplifies setting up and managing Android Virtual Devices (AVDs</a:t>
            </a:r>
            <a:r>
              <a:rPr lang="en-US" dirty="0">
                <a:effectLst>
                  <a:outerShdw blurRad="38100" dist="38100" dir="2700000" algn="tl">
                    <a:srgbClr val="000000">
                      <a:alpha val="43137"/>
                    </a:srgbClr>
                  </a:outerShdw>
                </a:effectLst>
                <a:latin typeface="Bookman Old Style" panose="02050604050505020204" pitchFamily="18" charset="0"/>
              </a:rPr>
              <a:t>) and ensures you have the proper environment for debugging and developing Android-specific features in your React Native app</a:t>
            </a:r>
          </a:p>
          <a:p>
            <a:pPr marL="285750"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CA"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sp>
        <p:nvSpPr>
          <p:cNvPr id="3" name="TextBox 2">
            <a:extLst>
              <a:ext uri="{FF2B5EF4-FFF2-40B4-BE49-F238E27FC236}">
                <a16:creationId xmlns:a16="http://schemas.microsoft.com/office/drawing/2014/main" id="{73BC7A20-47B3-4408-413E-36F49DCDDC55}"/>
              </a:ext>
            </a:extLst>
          </p:cNvPr>
          <p:cNvSpPr txBox="1"/>
          <p:nvPr/>
        </p:nvSpPr>
        <p:spPr>
          <a:xfrm>
            <a:off x="176784" y="4525672"/>
            <a:ext cx="12368784" cy="49923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dirty="0">
                <a:effectLst>
                  <a:outerShdw blurRad="38100" dist="38100" dir="2700000" algn="tl">
                    <a:srgbClr val="000000">
                      <a:alpha val="43137"/>
                    </a:srgbClr>
                  </a:outerShdw>
                </a:effectLst>
                <a:latin typeface="Bookman Old Style" panose="02050604050505020204" pitchFamily="18" charset="0"/>
              </a:rPr>
              <a:t>Download and install Android Studio at the link </a:t>
            </a:r>
            <a:r>
              <a:rPr lang="en-US" sz="2000" b="1" dirty="0">
                <a:effectLst>
                  <a:outerShdw blurRad="38100" dist="38100" dir="2700000" algn="tl">
                    <a:srgbClr val="000000">
                      <a:alpha val="43137"/>
                    </a:srgbClr>
                  </a:outerShdw>
                </a:effectLst>
                <a:latin typeface="Bookman Old Style" panose="02050604050505020204" pitchFamily="18" charset="0"/>
                <a:hlinkClick r:id="rId3"/>
              </a:rPr>
              <a:t>https://developer.android.com/studio</a:t>
            </a:r>
            <a:endParaRPr lang="en-US" sz="2000" b="1" dirty="0">
              <a:effectLst>
                <a:outerShdw blurRad="38100" dist="38100" dir="2700000" algn="tl">
                  <a:srgbClr val="000000">
                    <a:alpha val="43137"/>
                  </a:srgbClr>
                </a:outerShdw>
              </a:effectLst>
              <a:latin typeface="Bookman Old Style" panose="02050604050505020204" pitchFamily="18" charset="0"/>
            </a:endParaRPr>
          </a:p>
        </p:txBody>
      </p:sp>
      <p:pic>
        <p:nvPicPr>
          <p:cNvPr id="9" name="Picture 8">
            <a:extLst>
              <a:ext uri="{FF2B5EF4-FFF2-40B4-BE49-F238E27FC236}">
                <a16:creationId xmlns:a16="http://schemas.microsoft.com/office/drawing/2014/main" id="{5E5B8A5F-E499-D590-AD69-B8C7FED87CE7}"/>
              </a:ext>
            </a:extLst>
          </p:cNvPr>
          <p:cNvPicPr>
            <a:picLocks noChangeAspect="1"/>
          </p:cNvPicPr>
          <p:nvPr/>
        </p:nvPicPr>
        <p:blipFill>
          <a:blip r:embed="rId4"/>
          <a:stretch>
            <a:fillRect/>
          </a:stretch>
        </p:blipFill>
        <p:spPr>
          <a:xfrm>
            <a:off x="3685032" y="5097000"/>
            <a:ext cx="3145536" cy="1630713"/>
          </a:xfrm>
          <a:prstGeom prst="rect">
            <a:avLst/>
          </a:prstGeom>
        </p:spPr>
      </p:pic>
    </p:spTree>
    <p:extLst>
      <p:ext uri="{BB962C8B-B14F-4D97-AF65-F5344CB8AC3E}">
        <p14:creationId xmlns:p14="http://schemas.microsoft.com/office/powerpoint/2010/main" val="2546588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B922E-B9BC-6ECD-CB06-F588BB087F4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E4CD993-0900-976C-88E0-729EDA22A6AE}"/>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90188988-09AF-F2AB-5190-9DC49902DA37}"/>
              </a:ext>
            </a:extLst>
          </p:cNvPr>
          <p:cNvSpPr txBox="1"/>
          <p:nvPr/>
        </p:nvSpPr>
        <p:spPr>
          <a:xfrm>
            <a:off x="162306" y="244655"/>
            <a:ext cx="8698230"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F2536627-53F3-CBFC-A629-A577486ECD24}"/>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pic>
        <p:nvPicPr>
          <p:cNvPr id="7" name="Picture 6">
            <a:extLst>
              <a:ext uri="{FF2B5EF4-FFF2-40B4-BE49-F238E27FC236}">
                <a16:creationId xmlns:a16="http://schemas.microsoft.com/office/drawing/2014/main" id="{5EAF5461-3AC2-7B5F-1C3C-1BAD3949F128}"/>
              </a:ext>
            </a:extLst>
          </p:cNvPr>
          <p:cNvPicPr>
            <a:picLocks noChangeAspect="1"/>
          </p:cNvPicPr>
          <p:nvPr/>
        </p:nvPicPr>
        <p:blipFill>
          <a:blip r:embed="rId3"/>
          <a:stretch>
            <a:fillRect/>
          </a:stretch>
        </p:blipFill>
        <p:spPr>
          <a:xfrm>
            <a:off x="719327" y="1862835"/>
            <a:ext cx="6769063" cy="3819834"/>
          </a:xfrm>
          <a:prstGeom prst="rect">
            <a:avLst/>
          </a:prstGeom>
        </p:spPr>
      </p:pic>
      <p:sp>
        <p:nvSpPr>
          <p:cNvPr id="10" name="TextBox 9">
            <a:extLst>
              <a:ext uri="{FF2B5EF4-FFF2-40B4-BE49-F238E27FC236}">
                <a16:creationId xmlns:a16="http://schemas.microsoft.com/office/drawing/2014/main" id="{07944D63-26EA-20CB-5178-CEE5E2D331F7}"/>
              </a:ext>
            </a:extLst>
          </p:cNvPr>
          <p:cNvSpPr txBox="1"/>
          <p:nvPr/>
        </p:nvSpPr>
        <p:spPr>
          <a:xfrm>
            <a:off x="269748" y="5712088"/>
            <a:ext cx="2061972"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Click ‘Next’</a:t>
            </a:r>
          </a:p>
        </p:txBody>
      </p:sp>
    </p:spTree>
    <p:extLst>
      <p:ext uri="{BB962C8B-B14F-4D97-AF65-F5344CB8AC3E}">
        <p14:creationId xmlns:p14="http://schemas.microsoft.com/office/powerpoint/2010/main" val="3159939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E59E-405A-3DBD-DADE-B53629E6BE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72CB01-B1B7-C09B-3D90-AEDA22C80FC3}"/>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07D7D7C3-D10D-403A-978B-28C0EB3F0C91}"/>
              </a:ext>
            </a:extLst>
          </p:cNvPr>
          <p:cNvSpPr txBox="1"/>
          <p:nvPr/>
        </p:nvSpPr>
        <p:spPr>
          <a:xfrm>
            <a:off x="162306" y="244655"/>
            <a:ext cx="8515350"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285FF7B7-1622-0BEA-0F1F-2350ACA88DF1}"/>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10" name="TextBox 9">
            <a:extLst>
              <a:ext uri="{FF2B5EF4-FFF2-40B4-BE49-F238E27FC236}">
                <a16:creationId xmlns:a16="http://schemas.microsoft.com/office/drawing/2014/main" id="{94BA954F-9BCE-1B80-E06E-341F9CEF804A}"/>
              </a:ext>
            </a:extLst>
          </p:cNvPr>
          <p:cNvSpPr txBox="1"/>
          <p:nvPr/>
        </p:nvSpPr>
        <p:spPr>
          <a:xfrm>
            <a:off x="269748" y="5712088"/>
            <a:ext cx="12458700" cy="8762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Make sure that you have selected ‘</a:t>
            </a:r>
            <a:r>
              <a:rPr lang="en-CA" b="1" dirty="0">
                <a:effectLst>
                  <a:outerShdw blurRad="38100" dist="38100" dir="2700000" algn="tl">
                    <a:srgbClr val="000000">
                      <a:alpha val="43137"/>
                    </a:srgbClr>
                  </a:outerShdw>
                </a:effectLst>
                <a:latin typeface="Bookman Old Style" panose="02050604050505020204" pitchFamily="18" charset="0"/>
              </a:rPr>
              <a:t>Android Virtual Device</a:t>
            </a:r>
            <a:r>
              <a:rPr lang="en-CA" dirty="0">
                <a:effectLst>
                  <a:outerShdw blurRad="38100" dist="38100" dir="2700000" algn="tl">
                    <a:srgbClr val="000000">
                      <a:alpha val="43137"/>
                    </a:srgbClr>
                  </a:outerShdw>
                </a:effectLst>
                <a:latin typeface="Bookman Old Style" panose="02050604050505020204" pitchFamily="18" charset="0"/>
              </a:rPr>
              <a:t>’</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Click ‘Next’</a:t>
            </a:r>
          </a:p>
        </p:txBody>
      </p:sp>
      <p:pic>
        <p:nvPicPr>
          <p:cNvPr id="3" name="Picture 2">
            <a:extLst>
              <a:ext uri="{FF2B5EF4-FFF2-40B4-BE49-F238E27FC236}">
                <a16:creationId xmlns:a16="http://schemas.microsoft.com/office/drawing/2014/main" id="{1A91BB60-12CA-1589-7157-CACBD0122909}"/>
              </a:ext>
            </a:extLst>
          </p:cNvPr>
          <p:cNvPicPr>
            <a:picLocks noChangeAspect="1"/>
          </p:cNvPicPr>
          <p:nvPr/>
        </p:nvPicPr>
        <p:blipFill>
          <a:blip r:embed="rId3"/>
          <a:stretch>
            <a:fillRect/>
          </a:stretch>
        </p:blipFill>
        <p:spPr>
          <a:xfrm>
            <a:off x="1300734" y="1943491"/>
            <a:ext cx="5648706" cy="3406142"/>
          </a:xfrm>
          <a:prstGeom prst="rect">
            <a:avLst/>
          </a:prstGeom>
        </p:spPr>
      </p:pic>
    </p:spTree>
    <p:extLst>
      <p:ext uri="{BB962C8B-B14F-4D97-AF65-F5344CB8AC3E}">
        <p14:creationId xmlns:p14="http://schemas.microsoft.com/office/powerpoint/2010/main" val="3721956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64C05-A75F-3F40-35E9-5BE3393DE1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86845B9-407D-19C8-7157-A65EC6F64154}"/>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27255E99-76BE-EFD5-C846-E14DECF3CEAB}"/>
              </a:ext>
            </a:extLst>
          </p:cNvPr>
          <p:cNvSpPr txBox="1"/>
          <p:nvPr/>
        </p:nvSpPr>
        <p:spPr>
          <a:xfrm>
            <a:off x="162306" y="244655"/>
            <a:ext cx="9393174"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BB37C851-526F-5824-75B3-FE6CADCA1E43}"/>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10" name="TextBox 9">
            <a:extLst>
              <a:ext uri="{FF2B5EF4-FFF2-40B4-BE49-F238E27FC236}">
                <a16:creationId xmlns:a16="http://schemas.microsoft.com/office/drawing/2014/main" id="{C1617CB8-F866-20A7-F663-0C4C79CB1F75}"/>
              </a:ext>
            </a:extLst>
          </p:cNvPr>
          <p:cNvSpPr txBox="1"/>
          <p:nvPr/>
        </p:nvSpPr>
        <p:spPr>
          <a:xfrm>
            <a:off x="269748" y="5712088"/>
            <a:ext cx="12458700" cy="8762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Keep the default location for installing Android Studio</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Click ‘Next’</a:t>
            </a:r>
          </a:p>
        </p:txBody>
      </p:sp>
      <p:pic>
        <p:nvPicPr>
          <p:cNvPr id="4" name="Picture 3">
            <a:extLst>
              <a:ext uri="{FF2B5EF4-FFF2-40B4-BE49-F238E27FC236}">
                <a16:creationId xmlns:a16="http://schemas.microsoft.com/office/drawing/2014/main" id="{6AA43B89-1794-875D-3A96-2E5A69510686}"/>
              </a:ext>
            </a:extLst>
          </p:cNvPr>
          <p:cNvPicPr>
            <a:picLocks noChangeAspect="1"/>
          </p:cNvPicPr>
          <p:nvPr/>
        </p:nvPicPr>
        <p:blipFill>
          <a:blip r:embed="rId3"/>
          <a:stretch>
            <a:fillRect/>
          </a:stretch>
        </p:blipFill>
        <p:spPr>
          <a:xfrm>
            <a:off x="1014984" y="1840983"/>
            <a:ext cx="6089904" cy="3822704"/>
          </a:xfrm>
          <a:prstGeom prst="rect">
            <a:avLst/>
          </a:prstGeom>
        </p:spPr>
      </p:pic>
    </p:spTree>
    <p:extLst>
      <p:ext uri="{BB962C8B-B14F-4D97-AF65-F5344CB8AC3E}">
        <p14:creationId xmlns:p14="http://schemas.microsoft.com/office/powerpoint/2010/main" val="3148032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AE749-D441-371F-8318-00B3B1ECCF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85679C-6754-2E18-ED95-1C855CF3FF89}"/>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3903E341-DB3C-3FFB-E49B-1046DA881315}"/>
              </a:ext>
            </a:extLst>
          </p:cNvPr>
          <p:cNvSpPr txBox="1"/>
          <p:nvPr/>
        </p:nvSpPr>
        <p:spPr>
          <a:xfrm>
            <a:off x="162306" y="244655"/>
            <a:ext cx="8899398"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1038809E-125F-BEE5-B15C-619FA0BD6773}"/>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10" name="TextBox 9">
            <a:extLst>
              <a:ext uri="{FF2B5EF4-FFF2-40B4-BE49-F238E27FC236}">
                <a16:creationId xmlns:a16="http://schemas.microsoft.com/office/drawing/2014/main" id="{88983C01-C14C-526B-15CF-8E23DB6BEEDD}"/>
              </a:ext>
            </a:extLst>
          </p:cNvPr>
          <p:cNvSpPr txBox="1"/>
          <p:nvPr/>
        </p:nvSpPr>
        <p:spPr>
          <a:xfrm>
            <a:off x="269748" y="5712088"/>
            <a:ext cx="12458700"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Click ‘Next’</a:t>
            </a:r>
          </a:p>
        </p:txBody>
      </p:sp>
      <p:pic>
        <p:nvPicPr>
          <p:cNvPr id="3" name="Picture 2">
            <a:extLst>
              <a:ext uri="{FF2B5EF4-FFF2-40B4-BE49-F238E27FC236}">
                <a16:creationId xmlns:a16="http://schemas.microsoft.com/office/drawing/2014/main" id="{2F2B7527-7C6B-F5E0-5069-9B01F4E9A166}"/>
              </a:ext>
            </a:extLst>
          </p:cNvPr>
          <p:cNvPicPr>
            <a:picLocks noChangeAspect="1"/>
          </p:cNvPicPr>
          <p:nvPr/>
        </p:nvPicPr>
        <p:blipFill>
          <a:blip r:embed="rId3"/>
          <a:stretch>
            <a:fillRect/>
          </a:stretch>
        </p:blipFill>
        <p:spPr>
          <a:xfrm>
            <a:off x="725126" y="1943491"/>
            <a:ext cx="5693962" cy="3680629"/>
          </a:xfrm>
          <a:prstGeom prst="rect">
            <a:avLst/>
          </a:prstGeom>
        </p:spPr>
      </p:pic>
    </p:spTree>
    <p:extLst>
      <p:ext uri="{BB962C8B-B14F-4D97-AF65-F5344CB8AC3E}">
        <p14:creationId xmlns:p14="http://schemas.microsoft.com/office/powerpoint/2010/main" val="1137309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F0527-1C1C-5B4F-1CE9-FC2FEE56BC1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D9FC193-5951-78C6-65D1-5C757ED109BB}"/>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DBF7650-D3FE-5510-92F4-8C6FBF6AA10C}"/>
              </a:ext>
            </a:extLst>
          </p:cNvPr>
          <p:cNvSpPr txBox="1"/>
          <p:nvPr/>
        </p:nvSpPr>
        <p:spPr>
          <a:xfrm>
            <a:off x="162306" y="244655"/>
            <a:ext cx="9036558"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F42279A4-72DF-EB10-6C4F-D9C7C38087B2}"/>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10" name="TextBox 9">
            <a:extLst>
              <a:ext uri="{FF2B5EF4-FFF2-40B4-BE49-F238E27FC236}">
                <a16:creationId xmlns:a16="http://schemas.microsoft.com/office/drawing/2014/main" id="{DB25FA05-8773-6BDF-6408-2CF38DAC2258}"/>
              </a:ext>
            </a:extLst>
          </p:cNvPr>
          <p:cNvSpPr txBox="1"/>
          <p:nvPr/>
        </p:nvSpPr>
        <p:spPr>
          <a:xfrm>
            <a:off x="269748" y="5712088"/>
            <a:ext cx="12458700"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Click ‘Finish’</a:t>
            </a:r>
          </a:p>
        </p:txBody>
      </p:sp>
      <p:pic>
        <p:nvPicPr>
          <p:cNvPr id="4" name="Picture 3">
            <a:extLst>
              <a:ext uri="{FF2B5EF4-FFF2-40B4-BE49-F238E27FC236}">
                <a16:creationId xmlns:a16="http://schemas.microsoft.com/office/drawing/2014/main" id="{E2CAF7D0-BFBE-93FF-7E8F-98FB6E0DC03D}"/>
              </a:ext>
            </a:extLst>
          </p:cNvPr>
          <p:cNvPicPr>
            <a:picLocks noChangeAspect="1"/>
          </p:cNvPicPr>
          <p:nvPr/>
        </p:nvPicPr>
        <p:blipFill>
          <a:blip r:embed="rId3"/>
          <a:stretch>
            <a:fillRect/>
          </a:stretch>
        </p:blipFill>
        <p:spPr>
          <a:xfrm>
            <a:off x="717016" y="1810511"/>
            <a:ext cx="4684039" cy="3552063"/>
          </a:xfrm>
          <a:prstGeom prst="rect">
            <a:avLst/>
          </a:prstGeom>
        </p:spPr>
      </p:pic>
      <p:pic>
        <p:nvPicPr>
          <p:cNvPr id="7" name="Picture 6">
            <a:extLst>
              <a:ext uri="{FF2B5EF4-FFF2-40B4-BE49-F238E27FC236}">
                <a16:creationId xmlns:a16="http://schemas.microsoft.com/office/drawing/2014/main" id="{B6C62EDE-599A-AAD2-1E04-C1A7DD1A5ADD}"/>
              </a:ext>
            </a:extLst>
          </p:cNvPr>
          <p:cNvPicPr>
            <a:picLocks noChangeAspect="1"/>
          </p:cNvPicPr>
          <p:nvPr/>
        </p:nvPicPr>
        <p:blipFill>
          <a:blip r:embed="rId4"/>
          <a:stretch>
            <a:fillRect/>
          </a:stretch>
        </p:blipFill>
        <p:spPr>
          <a:xfrm>
            <a:off x="6005292" y="1810511"/>
            <a:ext cx="4784627" cy="3595116"/>
          </a:xfrm>
          <a:prstGeom prst="rect">
            <a:avLst/>
          </a:prstGeom>
        </p:spPr>
      </p:pic>
    </p:spTree>
    <p:extLst>
      <p:ext uri="{BB962C8B-B14F-4D97-AF65-F5344CB8AC3E}">
        <p14:creationId xmlns:p14="http://schemas.microsoft.com/office/powerpoint/2010/main" val="1052051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3BAB9-1109-2E10-1275-9F541109989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6C8143-D66A-E941-2BA2-F109F937817F}"/>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344BCBC1-B92B-3A6A-8DA7-AA38B2E53F55}"/>
              </a:ext>
            </a:extLst>
          </p:cNvPr>
          <p:cNvSpPr txBox="1"/>
          <p:nvPr/>
        </p:nvSpPr>
        <p:spPr>
          <a:xfrm>
            <a:off x="162306" y="244655"/>
            <a:ext cx="8789670"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E5EC965F-5F3E-954E-0C6B-7E5D1D7B6F5E}"/>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10" name="TextBox 9">
            <a:extLst>
              <a:ext uri="{FF2B5EF4-FFF2-40B4-BE49-F238E27FC236}">
                <a16:creationId xmlns:a16="http://schemas.microsoft.com/office/drawing/2014/main" id="{80022AEA-0825-7F46-FEF8-CF39C461B487}"/>
              </a:ext>
            </a:extLst>
          </p:cNvPr>
          <p:cNvSpPr txBox="1"/>
          <p:nvPr/>
        </p:nvSpPr>
        <p:spPr>
          <a:xfrm>
            <a:off x="162306" y="1672744"/>
            <a:ext cx="12458700" cy="88190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Launch Android Studio</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8" name="Picture 7">
            <a:extLst>
              <a:ext uri="{FF2B5EF4-FFF2-40B4-BE49-F238E27FC236}">
                <a16:creationId xmlns:a16="http://schemas.microsoft.com/office/drawing/2014/main" id="{1E5F1A15-104C-7FBA-C91D-FD8862B4ED2C}"/>
              </a:ext>
            </a:extLst>
          </p:cNvPr>
          <p:cNvPicPr>
            <a:picLocks noChangeAspect="1"/>
          </p:cNvPicPr>
          <p:nvPr/>
        </p:nvPicPr>
        <p:blipFill>
          <a:blip r:embed="rId3"/>
          <a:stretch>
            <a:fillRect/>
          </a:stretch>
        </p:blipFill>
        <p:spPr>
          <a:xfrm>
            <a:off x="487908" y="2324933"/>
            <a:ext cx="4888764" cy="3698956"/>
          </a:xfrm>
          <a:prstGeom prst="rect">
            <a:avLst/>
          </a:prstGeom>
        </p:spPr>
      </p:pic>
      <p:sp>
        <p:nvSpPr>
          <p:cNvPr id="9" name="TextBox 8">
            <a:extLst>
              <a:ext uri="{FF2B5EF4-FFF2-40B4-BE49-F238E27FC236}">
                <a16:creationId xmlns:a16="http://schemas.microsoft.com/office/drawing/2014/main" id="{3D60265C-EA78-E15D-D55A-21CC1CD49A47}"/>
              </a:ext>
            </a:extLst>
          </p:cNvPr>
          <p:cNvSpPr txBox="1"/>
          <p:nvPr/>
        </p:nvSpPr>
        <p:spPr>
          <a:xfrm>
            <a:off x="259842" y="6235124"/>
            <a:ext cx="12458700"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Click ‘Next’</a:t>
            </a:r>
          </a:p>
        </p:txBody>
      </p:sp>
    </p:spTree>
    <p:extLst>
      <p:ext uri="{BB962C8B-B14F-4D97-AF65-F5344CB8AC3E}">
        <p14:creationId xmlns:p14="http://schemas.microsoft.com/office/powerpoint/2010/main" val="1265455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5010D-971D-A4A8-F131-E921C1C288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1F8BB47-1298-8E69-2E2E-D73380AF0F46}"/>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28B287D-9D76-4B46-02F5-9440916B114A}"/>
              </a:ext>
            </a:extLst>
          </p:cNvPr>
          <p:cNvSpPr txBox="1"/>
          <p:nvPr/>
        </p:nvSpPr>
        <p:spPr>
          <a:xfrm>
            <a:off x="162306" y="244655"/>
            <a:ext cx="8597646"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37EE1DFC-54E7-8806-822D-4C0CD3E972FA}"/>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FE04D3AA-1D75-F2C7-8B21-900C3CD216FA}"/>
              </a:ext>
            </a:extLst>
          </p:cNvPr>
          <p:cNvSpPr txBox="1"/>
          <p:nvPr/>
        </p:nvSpPr>
        <p:spPr>
          <a:xfrm>
            <a:off x="232410" y="5979070"/>
            <a:ext cx="12458700" cy="8762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Keep the </a:t>
            </a:r>
            <a:r>
              <a:rPr lang="en-CA" b="1" dirty="0">
                <a:effectLst>
                  <a:outerShdw blurRad="38100" dist="38100" dir="2700000" algn="tl">
                    <a:srgbClr val="000000">
                      <a:alpha val="43137"/>
                    </a:srgbClr>
                  </a:outerShdw>
                </a:effectLst>
                <a:latin typeface="Bookman Old Style" panose="02050604050505020204" pitchFamily="18" charset="0"/>
              </a:rPr>
              <a:t>standard type </a:t>
            </a:r>
            <a:r>
              <a:rPr lang="en-CA" dirty="0">
                <a:effectLst>
                  <a:outerShdw blurRad="38100" dist="38100" dir="2700000" algn="tl">
                    <a:srgbClr val="000000">
                      <a:alpha val="43137"/>
                    </a:srgbClr>
                  </a:outerShdw>
                </a:effectLst>
                <a:latin typeface="Bookman Old Style" panose="02050604050505020204" pitchFamily="18" charset="0"/>
              </a:rPr>
              <a:t>of set up</a:t>
            </a: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Click ‘Next’</a:t>
            </a:r>
          </a:p>
        </p:txBody>
      </p:sp>
      <p:pic>
        <p:nvPicPr>
          <p:cNvPr id="3" name="Picture 2">
            <a:extLst>
              <a:ext uri="{FF2B5EF4-FFF2-40B4-BE49-F238E27FC236}">
                <a16:creationId xmlns:a16="http://schemas.microsoft.com/office/drawing/2014/main" id="{79C99414-BBAA-E51F-6208-CE21834D5E25}"/>
              </a:ext>
            </a:extLst>
          </p:cNvPr>
          <p:cNvPicPr>
            <a:picLocks noChangeAspect="1"/>
          </p:cNvPicPr>
          <p:nvPr/>
        </p:nvPicPr>
        <p:blipFill>
          <a:blip r:embed="rId3"/>
          <a:stretch>
            <a:fillRect/>
          </a:stretch>
        </p:blipFill>
        <p:spPr>
          <a:xfrm>
            <a:off x="374904" y="1829297"/>
            <a:ext cx="5989320" cy="3993220"/>
          </a:xfrm>
          <a:prstGeom prst="rect">
            <a:avLst/>
          </a:prstGeom>
        </p:spPr>
      </p:pic>
    </p:spTree>
    <p:extLst>
      <p:ext uri="{BB962C8B-B14F-4D97-AF65-F5344CB8AC3E}">
        <p14:creationId xmlns:p14="http://schemas.microsoft.com/office/powerpoint/2010/main" val="2045446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F7FE8-23AA-38BD-2131-67DF8BD3393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09590C2-AC05-02A2-A8CD-FFF12808ACAE}"/>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469C3A8A-07C2-D9B7-844C-D26D38A28BC7}"/>
              </a:ext>
            </a:extLst>
          </p:cNvPr>
          <p:cNvSpPr txBox="1"/>
          <p:nvPr/>
        </p:nvSpPr>
        <p:spPr>
          <a:xfrm>
            <a:off x="162306" y="244655"/>
            <a:ext cx="8625078"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B8816AC7-145D-3DFC-B45B-4C8570F8CC7C}"/>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68DEAFB4-D703-04CE-522D-A3190FAE6B6F}"/>
              </a:ext>
            </a:extLst>
          </p:cNvPr>
          <p:cNvSpPr txBox="1"/>
          <p:nvPr/>
        </p:nvSpPr>
        <p:spPr>
          <a:xfrm>
            <a:off x="162306" y="5636277"/>
            <a:ext cx="12458700"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Click ‘Next’</a:t>
            </a:r>
          </a:p>
        </p:txBody>
      </p:sp>
      <p:pic>
        <p:nvPicPr>
          <p:cNvPr id="4" name="Picture 3">
            <a:extLst>
              <a:ext uri="{FF2B5EF4-FFF2-40B4-BE49-F238E27FC236}">
                <a16:creationId xmlns:a16="http://schemas.microsoft.com/office/drawing/2014/main" id="{F9088B5D-A0BE-B6A3-6B38-E1635DF40379}"/>
              </a:ext>
            </a:extLst>
          </p:cNvPr>
          <p:cNvPicPr>
            <a:picLocks noChangeAspect="1"/>
          </p:cNvPicPr>
          <p:nvPr/>
        </p:nvPicPr>
        <p:blipFill>
          <a:blip r:embed="rId3"/>
          <a:stretch>
            <a:fillRect/>
          </a:stretch>
        </p:blipFill>
        <p:spPr>
          <a:xfrm>
            <a:off x="301752" y="1805940"/>
            <a:ext cx="4806696" cy="3605022"/>
          </a:xfrm>
          <a:prstGeom prst="rect">
            <a:avLst/>
          </a:prstGeom>
        </p:spPr>
      </p:pic>
    </p:spTree>
    <p:extLst>
      <p:ext uri="{BB962C8B-B14F-4D97-AF65-F5344CB8AC3E}">
        <p14:creationId xmlns:p14="http://schemas.microsoft.com/office/powerpoint/2010/main" val="1422053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31779-D4FE-888E-6135-8B955E68FA9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5F3A81-5599-18EC-4ACA-7E5676D9FF75}"/>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1504B9AE-3C2D-9BF2-7CF9-1ADEF3B8B055}"/>
              </a:ext>
            </a:extLst>
          </p:cNvPr>
          <p:cNvSpPr txBox="1"/>
          <p:nvPr/>
        </p:nvSpPr>
        <p:spPr>
          <a:xfrm>
            <a:off x="162306" y="244655"/>
            <a:ext cx="8433054"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4199CE07-AC23-EA10-75ED-D45E5C1A3BED}"/>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0A6F2C8B-8457-DC11-2057-68288AF75C99}"/>
              </a:ext>
            </a:extLst>
          </p:cNvPr>
          <p:cNvSpPr txBox="1"/>
          <p:nvPr/>
        </p:nvSpPr>
        <p:spPr>
          <a:xfrm>
            <a:off x="162306" y="5570258"/>
            <a:ext cx="12458700" cy="8762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b="1" dirty="0">
                <a:effectLst>
                  <a:outerShdw blurRad="38100" dist="38100" dir="2700000" algn="tl">
                    <a:srgbClr val="000000">
                      <a:alpha val="43137"/>
                    </a:srgbClr>
                  </a:outerShdw>
                </a:effectLst>
                <a:latin typeface="Bookman Old Style" panose="02050604050505020204" pitchFamily="18" charset="0"/>
              </a:rPr>
              <a:t>Accept</a:t>
            </a:r>
            <a:r>
              <a:rPr lang="en-CA" dirty="0">
                <a:effectLst>
                  <a:outerShdw blurRad="38100" dist="38100" dir="2700000" algn="tl">
                    <a:srgbClr val="000000">
                      <a:alpha val="43137"/>
                    </a:srgbClr>
                  </a:outerShdw>
                </a:effectLst>
                <a:latin typeface="Bookman Old Style" panose="02050604050505020204" pitchFamily="18" charset="0"/>
              </a:rPr>
              <a:t> the license agreement</a:t>
            </a: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Click ‘Finish’</a:t>
            </a:r>
          </a:p>
        </p:txBody>
      </p:sp>
      <p:pic>
        <p:nvPicPr>
          <p:cNvPr id="4" name="Picture 3">
            <a:extLst>
              <a:ext uri="{FF2B5EF4-FFF2-40B4-BE49-F238E27FC236}">
                <a16:creationId xmlns:a16="http://schemas.microsoft.com/office/drawing/2014/main" id="{7ACF7344-514A-0496-10CD-AE615F53F01E}"/>
              </a:ext>
            </a:extLst>
          </p:cNvPr>
          <p:cNvPicPr>
            <a:picLocks noChangeAspect="1"/>
          </p:cNvPicPr>
          <p:nvPr/>
        </p:nvPicPr>
        <p:blipFill>
          <a:blip r:embed="rId3"/>
          <a:stretch>
            <a:fillRect/>
          </a:stretch>
        </p:blipFill>
        <p:spPr>
          <a:xfrm>
            <a:off x="262128" y="1820609"/>
            <a:ext cx="4779909" cy="3601784"/>
          </a:xfrm>
          <a:prstGeom prst="rect">
            <a:avLst/>
          </a:prstGeom>
        </p:spPr>
      </p:pic>
    </p:spTree>
    <p:extLst>
      <p:ext uri="{BB962C8B-B14F-4D97-AF65-F5344CB8AC3E}">
        <p14:creationId xmlns:p14="http://schemas.microsoft.com/office/powerpoint/2010/main" val="1343821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9D287-0477-AC2E-2A70-7C49874F18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03D2B8-F5A1-19DF-BAEC-CD96296EDDE4}"/>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97468B36-9834-15E4-904B-965FAA1984AA}"/>
              </a:ext>
            </a:extLst>
          </p:cNvPr>
          <p:cNvSpPr txBox="1"/>
          <p:nvPr/>
        </p:nvSpPr>
        <p:spPr>
          <a:xfrm>
            <a:off x="162306" y="244655"/>
            <a:ext cx="840562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0DA3EB0B-BA7A-FD58-47A0-5FAE22C72FB9}"/>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047C564C-11E3-A754-420D-B07763178D78}"/>
              </a:ext>
            </a:extLst>
          </p:cNvPr>
          <p:cNvSpPr txBox="1"/>
          <p:nvPr/>
        </p:nvSpPr>
        <p:spPr>
          <a:xfrm>
            <a:off x="162306" y="5570258"/>
            <a:ext cx="12458700" cy="8762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Click ‘Finish’ once downloading the components is completed</a:t>
            </a: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Now you will be taken to ‘</a:t>
            </a:r>
            <a:r>
              <a:rPr lang="en-CA" b="1" dirty="0">
                <a:effectLst>
                  <a:outerShdw blurRad="38100" dist="38100" dir="2700000" algn="tl">
                    <a:srgbClr val="000000">
                      <a:alpha val="43137"/>
                    </a:srgbClr>
                  </a:outerShdw>
                </a:effectLst>
                <a:latin typeface="Bookman Old Style" panose="02050604050505020204" pitchFamily="18" charset="0"/>
              </a:rPr>
              <a:t>Welcome Screen</a:t>
            </a:r>
            <a:r>
              <a:rPr lang="en-CA" dirty="0">
                <a:effectLst>
                  <a:outerShdw blurRad="38100" dist="38100" dir="2700000" algn="tl">
                    <a:srgbClr val="000000">
                      <a:alpha val="43137"/>
                    </a:srgbClr>
                  </a:outerShdw>
                </a:effectLst>
                <a:latin typeface="Bookman Old Style" panose="02050604050505020204" pitchFamily="18" charset="0"/>
              </a:rPr>
              <a:t>’ of Android Studio</a:t>
            </a:r>
          </a:p>
        </p:txBody>
      </p:sp>
      <p:pic>
        <p:nvPicPr>
          <p:cNvPr id="3" name="Picture 2">
            <a:extLst>
              <a:ext uri="{FF2B5EF4-FFF2-40B4-BE49-F238E27FC236}">
                <a16:creationId xmlns:a16="http://schemas.microsoft.com/office/drawing/2014/main" id="{FC89934E-90D6-3A89-3453-F842402BA678}"/>
              </a:ext>
            </a:extLst>
          </p:cNvPr>
          <p:cNvPicPr>
            <a:picLocks noChangeAspect="1"/>
          </p:cNvPicPr>
          <p:nvPr/>
        </p:nvPicPr>
        <p:blipFill>
          <a:blip r:embed="rId3"/>
          <a:stretch>
            <a:fillRect/>
          </a:stretch>
        </p:blipFill>
        <p:spPr>
          <a:xfrm>
            <a:off x="420624" y="1770964"/>
            <a:ext cx="4879848" cy="3701073"/>
          </a:xfrm>
          <a:prstGeom prst="rect">
            <a:avLst/>
          </a:prstGeom>
        </p:spPr>
      </p:pic>
      <p:pic>
        <p:nvPicPr>
          <p:cNvPr id="7" name="Picture 6">
            <a:extLst>
              <a:ext uri="{FF2B5EF4-FFF2-40B4-BE49-F238E27FC236}">
                <a16:creationId xmlns:a16="http://schemas.microsoft.com/office/drawing/2014/main" id="{CA3CDA65-C4E5-27B6-4BC8-1B402C5D4A33}"/>
              </a:ext>
            </a:extLst>
          </p:cNvPr>
          <p:cNvPicPr>
            <a:picLocks noChangeAspect="1"/>
          </p:cNvPicPr>
          <p:nvPr/>
        </p:nvPicPr>
        <p:blipFill>
          <a:blip r:embed="rId4"/>
          <a:stretch>
            <a:fillRect/>
          </a:stretch>
        </p:blipFill>
        <p:spPr>
          <a:xfrm>
            <a:off x="5916565" y="1770963"/>
            <a:ext cx="4835573" cy="3701073"/>
          </a:xfrm>
          <a:prstGeom prst="rect">
            <a:avLst/>
          </a:prstGeom>
        </p:spPr>
      </p:pic>
    </p:spTree>
    <p:extLst>
      <p:ext uri="{BB962C8B-B14F-4D97-AF65-F5344CB8AC3E}">
        <p14:creationId xmlns:p14="http://schemas.microsoft.com/office/powerpoint/2010/main" val="1832801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16428-D6D0-4E24-E7CA-A46993CBF1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FDABB55-DBF6-3429-14B9-037320DC9491}"/>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514B8770-457F-5A92-C2E8-99ED087F8AE7}"/>
              </a:ext>
            </a:extLst>
          </p:cNvPr>
          <p:cNvSpPr txBox="1"/>
          <p:nvPr/>
        </p:nvSpPr>
        <p:spPr>
          <a:xfrm>
            <a:off x="162306" y="244655"/>
            <a:ext cx="8277606"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A6A12C11-F5F8-A16B-B73C-06DAE9A7FE5C}"/>
              </a:ext>
            </a:extLst>
          </p:cNvPr>
          <p:cNvSpPr/>
          <p:nvPr/>
        </p:nvSpPr>
        <p:spPr>
          <a:xfrm>
            <a:off x="-1" y="1221723"/>
            <a:ext cx="39319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Android Studio</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1C2B9902-BBF7-31B0-3BC2-ECB24B183DFD}"/>
              </a:ext>
            </a:extLst>
          </p:cNvPr>
          <p:cNvSpPr txBox="1"/>
          <p:nvPr/>
        </p:nvSpPr>
        <p:spPr>
          <a:xfrm>
            <a:off x="162306" y="5570258"/>
            <a:ext cx="12458700"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Now the Android Studio Installation is completed</a:t>
            </a:r>
          </a:p>
        </p:txBody>
      </p:sp>
      <p:pic>
        <p:nvPicPr>
          <p:cNvPr id="4" name="Picture 3">
            <a:extLst>
              <a:ext uri="{FF2B5EF4-FFF2-40B4-BE49-F238E27FC236}">
                <a16:creationId xmlns:a16="http://schemas.microsoft.com/office/drawing/2014/main" id="{CFCBADE5-EB80-8759-3B70-539BAC157437}"/>
              </a:ext>
            </a:extLst>
          </p:cNvPr>
          <p:cNvPicPr>
            <a:picLocks noChangeAspect="1"/>
          </p:cNvPicPr>
          <p:nvPr/>
        </p:nvPicPr>
        <p:blipFill>
          <a:blip r:embed="rId3"/>
          <a:stretch>
            <a:fillRect/>
          </a:stretch>
        </p:blipFill>
        <p:spPr>
          <a:xfrm>
            <a:off x="329184" y="1869688"/>
            <a:ext cx="5129784" cy="3455914"/>
          </a:xfrm>
          <a:prstGeom prst="rect">
            <a:avLst/>
          </a:prstGeom>
        </p:spPr>
      </p:pic>
    </p:spTree>
    <p:extLst>
      <p:ext uri="{BB962C8B-B14F-4D97-AF65-F5344CB8AC3E}">
        <p14:creationId xmlns:p14="http://schemas.microsoft.com/office/powerpoint/2010/main" val="1902522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5646F-F8A5-A74A-A269-3529D84B1C3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B729416-D797-94BE-ED29-694D780D7DD8}"/>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D40D7157-3E58-DF95-218C-D6A0D928BD6D}"/>
              </a:ext>
            </a:extLst>
          </p:cNvPr>
          <p:cNvSpPr txBox="1"/>
          <p:nvPr/>
        </p:nvSpPr>
        <p:spPr>
          <a:xfrm>
            <a:off x="162306" y="244655"/>
            <a:ext cx="909142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FDBF8292-62F3-7CE3-52BD-FA5588806DC4}"/>
              </a:ext>
            </a:extLst>
          </p:cNvPr>
          <p:cNvSpPr/>
          <p:nvPr/>
        </p:nvSpPr>
        <p:spPr>
          <a:xfrm>
            <a:off x="-1" y="1221723"/>
            <a:ext cx="594360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5. Create AVD (Android Virtual Device)</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BFF0522A-64F3-9BB1-C577-EE024B631617}"/>
              </a:ext>
            </a:extLst>
          </p:cNvPr>
          <p:cNvSpPr txBox="1"/>
          <p:nvPr/>
        </p:nvSpPr>
        <p:spPr>
          <a:xfrm>
            <a:off x="58293" y="1672738"/>
            <a:ext cx="11770614" cy="21227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We create an </a:t>
            </a:r>
            <a:r>
              <a:rPr lang="en-US" b="1" dirty="0">
                <a:effectLst>
                  <a:outerShdw blurRad="38100" dist="38100" dir="2700000" algn="tl">
                    <a:srgbClr val="000000">
                      <a:alpha val="43137"/>
                    </a:srgbClr>
                  </a:outerShdw>
                </a:effectLst>
                <a:latin typeface="Bookman Old Style" panose="02050604050505020204" pitchFamily="18" charset="0"/>
              </a:rPr>
              <a:t>AVD (Android Virtual Device) </a:t>
            </a:r>
            <a:r>
              <a:rPr lang="en-US" dirty="0">
                <a:effectLst>
                  <a:outerShdw blurRad="38100" dist="38100" dir="2700000" algn="tl">
                    <a:srgbClr val="000000">
                      <a:alpha val="43137"/>
                    </a:srgbClr>
                  </a:outerShdw>
                </a:effectLst>
                <a:latin typeface="Bookman Old Style" panose="02050604050505020204" pitchFamily="18" charset="0"/>
              </a:rPr>
              <a:t>for React Native development </a:t>
            </a:r>
            <a:r>
              <a:rPr lang="en-US" b="1" dirty="0">
                <a:effectLst>
                  <a:outerShdw blurRad="38100" dist="38100" dir="2700000" algn="tl">
                    <a:srgbClr val="000000">
                      <a:alpha val="43137"/>
                    </a:srgbClr>
                  </a:outerShdw>
                </a:effectLst>
                <a:latin typeface="Bookman Old Style" panose="02050604050505020204" pitchFamily="18" charset="0"/>
              </a:rPr>
              <a:t>to simulate a real Android device on our computer</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This allows us </a:t>
            </a:r>
            <a:r>
              <a:rPr lang="en-US" b="1" dirty="0">
                <a:effectLst>
                  <a:outerShdw blurRad="38100" dist="38100" dir="2700000" algn="tl">
                    <a:srgbClr val="000000">
                      <a:alpha val="43137"/>
                    </a:srgbClr>
                  </a:outerShdw>
                </a:effectLst>
                <a:latin typeface="Bookman Old Style" panose="02050604050505020204" pitchFamily="18" charset="0"/>
              </a:rPr>
              <a:t>to build, run, and test our React Native apps without needing a physical Android phone</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It helps in quickly checking the app’s layout, functionality, and performance during development</a:t>
            </a:r>
          </a:p>
        </p:txBody>
      </p:sp>
    </p:spTree>
    <p:extLst>
      <p:ext uri="{BB962C8B-B14F-4D97-AF65-F5344CB8AC3E}">
        <p14:creationId xmlns:p14="http://schemas.microsoft.com/office/powerpoint/2010/main" val="2358972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4E605-9531-79A2-BA46-97585D8854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237468-C3A9-4917-BD7C-77BEC60B38FF}"/>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D633CF9C-23C7-11D5-1394-6B7A0CE399D1}"/>
              </a:ext>
            </a:extLst>
          </p:cNvPr>
          <p:cNvSpPr txBox="1"/>
          <p:nvPr/>
        </p:nvSpPr>
        <p:spPr>
          <a:xfrm>
            <a:off x="162306" y="244655"/>
            <a:ext cx="8524494"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A9B8BFB6-76C4-18B7-A4DC-8513297F19DF}"/>
              </a:ext>
            </a:extLst>
          </p:cNvPr>
          <p:cNvSpPr/>
          <p:nvPr/>
        </p:nvSpPr>
        <p:spPr>
          <a:xfrm>
            <a:off x="-1" y="1221723"/>
            <a:ext cx="594360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Create AVD (Android Virtual Device)</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132A09C3-5153-0590-7CF0-536183712369}"/>
              </a:ext>
            </a:extLst>
          </p:cNvPr>
          <p:cNvSpPr txBox="1"/>
          <p:nvPr/>
        </p:nvSpPr>
        <p:spPr>
          <a:xfrm>
            <a:off x="58293" y="1672738"/>
            <a:ext cx="11770614" cy="157402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To create a virtual device:</a:t>
            </a:r>
          </a:p>
          <a:p>
            <a:pPr marL="742950" lvl="1" indent="-285750">
              <a:lnSpc>
                <a:spcPct val="150000"/>
              </a:lnSpc>
              <a:buFont typeface="Wingdings" panose="05000000000000000000" pitchFamily="2" charset="2"/>
              <a:buChar char="§"/>
            </a:pPr>
            <a:r>
              <a:rPr lang="en-US" sz="1600" dirty="0">
                <a:effectLst>
                  <a:outerShdw blurRad="38100" dist="38100" dir="2700000" algn="tl">
                    <a:srgbClr val="000000">
                      <a:alpha val="43137"/>
                    </a:srgbClr>
                  </a:outerShdw>
                </a:effectLst>
                <a:latin typeface="Bookman Old Style" panose="02050604050505020204" pitchFamily="18" charset="0"/>
              </a:rPr>
              <a:t>Choose ‘</a:t>
            </a:r>
            <a:r>
              <a:rPr lang="en-US" sz="1600" b="1" dirty="0">
                <a:effectLst>
                  <a:outerShdw blurRad="38100" dist="38100" dir="2700000" algn="tl">
                    <a:srgbClr val="000000">
                      <a:alpha val="43137"/>
                    </a:srgbClr>
                  </a:outerShdw>
                </a:effectLst>
                <a:latin typeface="Bookman Old Style" panose="02050604050505020204" pitchFamily="18" charset="0"/>
              </a:rPr>
              <a:t>Virtual Device Manager</a:t>
            </a:r>
            <a:r>
              <a:rPr lang="en-US" sz="1600" dirty="0">
                <a:effectLst>
                  <a:outerShdw blurRad="38100" dist="38100" dir="2700000" algn="tl">
                    <a:srgbClr val="000000">
                      <a:alpha val="43137"/>
                    </a:srgbClr>
                  </a:outerShdw>
                </a:effectLst>
                <a:latin typeface="Bookman Old Style" panose="02050604050505020204" pitchFamily="18" charset="0"/>
              </a:rPr>
              <a:t>’ from ‘</a:t>
            </a:r>
            <a:r>
              <a:rPr lang="en-US" sz="1600" b="1" dirty="0">
                <a:effectLst>
                  <a:outerShdw blurRad="38100" dist="38100" dir="2700000" algn="tl">
                    <a:srgbClr val="000000">
                      <a:alpha val="43137"/>
                    </a:srgbClr>
                  </a:outerShdw>
                </a:effectLst>
                <a:latin typeface="Bookman Old Style" panose="02050604050505020204" pitchFamily="18" charset="0"/>
              </a:rPr>
              <a:t>More Options</a:t>
            </a:r>
            <a:r>
              <a:rPr lang="en-US" sz="1600" dirty="0">
                <a:effectLst>
                  <a:outerShdw blurRad="38100" dist="38100" dir="2700000" algn="tl">
                    <a:srgbClr val="000000">
                      <a:alpha val="43137"/>
                    </a:srgbClr>
                  </a:outerShdw>
                </a:effectLst>
                <a:latin typeface="Bookman Old Style" panose="02050604050505020204" pitchFamily="18" charset="0"/>
              </a:rPr>
              <a:t>’</a:t>
            </a:r>
          </a:p>
          <a:p>
            <a:pPr lvl="2">
              <a:lnSpc>
                <a:spcPct val="150000"/>
              </a:lnSpc>
            </a:pPr>
            <a:r>
              <a:rPr lang="en-US" sz="1600" dirty="0">
                <a:effectLst>
                  <a:outerShdw blurRad="38100" dist="38100" dir="2700000" algn="tl">
                    <a:srgbClr val="000000">
                      <a:alpha val="43137"/>
                    </a:srgbClr>
                  </a:outerShdw>
                </a:effectLst>
                <a:latin typeface="Bookman Old Style" panose="02050604050505020204" pitchFamily="18" charset="0"/>
              </a:rPr>
              <a:t>		OR</a:t>
            </a:r>
          </a:p>
          <a:p>
            <a:pPr marL="742950" lvl="1" indent="-285750">
              <a:lnSpc>
                <a:spcPct val="150000"/>
              </a:lnSpc>
              <a:buFont typeface="Wingdings" panose="05000000000000000000" pitchFamily="2" charset="2"/>
              <a:buChar char="§"/>
            </a:pPr>
            <a:r>
              <a:rPr lang="en-US" sz="1600" dirty="0">
                <a:effectLst>
                  <a:outerShdw blurRad="38100" dist="38100" dir="2700000" algn="tl">
                    <a:srgbClr val="000000">
                      <a:alpha val="43137"/>
                    </a:srgbClr>
                  </a:outerShdw>
                </a:effectLst>
                <a:latin typeface="Bookman Old Style" panose="02050604050505020204" pitchFamily="18" charset="0"/>
              </a:rPr>
              <a:t>Select </a:t>
            </a:r>
            <a:r>
              <a:rPr lang="en-US" sz="1600" b="1" dirty="0">
                <a:effectLst>
                  <a:outerShdw blurRad="38100" dist="38100" dir="2700000" algn="tl">
                    <a:srgbClr val="000000">
                      <a:alpha val="43137"/>
                    </a:srgbClr>
                  </a:outerShdw>
                </a:effectLst>
                <a:latin typeface="Bookman Old Style" panose="02050604050505020204" pitchFamily="18" charset="0"/>
              </a:rPr>
              <a:t>Tools -&gt; Device Manager </a:t>
            </a:r>
            <a:r>
              <a:rPr lang="en-US" sz="1600" dirty="0">
                <a:effectLst>
                  <a:outerShdw blurRad="38100" dist="38100" dir="2700000" algn="tl">
                    <a:srgbClr val="000000">
                      <a:alpha val="43137"/>
                    </a:srgbClr>
                  </a:outerShdw>
                </a:effectLst>
                <a:latin typeface="Bookman Old Style" panose="02050604050505020204" pitchFamily="18" charset="0"/>
              </a:rPr>
              <a:t>(If you are inside an Android project)</a:t>
            </a:r>
          </a:p>
        </p:txBody>
      </p:sp>
      <p:pic>
        <p:nvPicPr>
          <p:cNvPr id="4" name="Picture 3">
            <a:extLst>
              <a:ext uri="{FF2B5EF4-FFF2-40B4-BE49-F238E27FC236}">
                <a16:creationId xmlns:a16="http://schemas.microsoft.com/office/drawing/2014/main" id="{5650126B-A041-E688-2CD4-370884CA5344}"/>
              </a:ext>
            </a:extLst>
          </p:cNvPr>
          <p:cNvPicPr>
            <a:picLocks noChangeAspect="1"/>
          </p:cNvPicPr>
          <p:nvPr/>
        </p:nvPicPr>
        <p:blipFill>
          <a:blip r:embed="rId3"/>
          <a:stretch>
            <a:fillRect/>
          </a:stretch>
        </p:blipFill>
        <p:spPr>
          <a:xfrm>
            <a:off x="664760" y="3319272"/>
            <a:ext cx="5845768" cy="3385103"/>
          </a:xfrm>
          <a:prstGeom prst="rect">
            <a:avLst/>
          </a:prstGeom>
        </p:spPr>
      </p:pic>
    </p:spTree>
    <p:extLst>
      <p:ext uri="{BB962C8B-B14F-4D97-AF65-F5344CB8AC3E}">
        <p14:creationId xmlns:p14="http://schemas.microsoft.com/office/powerpoint/2010/main" val="3267126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A5FAE-FD57-EC02-93C7-8696BEE776F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CB308E-E2B9-FEEE-FA7A-395FA803A2E8}"/>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D11C6EEA-9E89-5195-7001-F96E1ABA4B29}"/>
              </a:ext>
            </a:extLst>
          </p:cNvPr>
          <p:cNvSpPr txBox="1"/>
          <p:nvPr/>
        </p:nvSpPr>
        <p:spPr>
          <a:xfrm>
            <a:off x="162306" y="244655"/>
            <a:ext cx="8789670"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62253403-2F3A-8374-1A27-2AF55EFF0F9C}"/>
              </a:ext>
            </a:extLst>
          </p:cNvPr>
          <p:cNvSpPr/>
          <p:nvPr/>
        </p:nvSpPr>
        <p:spPr>
          <a:xfrm>
            <a:off x="-1" y="1221723"/>
            <a:ext cx="594360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Create AVD (Android Virtual Device)</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40B7A4C2-F173-DEB6-803C-9F7B3BD06A1B}"/>
              </a:ext>
            </a:extLst>
          </p:cNvPr>
          <p:cNvSpPr txBox="1"/>
          <p:nvPr/>
        </p:nvSpPr>
        <p:spPr>
          <a:xfrm>
            <a:off x="58293" y="1672738"/>
            <a:ext cx="11770614"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Click ‘</a:t>
            </a:r>
            <a:r>
              <a:rPr lang="en-US" b="1" dirty="0">
                <a:effectLst>
                  <a:outerShdw blurRad="38100" dist="38100" dir="2700000" algn="tl">
                    <a:srgbClr val="000000">
                      <a:alpha val="43137"/>
                    </a:srgbClr>
                  </a:outerShdw>
                </a:effectLst>
                <a:latin typeface="Bookman Old Style" panose="02050604050505020204" pitchFamily="18" charset="0"/>
              </a:rPr>
              <a:t>Create Virtual Device</a:t>
            </a:r>
            <a:r>
              <a:rPr lang="en-US" dirty="0">
                <a:effectLst>
                  <a:outerShdw blurRad="38100" dist="38100" dir="2700000" algn="tl">
                    <a:srgbClr val="000000">
                      <a:alpha val="43137"/>
                    </a:srgbClr>
                  </a:outerShdw>
                </a:effectLst>
                <a:latin typeface="Bookman Old Style" panose="02050604050505020204" pitchFamily="18" charset="0"/>
              </a:rPr>
              <a:t>’ icon (</a:t>
            </a:r>
            <a:r>
              <a:rPr lang="en-US" b="1" dirty="0">
                <a:effectLst>
                  <a:outerShdw blurRad="38100" dist="38100" dir="2700000" algn="tl">
                    <a:srgbClr val="000000">
                      <a:alpha val="43137"/>
                    </a:srgbClr>
                  </a:outerShdw>
                </a:effectLst>
                <a:latin typeface="Bookman Old Style" panose="02050604050505020204" pitchFamily="18" charset="0"/>
              </a:rPr>
              <a:t>+</a:t>
            </a:r>
            <a:r>
              <a:rPr lang="en-US" dirty="0">
                <a:effectLst>
                  <a:outerShdw blurRad="38100" dist="38100" dir="2700000" algn="tl">
                    <a:srgbClr val="000000">
                      <a:alpha val="43137"/>
                    </a:srgbClr>
                  </a:outerShdw>
                </a:effectLst>
                <a:latin typeface="Bookman Old Style" panose="02050604050505020204" pitchFamily="18" charset="0"/>
              </a:rPr>
              <a:t>) </a:t>
            </a:r>
            <a:r>
              <a:rPr lang="en-US" sz="1600" dirty="0">
                <a:effectLst>
                  <a:outerShdw blurRad="38100" dist="38100" dir="2700000" algn="tl">
                    <a:srgbClr val="000000">
                      <a:alpha val="43137"/>
                    </a:srgbClr>
                  </a:outerShdw>
                </a:effectLst>
                <a:latin typeface="Bookman Old Style" panose="02050604050505020204" pitchFamily="18" charset="0"/>
              </a:rPr>
              <a:t>		</a:t>
            </a:r>
          </a:p>
        </p:txBody>
      </p:sp>
      <p:pic>
        <p:nvPicPr>
          <p:cNvPr id="3" name="Picture 2">
            <a:extLst>
              <a:ext uri="{FF2B5EF4-FFF2-40B4-BE49-F238E27FC236}">
                <a16:creationId xmlns:a16="http://schemas.microsoft.com/office/drawing/2014/main" id="{31D275B6-AFDC-8BEF-E311-4A7C88A99754}"/>
              </a:ext>
            </a:extLst>
          </p:cNvPr>
          <p:cNvPicPr>
            <a:picLocks noChangeAspect="1"/>
          </p:cNvPicPr>
          <p:nvPr/>
        </p:nvPicPr>
        <p:blipFill>
          <a:blip r:embed="rId3"/>
          <a:stretch>
            <a:fillRect/>
          </a:stretch>
        </p:blipFill>
        <p:spPr>
          <a:xfrm>
            <a:off x="521208" y="2279286"/>
            <a:ext cx="5861304" cy="3801821"/>
          </a:xfrm>
          <a:prstGeom prst="rect">
            <a:avLst/>
          </a:prstGeom>
        </p:spPr>
      </p:pic>
    </p:spTree>
    <p:extLst>
      <p:ext uri="{BB962C8B-B14F-4D97-AF65-F5344CB8AC3E}">
        <p14:creationId xmlns:p14="http://schemas.microsoft.com/office/powerpoint/2010/main" val="2241159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16B5D-8BC1-9E73-8C95-76EEEE881C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C0D838C-7C70-7EDD-B743-0EF7C690E6A2}"/>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61498C4-C085-1573-CC1B-6199D287E185}"/>
              </a:ext>
            </a:extLst>
          </p:cNvPr>
          <p:cNvSpPr txBox="1"/>
          <p:nvPr/>
        </p:nvSpPr>
        <p:spPr>
          <a:xfrm>
            <a:off x="162306" y="244655"/>
            <a:ext cx="909142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E59FF757-1174-4167-A967-149810FCC41C}"/>
              </a:ext>
            </a:extLst>
          </p:cNvPr>
          <p:cNvSpPr/>
          <p:nvPr/>
        </p:nvSpPr>
        <p:spPr>
          <a:xfrm>
            <a:off x="-1" y="1221723"/>
            <a:ext cx="594360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Create AVD (Android Virtual Device)</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CD0BA2B1-DBF5-A91E-4AD5-6D2519492659}"/>
              </a:ext>
            </a:extLst>
          </p:cNvPr>
          <p:cNvSpPr txBox="1"/>
          <p:nvPr/>
        </p:nvSpPr>
        <p:spPr>
          <a:xfrm>
            <a:off x="58293" y="1672738"/>
            <a:ext cx="11770614"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Select a </a:t>
            </a:r>
            <a:r>
              <a:rPr lang="en-US" b="1" dirty="0">
                <a:effectLst>
                  <a:outerShdw blurRad="38100" dist="38100" dir="2700000" algn="tl">
                    <a:srgbClr val="000000">
                      <a:alpha val="43137"/>
                    </a:srgbClr>
                  </a:outerShdw>
                </a:effectLst>
                <a:latin typeface="Bookman Old Style" panose="02050604050505020204" pitchFamily="18" charset="0"/>
              </a:rPr>
              <a:t>device</a:t>
            </a:r>
            <a:r>
              <a:rPr lang="en-US" dirty="0">
                <a:effectLst>
                  <a:outerShdw blurRad="38100" dist="38100" dir="2700000" algn="tl">
                    <a:srgbClr val="000000">
                      <a:alpha val="43137"/>
                    </a:srgbClr>
                  </a:outerShdw>
                </a:effectLst>
                <a:latin typeface="Bookman Old Style" panose="02050604050505020204" pitchFamily="18" charset="0"/>
              </a:rPr>
              <a:t> (say </a:t>
            </a:r>
            <a:r>
              <a:rPr lang="en-US" b="1" dirty="0">
                <a:effectLst>
                  <a:outerShdw blurRad="38100" dist="38100" dir="2700000" algn="tl">
                    <a:srgbClr val="000000">
                      <a:alpha val="43137"/>
                    </a:srgbClr>
                  </a:outerShdw>
                </a:effectLst>
                <a:latin typeface="Bookman Old Style" panose="02050604050505020204" pitchFamily="18" charset="0"/>
              </a:rPr>
              <a:t>Pixel 9 Pro</a:t>
            </a:r>
            <a:r>
              <a:rPr lang="en-US" dirty="0">
                <a:effectLst>
                  <a:outerShdw blurRad="38100" dist="38100" dir="2700000" algn="tl">
                    <a:srgbClr val="000000">
                      <a:alpha val="43137"/>
                    </a:srgbClr>
                  </a:outerShdw>
                </a:effectLst>
                <a:latin typeface="Bookman Old Style" panose="02050604050505020204" pitchFamily="18" charset="0"/>
              </a:rPr>
              <a:t>) and click ‘Next’</a:t>
            </a:r>
            <a:r>
              <a:rPr lang="en-US" sz="1600" dirty="0">
                <a:effectLst>
                  <a:outerShdw blurRad="38100" dist="38100" dir="2700000" algn="tl">
                    <a:srgbClr val="000000">
                      <a:alpha val="43137"/>
                    </a:srgbClr>
                  </a:outerShdw>
                </a:effectLst>
                <a:latin typeface="Bookman Old Style" panose="02050604050505020204" pitchFamily="18" charset="0"/>
              </a:rPr>
              <a:t>		</a:t>
            </a:r>
          </a:p>
        </p:txBody>
      </p:sp>
      <p:pic>
        <p:nvPicPr>
          <p:cNvPr id="4" name="Picture 3">
            <a:extLst>
              <a:ext uri="{FF2B5EF4-FFF2-40B4-BE49-F238E27FC236}">
                <a16:creationId xmlns:a16="http://schemas.microsoft.com/office/drawing/2014/main" id="{5C1DA7BF-5A5A-A6B9-2EEB-A7E54F7777D5}"/>
              </a:ext>
            </a:extLst>
          </p:cNvPr>
          <p:cNvPicPr>
            <a:picLocks noChangeAspect="1"/>
          </p:cNvPicPr>
          <p:nvPr/>
        </p:nvPicPr>
        <p:blipFill>
          <a:blip r:embed="rId3"/>
          <a:stretch>
            <a:fillRect/>
          </a:stretch>
        </p:blipFill>
        <p:spPr>
          <a:xfrm>
            <a:off x="477010" y="2291227"/>
            <a:ext cx="5996942" cy="4322118"/>
          </a:xfrm>
          <a:prstGeom prst="rect">
            <a:avLst/>
          </a:prstGeom>
        </p:spPr>
      </p:pic>
    </p:spTree>
    <p:extLst>
      <p:ext uri="{BB962C8B-B14F-4D97-AF65-F5344CB8AC3E}">
        <p14:creationId xmlns:p14="http://schemas.microsoft.com/office/powerpoint/2010/main" val="4122265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8ACB-4E36-BFE2-217E-B4B61EDE57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1AC2A98-8172-F197-1476-DBA6FB96CC83}"/>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1E10C25-D34F-9859-65C0-8C3BF2414648}"/>
              </a:ext>
            </a:extLst>
          </p:cNvPr>
          <p:cNvSpPr txBox="1"/>
          <p:nvPr/>
        </p:nvSpPr>
        <p:spPr>
          <a:xfrm>
            <a:off x="162306" y="244655"/>
            <a:ext cx="8487918"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D9235A40-79D0-F1D2-02E5-B9CE177E9ECB}"/>
              </a:ext>
            </a:extLst>
          </p:cNvPr>
          <p:cNvSpPr/>
          <p:nvPr/>
        </p:nvSpPr>
        <p:spPr>
          <a:xfrm>
            <a:off x="-1" y="1221723"/>
            <a:ext cx="594360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Create AVD (Android Virtual Device)</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E39E148F-EEBC-1679-1691-2E292DE39B8D}"/>
              </a:ext>
            </a:extLst>
          </p:cNvPr>
          <p:cNvSpPr txBox="1"/>
          <p:nvPr/>
        </p:nvSpPr>
        <p:spPr>
          <a:xfrm>
            <a:off x="58293" y="1672738"/>
            <a:ext cx="11770614" cy="120468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Give a </a:t>
            </a:r>
            <a:r>
              <a:rPr lang="en-US" b="1" dirty="0">
                <a:effectLst>
                  <a:outerShdw blurRad="38100" dist="38100" dir="2700000" algn="tl">
                    <a:srgbClr val="000000">
                      <a:alpha val="43137"/>
                    </a:srgbClr>
                  </a:outerShdw>
                </a:effectLst>
                <a:latin typeface="Bookman Old Style" panose="02050604050505020204" pitchFamily="18" charset="0"/>
              </a:rPr>
              <a:t>name for the emulator</a:t>
            </a:r>
            <a:r>
              <a:rPr lang="en-US" dirty="0">
                <a:effectLst>
                  <a:outerShdw blurRad="38100" dist="38100" dir="2700000" algn="tl">
                    <a:srgbClr val="000000">
                      <a:alpha val="43137"/>
                    </a:srgbClr>
                  </a:outerShdw>
                </a:effectLst>
                <a:latin typeface="Bookman Old Style" panose="02050604050505020204" pitchFamily="18" charset="0"/>
              </a:rPr>
              <a:t>, say ‘</a:t>
            </a:r>
            <a:r>
              <a:rPr lang="en-US" b="1" dirty="0">
                <a:effectLst>
                  <a:outerShdw blurRad="38100" dist="38100" dir="2700000" algn="tl">
                    <a:srgbClr val="000000">
                      <a:alpha val="43137"/>
                    </a:srgbClr>
                  </a:outerShdw>
                </a:effectLst>
                <a:latin typeface="Bookman Old Style" panose="02050604050505020204" pitchFamily="18" charset="0"/>
              </a:rPr>
              <a:t>Pixel 9 Pro</a:t>
            </a:r>
            <a:r>
              <a:rPr lang="en-US" dirty="0">
                <a:effectLst>
                  <a:outerShdw blurRad="38100" dist="38100" dir="2700000" algn="tl">
                    <a:srgbClr val="000000">
                      <a:alpha val="43137"/>
                    </a:srgbClr>
                  </a:outerShdw>
                </a:effectLst>
                <a:latin typeface="Bookman Old Style" panose="02050604050505020204" pitchFamily="18" charset="0"/>
              </a:rPr>
              <a:t>’</a:t>
            </a:r>
            <a:r>
              <a:rPr lang="en-US" sz="1600" dirty="0">
                <a:effectLst>
                  <a:outerShdw blurRad="38100" dist="38100" dir="2700000" algn="tl">
                    <a:srgbClr val="000000">
                      <a:alpha val="43137"/>
                    </a:srgbClr>
                  </a:outerShdw>
                </a:effectLst>
                <a:latin typeface="Bookman Old Style" panose="02050604050505020204" pitchFamily="18" charset="0"/>
              </a:rPr>
              <a:t>	</a:t>
            </a:r>
          </a:p>
          <a:p>
            <a:pPr marL="285750" indent="-285750">
              <a:lnSpc>
                <a:spcPct val="150000"/>
              </a:lnSpc>
              <a:buFont typeface="Arial" panose="020B0604020202020204" pitchFamily="34" charset="0"/>
              <a:buChar char="•"/>
            </a:pPr>
            <a:r>
              <a:rPr lang="en-US" sz="1600" dirty="0">
                <a:effectLst>
                  <a:outerShdw blurRad="38100" dist="38100" dir="2700000" algn="tl">
                    <a:srgbClr val="000000">
                      <a:alpha val="43137"/>
                    </a:srgbClr>
                  </a:outerShdw>
                </a:effectLst>
                <a:latin typeface="Bookman Old Style" panose="02050604050505020204" pitchFamily="18" charset="0"/>
              </a:rPr>
              <a:t>Select a </a:t>
            </a:r>
            <a:r>
              <a:rPr lang="en-US" sz="1600" b="1" dirty="0">
                <a:effectLst>
                  <a:outerShdw blurRad="38100" dist="38100" dir="2700000" algn="tl">
                    <a:srgbClr val="000000">
                      <a:alpha val="43137"/>
                    </a:srgbClr>
                  </a:outerShdw>
                </a:effectLst>
                <a:latin typeface="Bookman Old Style" panose="02050604050505020204" pitchFamily="18" charset="0"/>
              </a:rPr>
              <a:t>system image </a:t>
            </a:r>
            <a:r>
              <a:rPr lang="en-US" sz="1600" dirty="0">
                <a:effectLst>
                  <a:outerShdw blurRad="38100" dist="38100" dir="2700000" algn="tl">
                    <a:srgbClr val="000000">
                      <a:alpha val="43137"/>
                    </a:srgbClr>
                  </a:outerShdw>
                </a:effectLst>
                <a:latin typeface="Bookman Old Style" panose="02050604050505020204" pitchFamily="18" charset="0"/>
              </a:rPr>
              <a:t>(Android OS version), </a:t>
            </a:r>
            <a:r>
              <a:rPr lang="en-US" sz="1600" b="1" dirty="0">
                <a:effectLst>
                  <a:outerShdw blurRad="38100" dist="38100" dir="2700000" algn="tl">
                    <a:srgbClr val="000000">
                      <a:alpha val="43137"/>
                    </a:srgbClr>
                  </a:outerShdw>
                </a:effectLst>
                <a:latin typeface="Bookman Old Style" panose="02050604050505020204" pitchFamily="18" charset="0"/>
              </a:rPr>
              <a:t>keep default selected</a:t>
            </a:r>
          </a:p>
          <a:p>
            <a:pPr marL="285750" indent="-285750">
              <a:lnSpc>
                <a:spcPct val="150000"/>
              </a:lnSpc>
              <a:buFont typeface="Arial" panose="020B0604020202020204" pitchFamily="34" charset="0"/>
              <a:buChar char="•"/>
            </a:pPr>
            <a:r>
              <a:rPr lang="en-US" sz="1600" dirty="0">
                <a:effectLst>
                  <a:outerShdw blurRad="38100" dist="38100" dir="2700000" algn="tl">
                    <a:srgbClr val="000000">
                      <a:alpha val="43137"/>
                    </a:srgbClr>
                  </a:outerShdw>
                </a:effectLst>
                <a:latin typeface="Bookman Old Style" panose="02050604050505020204" pitchFamily="18" charset="0"/>
              </a:rPr>
              <a:t>Click ‘Finish’	</a:t>
            </a:r>
          </a:p>
        </p:txBody>
      </p:sp>
      <p:pic>
        <p:nvPicPr>
          <p:cNvPr id="3" name="Picture 2">
            <a:extLst>
              <a:ext uri="{FF2B5EF4-FFF2-40B4-BE49-F238E27FC236}">
                <a16:creationId xmlns:a16="http://schemas.microsoft.com/office/drawing/2014/main" id="{DCC46505-2588-7237-E274-2462F7CB6C79}"/>
              </a:ext>
            </a:extLst>
          </p:cNvPr>
          <p:cNvPicPr>
            <a:picLocks noChangeAspect="1"/>
          </p:cNvPicPr>
          <p:nvPr/>
        </p:nvPicPr>
        <p:blipFill>
          <a:blip r:embed="rId3"/>
          <a:stretch>
            <a:fillRect/>
          </a:stretch>
        </p:blipFill>
        <p:spPr>
          <a:xfrm>
            <a:off x="457200" y="3045770"/>
            <a:ext cx="5285232" cy="3402982"/>
          </a:xfrm>
          <a:prstGeom prst="rect">
            <a:avLst/>
          </a:prstGeom>
        </p:spPr>
      </p:pic>
    </p:spTree>
    <p:extLst>
      <p:ext uri="{BB962C8B-B14F-4D97-AF65-F5344CB8AC3E}">
        <p14:creationId xmlns:p14="http://schemas.microsoft.com/office/powerpoint/2010/main" val="3225612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962F8-0BB9-EBB8-5F66-D8545195111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B5619B-8179-786F-3F16-325555D1E33A}"/>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45D2E64A-E106-443E-7EF8-57464BF616B3}"/>
              </a:ext>
            </a:extLst>
          </p:cNvPr>
          <p:cNvSpPr txBox="1"/>
          <p:nvPr/>
        </p:nvSpPr>
        <p:spPr>
          <a:xfrm>
            <a:off x="162306" y="244655"/>
            <a:ext cx="8871966"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CD031214-DCA5-8582-FB16-00CDFDA7FBCC}"/>
              </a:ext>
            </a:extLst>
          </p:cNvPr>
          <p:cNvSpPr/>
          <p:nvPr/>
        </p:nvSpPr>
        <p:spPr>
          <a:xfrm>
            <a:off x="-1" y="1221723"/>
            <a:ext cx="594360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Create AVD (Android Virtual Device)</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43ABBF56-C6EA-0F67-24CC-75E112EB5934}"/>
              </a:ext>
            </a:extLst>
          </p:cNvPr>
          <p:cNvSpPr txBox="1"/>
          <p:nvPr/>
        </p:nvSpPr>
        <p:spPr>
          <a:xfrm>
            <a:off x="58293" y="1672738"/>
            <a:ext cx="11770614"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A new emulator (AVD) is created as below:</a:t>
            </a:r>
            <a:r>
              <a:rPr lang="en-US" sz="1600" dirty="0">
                <a:effectLst>
                  <a:outerShdw blurRad="38100" dist="38100" dir="2700000" algn="tl">
                    <a:srgbClr val="000000">
                      <a:alpha val="43137"/>
                    </a:srgbClr>
                  </a:outerShdw>
                </a:effectLst>
                <a:latin typeface="Bookman Old Style" panose="02050604050505020204" pitchFamily="18" charset="0"/>
              </a:rPr>
              <a:t>	</a:t>
            </a:r>
          </a:p>
        </p:txBody>
      </p:sp>
      <p:pic>
        <p:nvPicPr>
          <p:cNvPr id="4" name="Picture 3">
            <a:extLst>
              <a:ext uri="{FF2B5EF4-FFF2-40B4-BE49-F238E27FC236}">
                <a16:creationId xmlns:a16="http://schemas.microsoft.com/office/drawing/2014/main" id="{D8CC807A-5C05-7CC0-90B9-845DCB013CE7}"/>
              </a:ext>
            </a:extLst>
          </p:cNvPr>
          <p:cNvPicPr>
            <a:picLocks noChangeAspect="1"/>
          </p:cNvPicPr>
          <p:nvPr/>
        </p:nvPicPr>
        <p:blipFill>
          <a:blip r:embed="rId3"/>
          <a:stretch>
            <a:fillRect/>
          </a:stretch>
        </p:blipFill>
        <p:spPr>
          <a:xfrm>
            <a:off x="402336" y="2303588"/>
            <a:ext cx="5010912" cy="3544392"/>
          </a:xfrm>
          <a:prstGeom prst="rect">
            <a:avLst/>
          </a:prstGeom>
        </p:spPr>
      </p:pic>
      <p:sp>
        <p:nvSpPr>
          <p:cNvPr id="7" name="TextBox 6">
            <a:extLst>
              <a:ext uri="{FF2B5EF4-FFF2-40B4-BE49-F238E27FC236}">
                <a16:creationId xmlns:a16="http://schemas.microsoft.com/office/drawing/2014/main" id="{6FA79872-F4D3-B2A7-D227-5639743189BE}"/>
              </a:ext>
            </a:extLst>
          </p:cNvPr>
          <p:cNvSpPr txBox="1"/>
          <p:nvPr/>
        </p:nvSpPr>
        <p:spPr>
          <a:xfrm>
            <a:off x="162306" y="6018063"/>
            <a:ext cx="11770614"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To verify the emulator is working well, click the ‘</a:t>
            </a:r>
            <a:r>
              <a:rPr lang="en-US" b="1" dirty="0">
                <a:effectLst>
                  <a:outerShdw blurRad="38100" dist="38100" dir="2700000" algn="tl">
                    <a:srgbClr val="000000">
                      <a:alpha val="43137"/>
                    </a:srgbClr>
                  </a:outerShdw>
                </a:effectLst>
                <a:latin typeface="Bookman Old Style" panose="02050604050505020204" pitchFamily="18" charset="0"/>
              </a:rPr>
              <a:t>Start</a:t>
            </a:r>
            <a:r>
              <a:rPr lang="en-US" dirty="0">
                <a:effectLst>
                  <a:outerShdw blurRad="38100" dist="38100" dir="2700000" algn="tl">
                    <a:srgbClr val="000000">
                      <a:alpha val="43137"/>
                    </a:srgbClr>
                  </a:outerShdw>
                </a:effectLst>
                <a:latin typeface="Bookman Old Style" panose="02050604050505020204" pitchFamily="18" charset="0"/>
              </a:rPr>
              <a:t>’ button at the right</a:t>
            </a:r>
            <a:r>
              <a:rPr lang="en-US" sz="1600" dirty="0">
                <a:effectLst>
                  <a:outerShdw blurRad="38100" dist="38100" dir="2700000" algn="tl">
                    <a:srgbClr val="000000">
                      <a:alpha val="43137"/>
                    </a:srgbClr>
                  </a:outerShdw>
                </a:effectLst>
                <a:latin typeface="Bookman Old Style" panose="02050604050505020204" pitchFamily="18" charset="0"/>
              </a:rPr>
              <a:t>	</a:t>
            </a:r>
          </a:p>
        </p:txBody>
      </p:sp>
    </p:spTree>
    <p:extLst>
      <p:ext uri="{BB962C8B-B14F-4D97-AF65-F5344CB8AC3E}">
        <p14:creationId xmlns:p14="http://schemas.microsoft.com/office/powerpoint/2010/main" val="1311921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584D0-C22A-CC9E-6876-BC7832FA62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F0EC68A-B645-DE9F-69A3-2FB1E424F601}"/>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57E81AD0-BFF2-F9B8-A42B-A545BFBDF199}"/>
              </a:ext>
            </a:extLst>
          </p:cNvPr>
          <p:cNvSpPr txBox="1"/>
          <p:nvPr/>
        </p:nvSpPr>
        <p:spPr>
          <a:xfrm>
            <a:off x="162306" y="244655"/>
            <a:ext cx="872566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FFD01626-9F29-53F6-65E9-DC20F8C03C6A}"/>
              </a:ext>
            </a:extLst>
          </p:cNvPr>
          <p:cNvSpPr/>
          <p:nvPr/>
        </p:nvSpPr>
        <p:spPr>
          <a:xfrm>
            <a:off x="-1" y="1221723"/>
            <a:ext cx="594360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Create AVD (Android Virtual Device)</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7" name="TextBox 6">
            <a:extLst>
              <a:ext uri="{FF2B5EF4-FFF2-40B4-BE49-F238E27FC236}">
                <a16:creationId xmlns:a16="http://schemas.microsoft.com/office/drawing/2014/main" id="{587789EB-4CA4-6753-30A1-E2DE69819034}"/>
              </a:ext>
            </a:extLst>
          </p:cNvPr>
          <p:cNvSpPr txBox="1"/>
          <p:nvPr/>
        </p:nvSpPr>
        <p:spPr>
          <a:xfrm>
            <a:off x="-1" y="1791349"/>
            <a:ext cx="11770614" cy="4607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The Android emulator is launched as below:</a:t>
            </a:r>
          </a:p>
        </p:txBody>
      </p:sp>
      <p:pic>
        <p:nvPicPr>
          <p:cNvPr id="3" name="Picture 2">
            <a:extLst>
              <a:ext uri="{FF2B5EF4-FFF2-40B4-BE49-F238E27FC236}">
                <a16:creationId xmlns:a16="http://schemas.microsoft.com/office/drawing/2014/main" id="{B3A140F1-A311-4618-E638-90A0E71765C6}"/>
              </a:ext>
            </a:extLst>
          </p:cNvPr>
          <p:cNvPicPr>
            <a:picLocks noChangeAspect="1"/>
          </p:cNvPicPr>
          <p:nvPr/>
        </p:nvPicPr>
        <p:blipFill>
          <a:blip r:embed="rId3"/>
          <a:stretch>
            <a:fillRect/>
          </a:stretch>
        </p:blipFill>
        <p:spPr>
          <a:xfrm>
            <a:off x="1995380" y="2252116"/>
            <a:ext cx="2387781" cy="4361229"/>
          </a:xfrm>
          <a:prstGeom prst="rect">
            <a:avLst/>
          </a:prstGeom>
        </p:spPr>
      </p:pic>
    </p:spTree>
    <p:extLst>
      <p:ext uri="{BB962C8B-B14F-4D97-AF65-F5344CB8AC3E}">
        <p14:creationId xmlns:p14="http://schemas.microsoft.com/office/powerpoint/2010/main" val="2387684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C1B69-99DD-39D6-CB24-903F616DE6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B6D0841-3C30-ADDA-B692-BBAAD9BBBABA}"/>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19A82B4C-A447-DB24-AAFD-A90D0048F6BC}"/>
              </a:ext>
            </a:extLst>
          </p:cNvPr>
          <p:cNvSpPr txBox="1"/>
          <p:nvPr/>
        </p:nvSpPr>
        <p:spPr>
          <a:xfrm>
            <a:off x="162306" y="244655"/>
            <a:ext cx="8835390"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0E1E8BBF-3708-4A49-8BF6-9396D45C656D}"/>
              </a:ext>
            </a:extLst>
          </p:cNvPr>
          <p:cNvSpPr/>
          <p:nvPr/>
        </p:nvSpPr>
        <p:spPr>
          <a:xfrm>
            <a:off x="-1" y="1221723"/>
            <a:ext cx="528523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6. Add Android SDK tools to PATH</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7" name="TextBox 6">
            <a:extLst>
              <a:ext uri="{FF2B5EF4-FFF2-40B4-BE49-F238E27FC236}">
                <a16:creationId xmlns:a16="http://schemas.microsoft.com/office/drawing/2014/main" id="{751D7335-4805-AD37-4839-75E0E6FB295C}"/>
              </a:ext>
            </a:extLst>
          </p:cNvPr>
          <p:cNvSpPr txBox="1"/>
          <p:nvPr/>
        </p:nvSpPr>
        <p:spPr>
          <a:xfrm>
            <a:off x="-1" y="1672744"/>
            <a:ext cx="11770614" cy="460767"/>
          </a:xfrm>
          <a:prstGeom prst="rect">
            <a:avLst/>
          </a:prstGeom>
          <a:noFill/>
        </p:spPr>
        <p:txBody>
          <a:bodyPr wrap="square">
            <a:spAutoFit/>
          </a:bodyPr>
          <a:lstStyle/>
          <a:p>
            <a:pPr>
              <a:lnSpc>
                <a:spcPct val="150000"/>
              </a:lnSpc>
            </a:pPr>
            <a:r>
              <a:rPr lang="en-US" b="1" dirty="0">
                <a:effectLst>
                  <a:outerShdw blurRad="38100" dist="38100" dir="2700000" algn="tl">
                    <a:srgbClr val="000000">
                      <a:alpha val="43137"/>
                    </a:srgbClr>
                  </a:outerShdw>
                </a:effectLst>
                <a:latin typeface="Bookman Old Style" panose="02050604050505020204" pitchFamily="18" charset="0"/>
              </a:rPr>
              <a:t>A. Find Android SDK location</a:t>
            </a:r>
          </a:p>
        </p:txBody>
      </p:sp>
      <p:sp>
        <p:nvSpPr>
          <p:cNvPr id="8" name="TextBox 7">
            <a:extLst>
              <a:ext uri="{FF2B5EF4-FFF2-40B4-BE49-F238E27FC236}">
                <a16:creationId xmlns:a16="http://schemas.microsoft.com/office/drawing/2014/main" id="{68F91BF9-0570-A204-1C6B-E8EBC1D00406}"/>
              </a:ext>
            </a:extLst>
          </p:cNvPr>
          <p:cNvSpPr txBox="1"/>
          <p:nvPr/>
        </p:nvSpPr>
        <p:spPr>
          <a:xfrm>
            <a:off x="80010" y="2104261"/>
            <a:ext cx="10371582" cy="1487843"/>
          </a:xfrm>
          <a:prstGeom prst="rect">
            <a:avLst/>
          </a:prstGeom>
          <a:noFill/>
        </p:spPr>
        <p:txBody>
          <a:bodyPr wrap="square">
            <a:spAutoFit/>
          </a:bodyPr>
          <a:lstStyle/>
          <a:p>
            <a:pPr marL="285750" lvl="0" indent="-285750">
              <a:lnSpc>
                <a:spcPct val="115000"/>
              </a:lnSpc>
              <a:buFont typeface="Arial" panose="020B0604020202020204" pitchFamily="34" charset="0"/>
              <a:buChar char="•"/>
            </a:pPr>
            <a:r>
              <a:rPr lang="en-CA" sz="1600" dirty="0">
                <a:effectLst>
                  <a:outerShdw blurRad="38100" dist="38100" dir="2700000" algn="tl">
                    <a:srgbClr val="000000">
                      <a:alpha val="43137"/>
                    </a:srgbClr>
                  </a:outerShdw>
                </a:effectLst>
                <a:latin typeface="Bookman Old Style" panose="02050604050505020204" pitchFamily="18" charset="0"/>
              </a:rPr>
              <a:t>Find your Android SDK Location</a:t>
            </a:r>
          </a:p>
          <a:p>
            <a:pPr marL="742950" lvl="1" indent="-285750">
              <a:lnSpc>
                <a:spcPct val="115000"/>
              </a:lnSpc>
              <a:buFont typeface="Wingdings" panose="05000000000000000000" pitchFamily="2" charset="2"/>
              <a:buChar char="§"/>
            </a:pPr>
            <a:r>
              <a:rPr lang="en-CA" sz="1600" dirty="0">
                <a:effectLst>
                  <a:outerShdw blurRad="38100" dist="38100" dir="2700000" algn="tl">
                    <a:srgbClr val="000000">
                      <a:alpha val="43137"/>
                    </a:srgbClr>
                  </a:outerShdw>
                </a:effectLst>
                <a:latin typeface="Bookman Old Style" panose="02050604050505020204" pitchFamily="18" charset="0"/>
              </a:rPr>
              <a:t>Tap the ‘</a:t>
            </a:r>
            <a:r>
              <a:rPr lang="en-CA" sz="1600" b="1" dirty="0">
                <a:effectLst>
                  <a:outerShdw blurRad="38100" dist="38100" dir="2700000" algn="tl">
                    <a:srgbClr val="000000">
                      <a:alpha val="43137"/>
                    </a:srgbClr>
                  </a:outerShdw>
                </a:effectLst>
                <a:latin typeface="Bookman Old Style" panose="02050604050505020204" pitchFamily="18" charset="0"/>
              </a:rPr>
              <a:t>More Options</a:t>
            </a:r>
            <a:r>
              <a:rPr lang="en-CA" sz="1600" dirty="0">
                <a:effectLst>
                  <a:outerShdw blurRad="38100" dist="38100" dir="2700000" algn="tl">
                    <a:srgbClr val="000000">
                      <a:alpha val="43137"/>
                    </a:srgbClr>
                  </a:outerShdw>
                </a:effectLst>
                <a:latin typeface="Bookman Old Style" panose="02050604050505020204" pitchFamily="18" charset="0"/>
              </a:rPr>
              <a:t>’ drop down from the </a:t>
            </a:r>
            <a:r>
              <a:rPr lang="en-CA" sz="1600" b="1" dirty="0">
                <a:effectLst>
                  <a:outerShdw blurRad="38100" dist="38100" dir="2700000" algn="tl">
                    <a:srgbClr val="000000">
                      <a:alpha val="43137"/>
                    </a:srgbClr>
                  </a:outerShdw>
                </a:effectLst>
                <a:latin typeface="Bookman Old Style" panose="02050604050505020204" pitchFamily="18" charset="0"/>
              </a:rPr>
              <a:t>Android Welcome Screen </a:t>
            </a:r>
            <a:r>
              <a:rPr lang="en-CA" sz="1600" dirty="0">
                <a:effectLst>
                  <a:outerShdw blurRad="38100" dist="38100" dir="2700000" algn="tl">
                    <a:srgbClr val="000000">
                      <a:alpha val="43137"/>
                    </a:srgbClr>
                  </a:outerShdw>
                </a:effectLst>
                <a:latin typeface="Bookman Old Style" panose="02050604050505020204" pitchFamily="18" charset="0"/>
              </a:rPr>
              <a:t>and select ‘</a:t>
            </a:r>
            <a:r>
              <a:rPr lang="en-CA" sz="1600" b="1" dirty="0">
                <a:effectLst>
                  <a:outerShdw blurRad="38100" dist="38100" dir="2700000" algn="tl">
                    <a:srgbClr val="000000">
                      <a:alpha val="43137"/>
                    </a:srgbClr>
                  </a:outerShdw>
                </a:effectLst>
                <a:latin typeface="Bookman Old Style" panose="02050604050505020204" pitchFamily="18" charset="0"/>
              </a:rPr>
              <a:t>SDK Manager’</a:t>
            </a:r>
          </a:p>
          <a:p>
            <a:pPr lvl="1" algn="ctr">
              <a:lnSpc>
                <a:spcPct val="115000"/>
              </a:lnSpc>
            </a:pPr>
            <a:r>
              <a:rPr lang="en-CA" sz="1600" b="1" dirty="0">
                <a:effectLst>
                  <a:outerShdw blurRad="38100" dist="38100" dir="2700000" algn="tl">
                    <a:srgbClr val="000000">
                      <a:alpha val="43137"/>
                    </a:srgbClr>
                  </a:outerShdw>
                </a:effectLst>
                <a:latin typeface="Bookman Old Style" panose="02050604050505020204" pitchFamily="18" charset="0"/>
              </a:rPr>
              <a:t>OR</a:t>
            </a:r>
          </a:p>
          <a:p>
            <a:pPr marL="742950" lvl="1" indent="-285750">
              <a:lnSpc>
                <a:spcPct val="115000"/>
              </a:lnSpc>
              <a:buFont typeface="Wingdings" panose="05000000000000000000" pitchFamily="2" charset="2"/>
              <a:buChar char="§"/>
            </a:pPr>
            <a:r>
              <a:rPr lang="en-CA" sz="1600" dirty="0">
                <a:effectLst>
                  <a:outerShdw blurRad="38100" dist="38100" dir="2700000" algn="tl">
                    <a:srgbClr val="000000">
                      <a:alpha val="43137"/>
                    </a:srgbClr>
                  </a:outerShdw>
                </a:effectLst>
                <a:latin typeface="Bookman Old Style" panose="02050604050505020204" pitchFamily="18" charset="0"/>
              </a:rPr>
              <a:t>Choose </a:t>
            </a:r>
            <a:r>
              <a:rPr lang="en-CA" sz="1600" b="1" dirty="0">
                <a:effectLst>
                  <a:outerShdw blurRad="38100" dist="38100" dir="2700000" algn="tl">
                    <a:srgbClr val="000000">
                      <a:alpha val="43137"/>
                    </a:srgbClr>
                  </a:outerShdw>
                </a:effectLst>
                <a:latin typeface="Bookman Old Style" panose="02050604050505020204" pitchFamily="18" charset="0"/>
              </a:rPr>
              <a:t>Tools -&gt; SDK </a:t>
            </a:r>
            <a:r>
              <a:rPr lang="en-CA" sz="1600" dirty="0">
                <a:effectLst>
                  <a:outerShdw blurRad="38100" dist="38100" dir="2700000" algn="tl">
                    <a:srgbClr val="000000">
                      <a:alpha val="43137"/>
                    </a:srgbClr>
                  </a:outerShdw>
                </a:effectLst>
                <a:latin typeface="Bookman Old Style" panose="02050604050505020204" pitchFamily="18" charset="0"/>
              </a:rPr>
              <a:t>Manager (if you are inside an Android project)</a:t>
            </a:r>
          </a:p>
        </p:txBody>
      </p:sp>
      <p:pic>
        <p:nvPicPr>
          <p:cNvPr id="9" name="Picture 8" descr="A screenshot of a computer&#10;&#10;AI-generated content may be incorrect.">
            <a:extLst>
              <a:ext uri="{FF2B5EF4-FFF2-40B4-BE49-F238E27FC236}">
                <a16:creationId xmlns:a16="http://schemas.microsoft.com/office/drawing/2014/main" id="{96E7D5FF-F992-CDE1-947D-41B97E6FD799}"/>
              </a:ext>
            </a:extLst>
          </p:cNvPr>
          <p:cNvPicPr>
            <a:picLocks noChangeAspect="1"/>
          </p:cNvPicPr>
          <p:nvPr/>
        </p:nvPicPr>
        <p:blipFill>
          <a:blip r:embed="rId3"/>
          <a:stretch>
            <a:fillRect/>
          </a:stretch>
        </p:blipFill>
        <p:spPr>
          <a:xfrm>
            <a:off x="2215514" y="3721608"/>
            <a:ext cx="3733800" cy="3063875"/>
          </a:xfrm>
          <a:prstGeom prst="rect">
            <a:avLst/>
          </a:prstGeom>
        </p:spPr>
      </p:pic>
    </p:spTree>
    <p:extLst>
      <p:ext uri="{BB962C8B-B14F-4D97-AF65-F5344CB8AC3E}">
        <p14:creationId xmlns:p14="http://schemas.microsoft.com/office/powerpoint/2010/main" val="2853012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46D78-8A33-11F7-C5F2-96F6A9B9E6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C601AF0-A581-70EE-F4CC-D86A9F03E1B4}"/>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4DA7A765-7601-2F00-04CD-C9C3D8F47ADA}"/>
              </a:ext>
            </a:extLst>
          </p:cNvPr>
          <p:cNvSpPr txBox="1"/>
          <p:nvPr/>
        </p:nvSpPr>
        <p:spPr>
          <a:xfrm>
            <a:off x="162306" y="244655"/>
            <a:ext cx="8469630"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18B0FF4F-3B8B-3FA4-7A08-0169FE952576}"/>
              </a:ext>
            </a:extLst>
          </p:cNvPr>
          <p:cNvSpPr/>
          <p:nvPr/>
        </p:nvSpPr>
        <p:spPr>
          <a:xfrm>
            <a:off x="-1" y="1221723"/>
            <a:ext cx="528523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Add Android SDK tools to PATH</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pic>
        <p:nvPicPr>
          <p:cNvPr id="3" name="Picture 2" descr="A screenshot of a computer&#10;&#10;AI-generated content may be incorrect.">
            <a:extLst>
              <a:ext uri="{FF2B5EF4-FFF2-40B4-BE49-F238E27FC236}">
                <a16:creationId xmlns:a16="http://schemas.microsoft.com/office/drawing/2014/main" id="{98D6A959-3039-9811-F49C-5C98B88E029D}"/>
              </a:ext>
            </a:extLst>
          </p:cNvPr>
          <p:cNvPicPr>
            <a:picLocks noChangeAspect="1"/>
          </p:cNvPicPr>
          <p:nvPr/>
        </p:nvPicPr>
        <p:blipFill>
          <a:blip r:embed="rId3"/>
          <a:stretch>
            <a:fillRect/>
          </a:stretch>
        </p:blipFill>
        <p:spPr>
          <a:xfrm>
            <a:off x="326898" y="1852052"/>
            <a:ext cx="5132070" cy="3821344"/>
          </a:xfrm>
          <a:prstGeom prst="rect">
            <a:avLst/>
          </a:prstGeom>
        </p:spPr>
      </p:pic>
      <p:sp>
        <p:nvSpPr>
          <p:cNvPr id="10" name="TextBox 9">
            <a:extLst>
              <a:ext uri="{FF2B5EF4-FFF2-40B4-BE49-F238E27FC236}">
                <a16:creationId xmlns:a16="http://schemas.microsoft.com/office/drawing/2014/main" id="{2F67BB92-9DB5-3CC7-7101-68CDB398A84E}"/>
              </a:ext>
            </a:extLst>
          </p:cNvPr>
          <p:cNvSpPr txBox="1"/>
          <p:nvPr/>
        </p:nvSpPr>
        <p:spPr>
          <a:xfrm>
            <a:off x="326898" y="5899623"/>
            <a:ext cx="11002518" cy="395173"/>
          </a:xfrm>
          <a:prstGeom prst="rect">
            <a:avLst/>
          </a:prstGeom>
          <a:noFill/>
        </p:spPr>
        <p:txBody>
          <a:bodyPr wrap="square">
            <a:spAutoFit/>
          </a:bodyPr>
          <a:lstStyle/>
          <a:p>
            <a:pPr marL="342900" lvl="0" indent="-342900">
              <a:lnSpc>
                <a:spcPct val="115000"/>
              </a:lnSpc>
              <a:spcAft>
                <a:spcPts val="800"/>
              </a:spcAft>
              <a:buFont typeface="Symbol" panose="05050102010706020507" pitchFamily="18" charset="2"/>
              <a:buChar char=""/>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Copy the </a:t>
            </a:r>
            <a:r>
              <a:rPr lang="en-CA" sz="1800" b="1" kern="100" dirty="0">
                <a:effectLst/>
                <a:latin typeface="Aptos" panose="020B0004020202020204" pitchFamily="34" charset="0"/>
                <a:ea typeface="Aptos" panose="020B0004020202020204" pitchFamily="34" charset="0"/>
                <a:cs typeface="Times New Roman" panose="02020603050405020304" pitchFamily="18" charset="0"/>
              </a:rPr>
              <a:t>Android SDK location </a:t>
            </a:r>
            <a:r>
              <a:rPr lang="en-CA" sz="1800" kern="100" dirty="0">
                <a:effectLst/>
                <a:latin typeface="Aptos" panose="020B0004020202020204" pitchFamily="34" charset="0"/>
                <a:ea typeface="Aptos" panose="020B0004020202020204" pitchFamily="34" charset="0"/>
                <a:cs typeface="Times New Roman" panose="02020603050405020304" pitchFamily="18" charset="0"/>
              </a:rPr>
              <a:t>which is something like </a:t>
            </a:r>
            <a:r>
              <a:rPr lang="en-CA" sz="1800" b="1" kern="100" dirty="0">
                <a:effectLst/>
                <a:latin typeface="Aptos" panose="020B0004020202020204" pitchFamily="34" charset="0"/>
                <a:ea typeface="Aptos" panose="020B0004020202020204" pitchFamily="34" charset="0"/>
                <a:cs typeface="Times New Roman" panose="02020603050405020304" pitchFamily="18" charset="0"/>
              </a:rPr>
              <a:t>C:\Users\Tmathew\AppData\Local\Android\Sdk</a:t>
            </a:r>
            <a:endParaRPr lang="en-C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56069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3BF-31AA-15AF-7945-64BE398850D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6852159-0D58-7266-E607-7163017346D4}"/>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57CCAEC5-80EC-BB30-E93F-67FCFB0F21EC}"/>
              </a:ext>
            </a:extLst>
          </p:cNvPr>
          <p:cNvSpPr txBox="1"/>
          <p:nvPr/>
        </p:nvSpPr>
        <p:spPr>
          <a:xfrm>
            <a:off x="162306" y="244655"/>
            <a:ext cx="872566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0CC2CBAD-0D86-F235-328A-77D08D0740C5}"/>
              </a:ext>
            </a:extLst>
          </p:cNvPr>
          <p:cNvSpPr/>
          <p:nvPr/>
        </p:nvSpPr>
        <p:spPr>
          <a:xfrm>
            <a:off x="-1" y="1221723"/>
            <a:ext cx="528523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Add Android SDK tools to PATH</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10" name="TextBox 9">
            <a:extLst>
              <a:ext uri="{FF2B5EF4-FFF2-40B4-BE49-F238E27FC236}">
                <a16:creationId xmlns:a16="http://schemas.microsoft.com/office/drawing/2014/main" id="{E59B49BE-4493-AA52-A308-1CE78DF1F6FD}"/>
              </a:ext>
            </a:extLst>
          </p:cNvPr>
          <p:cNvSpPr txBox="1"/>
          <p:nvPr/>
        </p:nvSpPr>
        <p:spPr>
          <a:xfrm>
            <a:off x="162306" y="5636277"/>
            <a:ext cx="11002518" cy="1032270"/>
          </a:xfrm>
          <a:prstGeom prst="rect">
            <a:avLst/>
          </a:prstGeom>
          <a:noFill/>
        </p:spPr>
        <p:txBody>
          <a:bodyPr wrap="square">
            <a:spAutoFit/>
          </a:bodyPr>
          <a:lstStyle/>
          <a:p>
            <a:pPr marL="342900" lvl="0" indent="-342900">
              <a:lnSpc>
                <a:spcPct val="115000"/>
              </a:lnSpc>
              <a:buFont typeface="Symbol" panose="05050102010706020507" pitchFamily="18" charset="2"/>
              <a:buChar char=""/>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You should see a </a:t>
            </a:r>
            <a:r>
              <a:rPr lang="en-CA" sz="1800" b="1" kern="100" dirty="0">
                <a:effectLst/>
                <a:latin typeface="Aptos" panose="020B0004020202020204" pitchFamily="34" charset="0"/>
                <a:ea typeface="Aptos" panose="020B0004020202020204" pitchFamily="34" charset="0"/>
                <a:cs typeface="Times New Roman" panose="02020603050405020304" pitchFamily="18" charset="0"/>
              </a:rPr>
              <a:t>platform-tools folder </a:t>
            </a:r>
            <a:r>
              <a:rPr lang="en-CA" sz="1800" kern="100" dirty="0">
                <a:effectLst/>
                <a:latin typeface="Aptos" panose="020B0004020202020204" pitchFamily="34" charset="0"/>
                <a:ea typeface="Aptos" panose="020B0004020202020204" pitchFamily="34" charset="0"/>
                <a:cs typeface="Times New Roman" panose="02020603050405020304" pitchFamily="18" charset="0"/>
              </a:rPr>
              <a:t>in the SDK folder. </a:t>
            </a:r>
          </a:p>
          <a:p>
            <a:pPr marL="342900" lvl="0" indent="-342900">
              <a:lnSpc>
                <a:spcPct val="115000"/>
              </a:lnSpc>
              <a:buFont typeface="Symbol" panose="05050102010706020507" pitchFamily="18" charset="2"/>
              <a:buChar char=""/>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Copy the path to the platform-tools folder</a:t>
            </a:r>
          </a:p>
          <a:p>
            <a:pPr marL="914400">
              <a:lnSpc>
                <a:spcPct val="115000"/>
              </a:lnSpc>
              <a:spcAft>
                <a:spcPts val="800"/>
              </a:spcAft>
            </a:pPr>
            <a:r>
              <a:rPr lang="en-CA" sz="1800" b="1" kern="100" dirty="0">
                <a:effectLst/>
                <a:latin typeface="Aptos" panose="020B0004020202020204" pitchFamily="34" charset="0"/>
                <a:ea typeface="Aptos" panose="020B0004020202020204" pitchFamily="34" charset="0"/>
                <a:cs typeface="Times New Roman" panose="02020603050405020304" pitchFamily="18" charset="0"/>
              </a:rPr>
              <a:t>C:\Users\Tmathew\AppData\Local\Android\Sdk\platform-tools</a:t>
            </a:r>
            <a:endParaRPr lang="en-C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E76D1BB-8EA0-EAD6-0785-2171D421D2B1}"/>
              </a:ext>
            </a:extLst>
          </p:cNvPr>
          <p:cNvSpPr txBox="1"/>
          <p:nvPr/>
        </p:nvSpPr>
        <p:spPr>
          <a:xfrm>
            <a:off x="-1" y="1672744"/>
            <a:ext cx="11770614" cy="1613711"/>
          </a:xfrm>
          <a:prstGeom prst="rect">
            <a:avLst/>
          </a:prstGeom>
          <a:noFill/>
        </p:spPr>
        <p:txBody>
          <a:bodyPr wrap="square">
            <a:spAutoFit/>
          </a:bodyPr>
          <a:lstStyle/>
          <a:p>
            <a:pPr>
              <a:lnSpc>
                <a:spcPct val="150000"/>
              </a:lnSpc>
            </a:pPr>
            <a:r>
              <a:rPr lang="en-US" b="1" dirty="0">
                <a:effectLst>
                  <a:outerShdw blurRad="38100" dist="38100" dir="2700000" algn="tl">
                    <a:srgbClr val="000000">
                      <a:alpha val="43137"/>
                    </a:srgbClr>
                  </a:outerShdw>
                </a:effectLst>
                <a:latin typeface="Bookman Old Style" panose="02050604050505020204" pitchFamily="18" charset="0"/>
              </a:rPr>
              <a:t>B. </a:t>
            </a:r>
            <a:r>
              <a:rPr lang="en-CA" b="1" dirty="0">
                <a:effectLst>
                  <a:outerShdw blurRad="38100" dist="38100" dir="2700000" algn="tl">
                    <a:srgbClr val="000000">
                      <a:alpha val="43137"/>
                    </a:srgbClr>
                  </a:outerShdw>
                </a:effectLst>
                <a:latin typeface="Bookman Old Style" panose="02050604050505020204" pitchFamily="18" charset="0"/>
              </a:rPr>
              <a:t>Find the “platform-tools" folder location</a:t>
            </a:r>
          </a:p>
          <a:p>
            <a:pPr marL="800100" lvl="1" indent="-342900">
              <a:lnSpc>
                <a:spcPct val="115000"/>
              </a:lnSpc>
              <a:buFont typeface="Symbol" panose="05050102010706020507" pitchFamily="18" charset="2"/>
              <a:buChar char=""/>
            </a:pPr>
            <a:r>
              <a:rPr lang="en-CA" kern="100" dirty="0">
                <a:effectLst/>
                <a:latin typeface="Aptos" panose="020B0004020202020204" pitchFamily="34" charset="0"/>
                <a:ea typeface="Aptos" panose="020B0004020202020204" pitchFamily="34" charset="0"/>
                <a:cs typeface="Times New Roman" panose="02020603050405020304" pitchFamily="18" charset="0"/>
              </a:rPr>
              <a:t>Open the above </a:t>
            </a:r>
            <a:r>
              <a:rPr lang="en-CA" b="1" kern="100" dirty="0">
                <a:effectLst/>
                <a:latin typeface="Aptos" panose="020B0004020202020204" pitchFamily="34" charset="0"/>
                <a:ea typeface="Aptos" panose="020B0004020202020204" pitchFamily="34" charset="0"/>
                <a:cs typeface="Times New Roman" panose="02020603050405020304" pitchFamily="18" charset="0"/>
              </a:rPr>
              <a:t>SDK path folder </a:t>
            </a:r>
            <a:r>
              <a:rPr lang="en-CA" kern="100" dirty="0">
                <a:effectLst/>
                <a:latin typeface="Aptos" panose="020B0004020202020204" pitchFamily="34" charset="0"/>
                <a:ea typeface="Aptos" panose="020B0004020202020204" pitchFamily="34" charset="0"/>
                <a:cs typeface="Times New Roman" panose="02020603050405020304" pitchFamily="18" charset="0"/>
              </a:rPr>
              <a:t>in </a:t>
            </a:r>
            <a:r>
              <a:rPr lang="en-CA" b="1" kern="100" dirty="0">
                <a:effectLst/>
                <a:latin typeface="Aptos" panose="020B0004020202020204" pitchFamily="34" charset="0"/>
                <a:ea typeface="Aptos" panose="020B0004020202020204" pitchFamily="34" charset="0"/>
                <a:cs typeface="Times New Roman" panose="02020603050405020304" pitchFamily="18" charset="0"/>
              </a:rPr>
              <a:t>Windows Explorer</a:t>
            </a:r>
          </a:p>
          <a:p>
            <a:pPr marL="914400">
              <a:lnSpc>
                <a:spcPct val="115000"/>
              </a:lnSpc>
              <a:spcAft>
                <a:spcPts val="800"/>
              </a:spcAft>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(Note: The </a:t>
            </a:r>
            <a:r>
              <a:rPr lang="en-CA" sz="1800" kern="100" dirty="0" err="1">
                <a:effectLst/>
                <a:latin typeface="Aptos" panose="020B0004020202020204" pitchFamily="34" charset="0"/>
                <a:ea typeface="Aptos" panose="020B0004020202020204" pitchFamily="34" charset="0"/>
                <a:cs typeface="Times New Roman" panose="02020603050405020304" pitchFamily="18" charset="0"/>
              </a:rPr>
              <a:t>AppData</a:t>
            </a:r>
            <a:r>
              <a:rPr lang="en-CA" sz="1800" kern="100" dirty="0">
                <a:effectLst/>
                <a:latin typeface="Aptos" panose="020B0004020202020204" pitchFamily="34" charset="0"/>
                <a:ea typeface="Aptos" panose="020B0004020202020204" pitchFamily="34" charset="0"/>
                <a:cs typeface="Times New Roman" panose="02020603050405020304" pitchFamily="18" charset="0"/>
              </a:rPr>
              <a:t> folder may not be visible in Windows Explorer. Unhide the items in this folder)</a:t>
            </a:r>
          </a:p>
          <a:p>
            <a:pPr>
              <a:lnSpc>
                <a:spcPct val="150000"/>
              </a:lnSpc>
            </a:pPr>
            <a:endParaRPr lang="en-CA" b="1" dirty="0">
              <a:effectLst>
                <a:outerShdw blurRad="38100" dist="38100" dir="2700000" algn="tl">
                  <a:srgbClr val="000000">
                    <a:alpha val="43137"/>
                  </a:srgbClr>
                </a:outerShdw>
              </a:effectLst>
              <a:latin typeface="Bookman Old Style" panose="02050604050505020204" pitchFamily="18" charset="0"/>
            </a:endParaRPr>
          </a:p>
        </p:txBody>
      </p:sp>
      <p:pic>
        <p:nvPicPr>
          <p:cNvPr id="7" name="Picture 6" descr="A screenshot of a computer&#10;&#10;AI-generated content may be incorrect.">
            <a:extLst>
              <a:ext uri="{FF2B5EF4-FFF2-40B4-BE49-F238E27FC236}">
                <a16:creationId xmlns:a16="http://schemas.microsoft.com/office/drawing/2014/main" id="{B5CCC4C3-8F46-9853-5A0C-6A0BEE266D1A}"/>
              </a:ext>
            </a:extLst>
          </p:cNvPr>
          <p:cNvPicPr>
            <a:picLocks noChangeAspect="1"/>
          </p:cNvPicPr>
          <p:nvPr/>
        </p:nvPicPr>
        <p:blipFill>
          <a:blip r:embed="rId3"/>
          <a:stretch>
            <a:fillRect/>
          </a:stretch>
        </p:blipFill>
        <p:spPr>
          <a:xfrm>
            <a:off x="1011364" y="2906869"/>
            <a:ext cx="5471731" cy="2476492"/>
          </a:xfrm>
          <a:prstGeom prst="rect">
            <a:avLst/>
          </a:prstGeom>
        </p:spPr>
      </p:pic>
    </p:spTree>
    <p:extLst>
      <p:ext uri="{BB962C8B-B14F-4D97-AF65-F5344CB8AC3E}">
        <p14:creationId xmlns:p14="http://schemas.microsoft.com/office/powerpoint/2010/main" val="490411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D6048-C6A4-8133-B2C7-EE4C95BAB63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844B26-5E5A-8D26-1701-B6975B50199E}"/>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FCF1BF1-6416-90E9-7A1B-C1584D8010D2}"/>
              </a:ext>
            </a:extLst>
          </p:cNvPr>
          <p:cNvSpPr txBox="1"/>
          <p:nvPr/>
        </p:nvSpPr>
        <p:spPr>
          <a:xfrm>
            <a:off x="162306" y="244655"/>
            <a:ext cx="8506206"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60D9A571-03CB-C38B-260A-47EF8046ED8B}"/>
              </a:ext>
            </a:extLst>
          </p:cNvPr>
          <p:cNvSpPr/>
          <p:nvPr/>
        </p:nvSpPr>
        <p:spPr>
          <a:xfrm>
            <a:off x="-1" y="1221723"/>
            <a:ext cx="528523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Add Android SDK tools to PATH</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10" name="TextBox 9">
            <a:extLst>
              <a:ext uri="{FF2B5EF4-FFF2-40B4-BE49-F238E27FC236}">
                <a16:creationId xmlns:a16="http://schemas.microsoft.com/office/drawing/2014/main" id="{AEF406C2-D34C-DD00-C97B-4C241A84B103}"/>
              </a:ext>
            </a:extLst>
          </p:cNvPr>
          <p:cNvSpPr txBox="1"/>
          <p:nvPr/>
        </p:nvSpPr>
        <p:spPr>
          <a:xfrm>
            <a:off x="226314" y="4923045"/>
            <a:ext cx="11002518" cy="1032270"/>
          </a:xfrm>
          <a:prstGeom prst="rect">
            <a:avLst/>
          </a:prstGeom>
          <a:noFill/>
        </p:spPr>
        <p:txBody>
          <a:bodyPr wrap="square">
            <a:spAutoFit/>
          </a:bodyPr>
          <a:lstStyle/>
          <a:p>
            <a:pPr marL="342900" lvl="0" indent="-342900">
              <a:lnSpc>
                <a:spcPct val="115000"/>
              </a:lnSpc>
              <a:buFont typeface="Symbol" panose="05050102010706020507" pitchFamily="18" charset="2"/>
              <a:buChar char=""/>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You should see an ‘</a:t>
            </a:r>
            <a:r>
              <a:rPr lang="en-CA" sz="1800" b="1" kern="100" dirty="0">
                <a:effectLst/>
                <a:latin typeface="Aptos" panose="020B0004020202020204" pitchFamily="34" charset="0"/>
                <a:ea typeface="Aptos" panose="020B0004020202020204" pitchFamily="34" charset="0"/>
                <a:cs typeface="Times New Roman" panose="02020603050405020304" pitchFamily="18" charset="0"/>
              </a:rPr>
              <a:t>emulator</a:t>
            </a:r>
            <a:r>
              <a:rPr lang="en-CA" sz="1800" kern="100" dirty="0">
                <a:effectLst/>
                <a:latin typeface="Aptos" panose="020B0004020202020204" pitchFamily="34" charset="0"/>
                <a:ea typeface="Aptos" panose="020B0004020202020204" pitchFamily="34" charset="0"/>
                <a:cs typeface="Times New Roman" panose="02020603050405020304" pitchFamily="18" charset="0"/>
              </a:rPr>
              <a:t>’ folder in the SDK folder. </a:t>
            </a:r>
          </a:p>
          <a:p>
            <a:pPr marL="342900" lvl="0" indent="-342900">
              <a:lnSpc>
                <a:spcPct val="115000"/>
              </a:lnSpc>
              <a:buFont typeface="Symbol" panose="05050102010706020507" pitchFamily="18" charset="2"/>
              <a:buChar char=""/>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Copy the path to the emulator folder</a:t>
            </a:r>
          </a:p>
          <a:p>
            <a:pPr marL="914400">
              <a:lnSpc>
                <a:spcPct val="115000"/>
              </a:lnSpc>
              <a:spcAft>
                <a:spcPts val="800"/>
              </a:spcAft>
            </a:pPr>
            <a:r>
              <a:rPr lang="en-CA" sz="1800" b="1" kern="100" dirty="0">
                <a:effectLst/>
                <a:latin typeface="Aptos" panose="020B0004020202020204" pitchFamily="34" charset="0"/>
                <a:ea typeface="Aptos" panose="020B0004020202020204" pitchFamily="34" charset="0"/>
                <a:cs typeface="Times New Roman" panose="02020603050405020304" pitchFamily="18" charset="0"/>
              </a:rPr>
              <a:t>C:\Users\Tmathew\AppData\Local\Android\Sdk\emulator</a:t>
            </a:r>
            <a:endParaRPr lang="en-C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FC8877A-5ABC-FB35-69C7-DA59DE9EF6C4}"/>
              </a:ext>
            </a:extLst>
          </p:cNvPr>
          <p:cNvSpPr txBox="1"/>
          <p:nvPr/>
        </p:nvSpPr>
        <p:spPr>
          <a:xfrm>
            <a:off x="-1" y="1672744"/>
            <a:ext cx="11770614" cy="810671"/>
          </a:xfrm>
          <a:prstGeom prst="rect">
            <a:avLst/>
          </a:prstGeom>
          <a:noFill/>
        </p:spPr>
        <p:txBody>
          <a:bodyPr wrap="square">
            <a:spAutoFit/>
          </a:bodyPr>
          <a:lstStyle/>
          <a:p>
            <a:pPr>
              <a:lnSpc>
                <a:spcPct val="150000"/>
              </a:lnSpc>
            </a:pPr>
            <a:r>
              <a:rPr lang="en-US" b="1" dirty="0">
                <a:effectLst>
                  <a:outerShdw blurRad="38100" dist="38100" dir="2700000" algn="tl">
                    <a:srgbClr val="000000">
                      <a:alpha val="43137"/>
                    </a:srgbClr>
                  </a:outerShdw>
                </a:effectLst>
                <a:latin typeface="Bookman Old Style" panose="02050604050505020204" pitchFamily="18" charset="0"/>
              </a:rPr>
              <a:t>C. </a:t>
            </a:r>
            <a:r>
              <a:rPr lang="en-CA" b="1" dirty="0">
                <a:effectLst>
                  <a:outerShdw blurRad="38100" dist="38100" dir="2700000" algn="tl">
                    <a:srgbClr val="000000">
                      <a:alpha val="43137"/>
                    </a:srgbClr>
                  </a:outerShdw>
                </a:effectLst>
                <a:latin typeface="Bookman Old Style" panose="02050604050505020204" pitchFamily="18" charset="0"/>
              </a:rPr>
              <a:t>Find the emulator path location</a:t>
            </a:r>
          </a:p>
          <a:p>
            <a:pPr marL="800100" lvl="1" indent="-342900">
              <a:lnSpc>
                <a:spcPct val="115000"/>
              </a:lnSpc>
              <a:buFont typeface="Symbol" panose="05050102010706020507" pitchFamily="18" charset="2"/>
              <a:buChar char=""/>
            </a:pPr>
            <a:r>
              <a:rPr lang="en-CA" kern="100" dirty="0">
                <a:effectLst/>
                <a:latin typeface="Aptos" panose="020B0004020202020204" pitchFamily="34" charset="0"/>
                <a:ea typeface="Aptos" panose="020B0004020202020204" pitchFamily="34" charset="0"/>
                <a:cs typeface="Times New Roman" panose="02020603050405020304" pitchFamily="18" charset="0"/>
              </a:rPr>
              <a:t>Open the above SDK path folder in Windows Explorer</a:t>
            </a:r>
          </a:p>
        </p:txBody>
      </p:sp>
      <p:pic>
        <p:nvPicPr>
          <p:cNvPr id="8" name="Picture 7">
            <a:extLst>
              <a:ext uri="{FF2B5EF4-FFF2-40B4-BE49-F238E27FC236}">
                <a16:creationId xmlns:a16="http://schemas.microsoft.com/office/drawing/2014/main" id="{B1B5C963-1BA9-A7E6-15D6-22BBD607844C}"/>
              </a:ext>
            </a:extLst>
          </p:cNvPr>
          <p:cNvPicPr>
            <a:picLocks noChangeAspect="1"/>
          </p:cNvPicPr>
          <p:nvPr/>
        </p:nvPicPr>
        <p:blipFill>
          <a:blip r:embed="rId3"/>
          <a:stretch>
            <a:fillRect/>
          </a:stretch>
        </p:blipFill>
        <p:spPr>
          <a:xfrm>
            <a:off x="489372" y="2639135"/>
            <a:ext cx="8287176" cy="2000353"/>
          </a:xfrm>
          <a:prstGeom prst="rect">
            <a:avLst/>
          </a:prstGeom>
        </p:spPr>
      </p:pic>
    </p:spTree>
    <p:extLst>
      <p:ext uri="{BB962C8B-B14F-4D97-AF65-F5344CB8AC3E}">
        <p14:creationId xmlns:p14="http://schemas.microsoft.com/office/powerpoint/2010/main" val="3129231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7E500-3068-8FFA-DF3E-205336A9720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622BFD-6046-F139-59C3-6D38C8581472}"/>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53BABC80-6AE9-0DB0-4146-0884FBE4937D}"/>
              </a:ext>
            </a:extLst>
          </p:cNvPr>
          <p:cNvSpPr txBox="1"/>
          <p:nvPr/>
        </p:nvSpPr>
        <p:spPr>
          <a:xfrm>
            <a:off x="162306" y="244655"/>
            <a:ext cx="9576054"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22F82182-6799-FDA6-FEE4-612337FB699B}"/>
              </a:ext>
            </a:extLst>
          </p:cNvPr>
          <p:cNvSpPr/>
          <p:nvPr/>
        </p:nvSpPr>
        <p:spPr>
          <a:xfrm>
            <a:off x="-1" y="1221723"/>
            <a:ext cx="528523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Add Android SDK tools to PATH</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4" name="TextBox 3">
            <a:extLst>
              <a:ext uri="{FF2B5EF4-FFF2-40B4-BE49-F238E27FC236}">
                <a16:creationId xmlns:a16="http://schemas.microsoft.com/office/drawing/2014/main" id="{584DA608-0F48-024D-F69E-E6AA033DC061}"/>
              </a:ext>
            </a:extLst>
          </p:cNvPr>
          <p:cNvSpPr txBox="1"/>
          <p:nvPr/>
        </p:nvSpPr>
        <p:spPr>
          <a:xfrm>
            <a:off x="-1" y="1672744"/>
            <a:ext cx="11770614" cy="3206455"/>
          </a:xfrm>
          <a:prstGeom prst="rect">
            <a:avLst/>
          </a:prstGeom>
          <a:noFill/>
        </p:spPr>
        <p:txBody>
          <a:bodyPr wrap="square">
            <a:spAutoFit/>
          </a:bodyPr>
          <a:lstStyle/>
          <a:p>
            <a:pPr>
              <a:lnSpc>
                <a:spcPct val="150000"/>
              </a:lnSpc>
            </a:pPr>
            <a:r>
              <a:rPr lang="en-US" b="1" dirty="0">
                <a:effectLst>
                  <a:outerShdw blurRad="38100" dist="38100" dir="2700000" algn="tl">
                    <a:srgbClr val="000000">
                      <a:alpha val="43137"/>
                    </a:srgbClr>
                  </a:outerShdw>
                </a:effectLst>
                <a:latin typeface="Bookman Old Style" panose="02050604050505020204" pitchFamily="18" charset="0"/>
              </a:rPr>
              <a:t>D. Add the SDK, plat-tools, and emulator paths in the System PATH in Windows</a:t>
            </a:r>
            <a:endParaRPr lang="en-CA" b="1" dirty="0">
              <a:effectLst>
                <a:outerShdw blurRad="38100" dist="38100" dir="2700000" algn="tl">
                  <a:srgbClr val="000000">
                    <a:alpha val="43137"/>
                  </a:srgbClr>
                </a:outerShdw>
              </a:effectLst>
              <a:latin typeface="Bookman Old Style" panose="02050604050505020204" pitchFamily="18" charset="0"/>
            </a:endParaRPr>
          </a:p>
          <a:p>
            <a:pPr marL="800100" lvl="1" indent="-342900">
              <a:lnSpc>
                <a:spcPct val="115000"/>
              </a:lnSpc>
              <a:buFont typeface="Wingdings" panose="05000000000000000000" pitchFamily="2" charset="2"/>
              <a:buChar char="§"/>
            </a:pPr>
            <a:r>
              <a:rPr lang="en-CA" kern="100" dirty="0">
                <a:effectLst/>
                <a:latin typeface="Aptos" panose="020B0004020202020204" pitchFamily="34" charset="0"/>
                <a:ea typeface="Aptos" panose="020B0004020202020204" pitchFamily="34" charset="0"/>
                <a:cs typeface="Times New Roman" panose="02020603050405020304" pitchFamily="18" charset="0"/>
              </a:rPr>
              <a:t>Press </a:t>
            </a:r>
            <a:r>
              <a:rPr lang="en-CA" b="1" kern="100" dirty="0">
                <a:effectLst/>
                <a:latin typeface="Aptos" panose="020B0004020202020204" pitchFamily="34" charset="0"/>
                <a:ea typeface="Aptos" panose="020B0004020202020204" pitchFamily="34" charset="0"/>
                <a:cs typeface="Times New Roman" panose="02020603050405020304" pitchFamily="18" charset="0"/>
              </a:rPr>
              <a:t>Windows Key</a:t>
            </a:r>
            <a:r>
              <a:rPr lang="en-CA" kern="100" dirty="0">
                <a:effectLst/>
                <a:latin typeface="Aptos" panose="020B0004020202020204" pitchFamily="34" charset="0"/>
                <a:ea typeface="Aptos" panose="020B0004020202020204" pitchFamily="34" charset="0"/>
                <a:cs typeface="Times New Roman" panose="02020603050405020304" pitchFamily="18" charset="0"/>
              </a:rPr>
              <a:t>, search for "</a:t>
            </a:r>
            <a:r>
              <a:rPr lang="en-CA" b="1" kern="100" dirty="0">
                <a:effectLst/>
                <a:latin typeface="Aptos" panose="020B0004020202020204" pitchFamily="34" charset="0"/>
                <a:ea typeface="Aptos" panose="020B0004020202020204" pitchFamily="34" charset="0"/>
                <a:cs typeface="Times New Roman" panose="02020603050405020304" pitchFamily="18" charset="0"/>
              </a:rPr>
              <a:t>Environment Variables</a:t>
            </a:r>
            <a:r>
              <a:rPr lang="en-CA" kern="100" dirty="0">
                <a:effectLst/>
                <a:latin typeface="Aptos" panose="020B0004020202020204" pitchFamily="34" charset="0"/>
                <a:ea typeface="Aptos" panose="020B0004020202020204" pitchFamily="34" charset="0"/>
                <a:cs typeface="Times New Roman" panose="02020603050405020304" pitchFamily="18" charset="0"/>
              </a:rPr>
              <a:t>".</a:t>
            </a:r>
          </a:p>
          <a:p>
            <a:pPr marL="800100" lvl="1" indent="-342900">
              <a:lnSpc>
                <a:spcPct val="115000"/>
              </a:lnSpc>
              <a:buFont typeface="Wingdings" panose="05000000000000000000" pitchFamily="2" charset="2"/>
              <a:buChar char="§"/>
            </a:pPr>
            <a:r>
              <a:rPr lang="en-CA" kern="100" dirty="0">
                <a:effectLst/>
                <a:latin typeface="Aptos" panose="020B0004020202020204" pitchFamily="34" charset="0"/>
                <a:ea typeface="Aptos" panose="020B0004020202020204" pitchFamily="34" charset="0"/>
                <a:cs typeface="Times New Roman" panose="02020603050405020304" pitchFamily="18" charset="0"/>
              </a:rPr>
              <a:t>Choose ‘</a:t>
            </a:r>
            <a:r>
              <a:rPr lang="en-CA" b="1" kern="100" dirty="0">
                <a:effectLst/>
                <a:latin typeface="Aptos" panose="020B0004020202020204" pitchFamily="34" charset="0"/>
                <a:ea typeface="Aptos" panose="020B0004020202020204" pitchFamily="34" charset="0"/>
                <a:cs typeface="Times New Roman" panose="02020603050405020304" pitchFamily="18" charset="0"/>
              </a:rPr>
              <a:t>Environment Variables</a:t>
            </a:r>
            <a:r>
              <a:rPr lang="en-CA" kern="100" dirty="0">
                <a:effectLst/>
                <a:latin typeface="Aptos" panose="020B0004020202020204" pitchFamily="34" charset="0"/>
                <a:ea typeface="Aptos" panose="020B0004020202020204" pitchFamily="34" charset="0"/>
                <a:cs typeface="Times New Roman" panose="02020603050405020304" pitchFamily="18" charset="0"/>
              </a:rPr>
              <a:t>’ from the ‘</a:t>
            </a:r>
            <a:r>
              <a:rPr lang="en-CA" b="1" kern="100" dirty="0">
                <a:effectLst/>
                <a:latin typeface="Aptos" panose="020B0004020202020204" pitchFamily="34" charset="0"/>
                <a:ea typeface="Aptos" panose="020B0004020202020204" pitchFamily="34" charset="0"/>
                <a:cs typeface="Times New Roman" panose="02020603050405020304" pitchFamily="18" charset="0"/>
              </a:rPr>
              <a:t>System Properties</a:t>
            </a:r>
            <a:r>
              <a:rPr lang="en-CA" kern="100" dirty="0">
                <a:effectLst/>
                <a:latin typeface="Aptos" panose="020B0004020202020204" pitchFamily="34" charset="0"/>
                <a:ea typeface="Aptos" panose="020B0004020202020204" pitchFamily="34" charset="0"/>
                <a:cs typeface="Times New Roman" panose="02020603050405020304" pitchFamily="18" charset="0"/>
              </a:rPr>
              <a:t>’ dialog box that opens</a:t>
            </a:r>
          </a:p>
          <a:p>
            <a:pPr marL="800100" lvl="1" indent="-342900">
              <a:lnSpc>
                <a:spcPct val="115000"/>
              </a:lnSpc>
              <a:buFont typeface="Wingdings" panose="05000000000000000000" pitchFamily="2" charset="2"/>
              <a:buChar char="§"/>
            </a:pPr>
            <a:r>
              <a:rPr lang="en-CA" b="1" kern="100" dirty="0">
                <a:effectLst/>
                <a:latin typeface="Aptos" panose="020B0004020202020204" pitchFamily="34" charset="0"/>
                <a:ea typeface="Aptos" panose="020B0004020202020204" pitchFamily="34" charset="0"/>
                <a:cs typeface="Times New Roman" panose="02020603050405020304" pitchFamily="18" charset="0"/>
              </a:rPr>
              <a:t>In System variables</a:t>
            </a:r>
            <a:r>
              <a:rPr lang="en-CA" kern="100" dirty="0">
                <a:effectLst/>
                <a:latin typeface="Aptos" panose="020B0004020202020204" pitchFamily="34" charset="0"/>
                <a:ea typeface="Aptos" panose="020B0004020202020204" pitchFamily="34" charset="0"/>
                <a:cs typeface="Times New Roman" panose="02020603050405020304" pitchFamily="18" charset="0"/>
              </a:rPr>
              <a:t>, select ‘</a:t>
            </a:r>
            <a:r>
              <a:rPr lang="en-CA" b="1" kern="100" dirty="0">
                <a:effectLst/>
                <a:latin typeface="Aptos" panose="020B0004020202020204" pitchFamily="34" charset="0"/>
                <a:ea typeface="Aptos" panose="020B0004020202020204" pitchFamily="34" charset="0"/>
                <a:cs typeface="Times New Roman" panose="02020603050405020304" pitchFamily="18" charset="0"/>
              </a:rPr>
              <a:t>Path</a:t>
            </a:r>
            <a:r>
              <a:rPr lang="en-CA" kern="100" dirty="0">
                <a:effectLst/>
                <a:latin typeface="Aptos" panose="020B0004020202020204" pitchFamily="34" charset="0"/>
                <a:ea typeface="Aptos" panose="020B0004020202020204" pitchFamily="34" charset="0"/>
                <a:cs typeface="Times New Roman" panose="02020603050405020304" pitchFamily="18" charset="0"/>
              </a:rPr>
              <a:t>’ and click ‘</a:t>
            </a:r>
            <a:r>
              <a:rPr lang="en-CA" b="1" kern="100" dirty="0">
                <a:effectLst/>
                <a:latin typeface="Aptos" panose="020B0004020202020204" pitchFamily="34" charset="0"/>
                <a:ea typeface="Aptos" panose="020B0004020202020204" pitchFamily="34" charset="0"/>
                <a:cs typeface="Times New Roman" panose="02020603050405020304" pitchFamily="18" charset="0"/>
              </a:rPr>
              <a:t>Edit</a:t>
            </a:r>
            <a:r>
              <a:rPr lang="en-CA" kern="100" dirty="0">
                <a:effectLst/>
                <a:latin typeface="Aptos" panose="020B0004020202020204" pitchFamily="34" charset="0"/>
                <a:ea typeface="Aptos" panose="020B0004020202020204" pitchFamily="34" charset="0"/>
                <a:cs typeface="Times New Roman" panose="02020603050405020304" pitchFamily="18" charset="0"/>
              </a:rPr>
              <a:t>’</a:t>
            </a:r>
          </a:p>
          <a:p>
            <a:pPr marL="800100" lvl="1" indent="-342900">
              <a:lnSpc>
                <a:spcPct val="115000"/>
              </a:lnSpc>
              <a:buFont typeface="Wingdings" panose="05000000000000000000" pitchFamily="2" charset="2"/>
              <a:buChar char="§"/>
            </a:pPr>
            <a:r>
              <a:rPr lang="en-CA" kern="100" dirty="0">
                <a:effectLst/>
                <a:latin typeface="Aptos" panose="020B0004020202020204" pitchFamily="34" charset="0"/>
                <a:ea typeface="Aptos" panose="020B0004020202020204" pitchFamily="34" charset="0"/>
                <a:cs typeface="Times New Roman" panose="02020603050405020304" pitchFamily="18" charset="0"/>
              </a:rPr>
              <a:t>Click ‘</a:t>
            </a:r>
            <a:r>
              <a:rPr lang="en-CA" b="1" kern="100" dirty="0">
                <a:effectLst/>
                <a:latin typeface="Aptos" panose="020B0004020202020204" pitchFamily="34" charset="0"/>
                <a:ea typeface="Aptos" panose="020B0004020202020204" pitchFamily="34" charset="0"/>
                <a:cs typeface="Times New Roman" panose="02020603050405020304" pitchFamily="18" charset="0"/>
              </a:rPr>
              <a:t>New</a:t>
            </a:r>
            <a:r>
              <a:rPr lang="en-CA" kern="100" dirty="0">
                <a:effectLst/>
                <a:latin typeface="Aptos" panose="020B0004020202020204" pitchFamily="34" charset="0"/>
                <a:ea typeface="Aptos" panose="020B0004020202020204" pitchFamily="34" charset="0"/>
                <a:cs typeface="Times New Roman" panose="02020603050405020304" pitchFamily="18" charset="0"/>
              </a:rPr>
              <a:t>’ in the ‘</a:t>
            </a:r>
            <a:r>
              <a:rPr lang="en-CA" b="1" kern="100" dirty="0">
                <a:effectLst/>
                <a:latin typeface="Aptos" panose="020B0004020202020204" pitchFamily="34" charset="0"/>
                <a:ea typeface="Aptos" panose="020B0004020202020204" pitchFamily="34" charset="0"/>
                <a:cs typeface="Times New Roman" panose="02020603050405020304" pitchFamily="18" charset="0"/>
              </a:rPr>
              <a:t>Edit environment variable</a:t>
            </a:r>
            <a:r>
              <a:rPr lang="en-CA" kern="100" dirty="0">
                <a:effectLst/>
                <a:latin typeface="Aptos" panose="020B0004020202020204" pitchFamily="34" charset="0"/>
                <a:ea typeface="Aptos" panose="020B0004020202020204" pitchFamily="34" charset="0"/>
                <a:cs typeface="Times New Roman" panose="02020603050405020304" pitchFamily="18" charset="0"/>
              </a:rPr>
              <a:t>’ dialog box that opens</a:t>
            </a:r>
          </a:p>
          <a:p>
            <a:pPr marL="800100" lvl="1" indent="-342900">
              <a:lnSpc>
                <a:spcPct val="115000"/>
              </a:lnSpc>
              <a:buFont typeface="Wingdings" panose="05000000000000000000" pitchFamily="2" charset="2"/>
              <a:buChar char="§"/>
            </a:pPr>
            <a:r>
              <a:rPr lang="en-CA" b="1" kern="100" dirty="0">
                <a:effectLst/>
                <a:latin typeface="Aptos" panose="020B0004020202020204" pitchFamily="34" charset="0"/>
                <a:ea typeface="Aptos" panose="020B0004020202020204" pitchFamily="34" charset="0"/>
                <a:cs typeface="Times New Roman" panose="02020603050405020304" pitchFamily="18" charset="0"/>
              </a:rPr>
              <a:t>Add the SDK path </a:t>
            </a:r>
          </a:p>
          <a:p>
            <a:pPr marL="800100" lvl="1" indent="-342900">
              <a:lnSpc>
                <a:spcPct val="115000"/>
              </a:lnSpc>
              <a:spcAft>
                <a:spcPts val="800"/>
              </a:spcAft>
              <a:buFont typeface="Wingdings" panose="05000000000000000000" pitchFamily="2" charset="2"/>
              <a:buChar char="§"/>
            </a:pPr>
            <a:r>
              <a:rPr lang="en-CA" kern="100" dirty="0">
                <a:effectLst/>
                <a:latin typeface="Aptos" panose="020B0004020202020204" pitchFamily="34" charset="0"/>
                <a:ea typeface="Aptos" panose="020B0004020202020204" pitchFamily="34" charset="0"/>
                <a:cs typeface="Times New Roman" panose="02020603050405020304" pitchFamily="18" charset="0"/>
              </a:rPr>
              <a:t>Similarly </a:t>
            </a:r>
            <a:r>
              <a:rPr lang="en-CA" b="1" kern="100" dirty="0">
                <a:effectLst/>
                <a:latin typeface="Aptos" panose="020B0004020202020204" pitchFamily="34" charset="0"/>
                <a:ea typeface="Aptos" panose="020B0004020202020204" pitchFamily="34" charset="0"/>
                <a:cs typeface="Times New Roman" panose="02020603050405020304" pitchFamily="18" charset="0"/>
              </a:rPr>
              <a:t>add the platform-tools, and emulator path</a:t>
            </a:r>
            <a:r>
              <a:rPr lang="en-CA" kern="100" dirty="0">
                <a:effectLst/>
                <a:latin typeface="Aptos" panose="020B0004020202020204" pitchFamily="34" charset="0"/>
                <a:ea typeface="Aptos" panose="020B0004020202020204" pitchFamily="34" charset="0"/>
                <a:cs typeface="Times New Roman" panose="02020603050405020304" pitchFamily="18" charset="0"/>
              </a:rPr>
              <a:t> also  </a:t>
            </a:r>
          </a:p>
          <a:p>
            <a:pPr marL="800100" lvl="1" indent="-342900">
              <a:lnSpc>
                <a:spcPct val="115000"/>
              </a:lnSpc>
              <a:buFont typeface="Symbol" panose="05050102010706020507" pitchFamily="18" charset="2"/>
              <a:buChar char=""/>
            </a:pPr>
            <a:endParaRPr lang="en-CA"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pPr>
            <a:endParaRPr lang="en-CA" b="1" dirty="0">
              <a:effectLst>
                <a:outerShdw blurRad="38100" dist="38100" dir="2700000" algn="tl">
                  <a:srgbClr val="000000">
                    <a:alpha val="43137"/>
                  </a:srgbClr>
                </a:outerShdw>
              </a:effectLst>
              <a:latin typeface="Bookman Old Style" panose="02050604050505020204" pitchFamily="18" charset="0"/>
            </a:endParaRPr>
          </a:p>
        </p:txBody>
      </p:sp>
      <p:pic>
        <p:nvPicPr>
          <p:cNvPr id="9" name="Picture 8">
            <a:extLst>
              <a:ext uri="{FF2B5EF4-FFF2-40B4-BE49-F238E27FC236}">
                <a16:creationId xmlns:a16="http://schemas.microsoft.com/office/drawing/2014/main" id="{D880EEEE-C34D-0372-88FB-71D8E2E276D1}"/>
              </a:ext>
            </a:extLst>
          </p:cNvPr>
          <p:cNvPicPr>
            <a:picLocks noChangeAspect="1"/>
          </p:cNvPicPr>
          <p:nvPr/>
        </p:nvPicPr>
        <p:blipFill>
          <a:blip r:embed="rId3"/>
          <a:stretch>
            <a:fillRect/>
          </a:stretch>
        </p:blipFill>
        <p:spPr>
          <a:xfrm>
            <a:off x="8466749" y="2973878"/>
            <a:ext cx="3485343" cy="3810642"/>
          </a:xfrm>
          <a:prstGeom prst="rect">
            <a:avLst/>
          </a:prstGeom>
        </p:spPr>
      </p:pic>
      <p:pic>
        <p:nvPicPr>
          <p:cNvPr id="7" name="Picture 6">
            <a:extLst>
              <a:ext uri="{FF2B5EF4-FFF2-40B4-BE49-F238E27FC236}">
                <a16:creationId xmlns:a16="http://schemas.microsoft.com/office/drawing/2014/main" id="{6FB5BC88-4CD8-52AB-AF30-84A3D67C6F92}"/>
              </a:ext>
            </a:extLst>
          </p:cNvPr>
          <p:cNvPicPr>
            <a:picLocks noChangeAspect="1"/>
          </p:cNvPicPr>
          <p:nvPr/>
        </p:nvPicPr>
        <p:blipFill>
          <a:blip r:embed="rId4"/>
          <a:stretch>
            <a:fillRect/>
          </a:stretch>
        </p:blipFill>
        <p:spPr>
          <a:xfrm>
            <a:off x="1271015" y="4201793"/>
            <a:ext cx="2743200" cy="2615934"/>
          </a:xfrm>
          <a:prstGeom prst="rect">
            <a:avLst/>
          </a:prstGeom>
        </p:spPr>
      </p:pic>
      <p:pic>
        <p:nvPicPr>
          <p:cNvPr id="10" name="Picture 9">
            <a:extLst>
              <a:ext uri="{FF2B5EF4-FFF2-40B4-BE49-F238E27FC236}">
                <a16:creationId xmlns:a16="http://schemas.microsoft.com/office/drawing/2014/main" id="{B95BB5C2-2A35-905C-E9B6-20D7979A8FB3}"/>
              </a:ext>
            </a:extLst>
          </p:cNvPr>
          <p:cNvPicPr>
            <a:picLocks noChangeAspect="1"/>
          </p:cNvPicPr>
          <p:nvPr/>
        </p:nvPicPr>
        <p:blipFill>
          <a:blip r:embed="rId5"/>
          <a:stretch>
            <a:fillRect/>
          </a:stretch>
        </p:blipFill>
        <p:spPr>
          <a:xfrm>
            <a:off x="4649364" y="4168585"/>
            <a:ext cx="3086460" cy="2615935"/>
          </a:xfrm>
          <a:prstGeom prst="rect">
            <a:avLst/>
          </a:prstGeom>
        </p:spPr>
      </p:pic>
    </p:spTree>
    <p:extLst>
      <p:ext uri="{BB962C8B-B14F-4D97-AF65-F5344CB8AC3E}">
        <p14:creationId xmlns:p14="http://schemas.microsoft.com/office/powerpoint/2010/main" val="4200568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E4765-A256-81D1-DDC1-722C4AEB69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82A7761-A878-9D1A-168F-E83496A64521}"/>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39672793-7468-F611-97D4-DD3A1835DEE8}"/>
              </a:ext>
            </a:extLst>
          </p:cNvPr>
          <p:cNvSpPr txBox="1"/>
          <p:nvPr/>
        </p:nvSpPr>
        <p:spPr>
          <a:xfrm>
            <a:off x="162306" y="244655"/>
            <a:ext cx="8844534"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9DD7B335-BD5C-5511-0830-15DBE89E58A2}"/>
              </a:ext>
            </a:extLst>
          </p:cNvPr>
          <p:cNvSpPr/>
          <p:nvPr/>
        </p:nvSpPr>
        <p:spPr>
          <a:xfrm>
            <a:off x="-1" y="1221723"/>
            <a:ext cx="528523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Add Android SDK tools to PATH</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4" name="TextBox 3">
            <a:extLst>
              <a:ext uri="{FF2B5EF4-FFF2-40B4-BE49-F238E27FC236}">
                <a16:creationId xmlns:a16="http://schemas.microsoft.com/office/drawing/2014/main" id="{8D761E6E-7DAA-A974-534F-888694172806}"/>
              </a:ext>
            </a:extLst>
          </p:cNvPr>
          <p:cNvSpPr txBox="1"/>
          <p:nvPr/>
        </p:nvSpPr>
        <p:spPr>
          <a:xfrm>
            <a:off x="-2" y="1672744"/>
            <a:ext cx="12070081" cy="2466766"/>
          </a:xfrm>
          <a:prstGeom prst="rect">
            <a:avLst/>
          </a:prstGeom>
          <a:noFill/>
        </p:spPr>
        <p:txBody>
          <a:bodyPr wrap="square">
            <a:spAutoFit/>
          </a:bodyPr>
          <a:lstStyle/>
          <a:p>
            <a:pPr>
              <a:lnSpc>
                <a:spcPct val="150000"/>
              </a:lnSpc>
            </a:pPr>
            <a:r>
              <a:rPr lang="en-US" b="1" dirty="0">
                <a:effectLst>
                  <a:outerShdw blurRad="38100" dist="38100" dir="2700000" algn="tl">
                    <a:srgbClr val="000000">
                      <a:alpha val="43137"/>
                    </a:srgbClr>
                  </a:outerShdw>
                </a:effectLst>
                <a:latin typeface="Bookman Old Style" panose="02050604050505020204" pitchFamily="18" charset="0"/>
              </a:rPr>
              <a:t>E. Set </a:t>
            </a:r>
            <a:r>
              <a:rPr lang="en-CA" b="1" dirty="0">
                <a:effectLst>
                  <a:outerShdw blurRad="38100" dist="38100" dir="2700000" algn="tl">
                    <a:srgbClr val="000000">
                      <a:alpha val="43137"/>
                    </a:srgbClr>
                  </a:outerShdw>
                </a:effectLst>
                <a:latin typeface="Bookman Old Style" panose="02050604050505020204" pitchFamily="18" charset="0"/>
              </a:rPr>
              <a:t>ANDROID_HOME variable</a:t>
            </a:r>
          </a:p>
          <a:p>
            <a:pPr marL="800100" lvl="1" indent="-342900">
              <a:lnSpc>
                <a:spcPct val="115000"/>
              </a:lnSpc>
              <a:buFont typeface="Wingdings" panose="05000000000000000000" pitchFamily="2" charset="2"/>
              <a:buChar char="§"/>
            </a:pPr>
            <a:r>
              <a:rPr lang="en-US" kern="100" dirty="0">
                <a:effectLst/>
                <a:latin typeface="Aptos" panose="020B0004020202020204" pitchFamily="34" charset="0"/>
                <a:ea typeface="Aptos" panose="020B0004020202020204" pitchFamily="34" charset="0"/>
                <a:cs typeface="Times New Roman" panose="02020603050405020304" pitchFamily="18" charset="0"/>
              </a:rPr>
              <a:t>We set the </a:t>
            </a:r>
            <a:r>
              <a:rPr lang="en-US" b="1" kern="100" dirty="0">
                <a:effectLst/>
                <a:latin typeface="Aptos" panose="020B0004020202020204" pitchFamily="34" charset="0"/>
                <a:ea typeface="Aptos" panose="020B0004020202020204" pitchFamily="34" charset="0"/>
                <a:cs typeface="Times New Roman" panose="02020603050405020304" pitchFamily="18" charset="0"/>
              </a:rPr>
              <a:t>ANDROID_HOME </a:t>
            </a:r>
            <a:r>
              <a:rPr lang="en-US" kern="100" dirty="0">
                <a:effectLst/>
                <a:latin typeface="Aptos" panose="020B0004020202020204" pitchFamily="34" charset="0"/>
                <a:ea typeface="Aptos" panose="020B0004020202020204" pitchFamily="34" charset="0"/>
                <a:cs typeface="Times New Roman" panose="02020603050405020304" pitchFamily="18" charset="0"/>
              </a:rPr>
              <a:t>environment variable </a:t>
            </a:r>
            <a:r>
              <a:rPr lang="en-US" b="1" kern="100" dirty="0">
                <a:effectLst/>
                <a:latin typeface="Aptos" panose="020B0004020202020204" pitchFamily="34" charset="0"/>
                <a:ea typeface="Aptos" panose="020B0004020202020204" pitchFamily="34" charset="0"/>
                <a:cs typeface="Times New Roman" panose="02020603050405020304" pitchFamily="18" charset="0"/>
              </a:rPr>
              <a:t>to tell development tools like React Native CLI and Gradle where the Android SDK is installed</a:t>
            </a:r>
          </a:p>
          <a:p>
            <a:pPr marL="800100" lvl="1" indent="-342900">
              <a:lnSpc>
                <a:spcPct val="115000"/>
              </a:lnSpc>
              <a:buFont typeface="Wingdings" panose="05000000000000000000" pitchFamily="2"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Create a new system variable ‘</a:t>
            </a:r>
            <a:r>
              <a:rPr lang="en-US" b="1" kern="100" dirty="0">
                <a:latin typeface="Aptos" panose="020B0004020202020204" pitchFamily="34" charset="0"/>
                <a:ea typeface="Aptos" panose="020B0004020202020204" pitchFamily="34" charset="0"/>
                <a:cs typeface="Times New Roman" panose="02020603050405020304" pitchFamily="18" charset="0"/>
              </a:rPr>
              <a:t>ANDROID_HOME</a:t>
            </a:r>
            <a:r>
              <a:rPr lang="en-US" kern="100" dirty="0">
                <a:latin typeface="Aptos" panose="020B0004020202020204" pitchFamily="34" charset="0"/>
                <a:ea typeface="Aptos" panose="020B0004020202020204" pitchFamily="34" charset="0"/>
                <a:cs typeface="Times New Roman" panose="02020603050405020304" pitchFamily="18" charset="0"/>
              </a:rPr>
              <a:t>’ and set it with the path to </a:t>
            </a:r>
            <a:r>
              <a:rPr lang="en-CA" sz="1800" b="1" kern="100" dirty="0">
                <a:effectLst/>
                <a:latin typeface="Aptos" panose="020B0004020202020204" pitchFamily="34" charset="0"/>
                <a:ea typeface="Aptos" panose="020B0004020202020204" pitchFamily="34" charset="0"/>
                <a:cs typeface="Times New Roman" panose="02020603050405020304" pitchFamily="18" charset="0"/>
              </a:rPr>
              <a:t>C:\Users\Tmathew\AppData\Local\Android\Sdk</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800100" lvl="1" indent="-342900">
              <a:lnSpc>
                <a:spcPct val="115000"/>
              </a:lnSpc>
              <a:buFont typeface="Symbol" panose="05050102010706020507" pitchFamily="18" charset="2"/>
              <a:buChar char=""/>
            </a:pPr>
            <a:endParaRPr lang="en-CA"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pPr>
            <a:endParaRPr lang="en-CA" b="1" dirty="0">
              <a:effectLst>
                <a:outerShdw blurRad="38100" dist="38100" dir="2700000" algn="tl">
                  <a:srgbClr val="000000">
                    <a:alpha val="43137"/>
                  </a:srgbClr>
                </a:outerShdw>
              </a:effectLst>
              <a:latin typeface="Bookman Old Style" panose="02050604050505020204" pitchFamily="18" charset="0"/>
            </a:endParaRPr>
          </a:p>
        </p:txBody>
      </p:sp>
      <p:pic>
        <p:nvPicPr>
          <p:cNvPr id="7" name="Picture 6" descr="A screenshot of a computer&#10;&#10;AI-generated content may be incorrect.">
            <a:extLst>
              <a:ext uri="{FF2B5EF4-FFF2-40B4-BE49-F238E27FC236}">
                <a16:creationId xmlns:a16="http://schemas.microsoft.com/office/drawing/2014/main" id="{2918C2FE-826A-3569-7140-09218A76999A}"/>
              </a:ext>
            </a:extLst>
          </p:cNvPr>
          <p:cNvPicPr>
            <a:picLocks noChangeAspect="1"/>
          </p:cNvPicPr>
          <p:nvPr/>
        </p:nvPicPr>
        <p:blipFill>
          <a:blip r:embed="rId3"/>
          <a:stretch>
            <a:fillRect/>
          </a:stretch>
        </p:blipFill>
        <p:spPr>
          <a:xfrm>
            <a:off x="728472" y="3741852"/>
            <a:ext cx="9375648" cy="2372961"/>
          </a:xfrm>
          <a:prstGeom prst="rect">
            <a:avLst/>
          </a:prstGeom>
        </p:spPr>
      </p:pic>
    </p:spTree>
    <p:extLst>
      <p:ext uri="{BB962C8B-B14F-4D97-AF65-F5344CB8AC3E}">
        <p14:creationId xmlns:p14="http://schemas.microsoft.com/office/powerpoint/2010/main" val="784593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1ACA1-E58B-9FDC-77C2-E3EEA02EB3E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CFAB831-6053-6076-DDE2-6E328DC8839C}"/>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D9CFAFA9-25F3-0DD8-DF22-081FF80A7A0E}"/>
              </a:ext>
            </a:extLst>
          </p:cNvPr>
          <p:cNvSpPr txBox="1"/>
          <p:nvPr/>
        </p:nvSpPr>
        <p:spPr>
          <a:xfrm>
            <a:off x="162306" y="244655"/>
            <a:ext cx="8524494"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4FEDC9F8-6061-4178-DD59-A69788501E19}"/>
              </a:ext>
            </a:extLst>
          </p:cNvPr>
          <p:cNvSpPr/>
          <p:nvPr/>
        </p:nvSpPr>
        <p:spPr>
          <a:xfrm>
            <a:off x="-1" y="1221723"/>
            <a:ext cx="528523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Add Android SDK tools to PATH</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4" name="TextBox 3">
            <a:extLst>
              <a:ext uri="{FF2B5EF4-FFF2-40B4-BE49-F238E27FC236}">
                <a16:creationId xmlns:a16="http://schemas.microsoft.com/office/drawing/2014/main" id="{6F8AEE1B-FF07-BE3B-BC5C-C2AFCFE323B1}"/>
              </a:ext>
            </a:extLst>
          </p:cNvPr>
          <p:cNvSpPr txBox="1"/>
          <p:nvPr/>
        </p:nvSpPr>
        <p:spPr>
          <a:xfrm>
            <a:off x="-2" y="1672744"/>
            <a:ext cx="12070081" cy="2466766"/>
          </a:xfrm>
          <a:prstGeom prst="rect">
            <a:avLst/>
          </a:prstGeom>
          <a:noFill/>
        </p:spPr>
        <p:txBody>
          <a:bodyPr wrap="square">
            <a:spAutoFit/>
          </a:bodyPr>
          <a:lstStyle/>
          <a:p>
            <a:pPr>
              <a:lnSpc>
                <a:spcPct val="150000"/>
              </a:lnSpc>
            </a:pPr>
            <a:r>
              <a:rPr lang="en-US" b="1" dirty="0">
                <a:effectLst>
                  <a:outerShdw blurRad="38100" dist="38100" dir="2700000" algn="tl">
                    <a:srgbClr val="000000">
                      <a:alpha val="43137"/>
                    </a:srgbClr>
                  </a:outerShdw>
                </a:effectLst>
                <a:latin typeface="Bookman Old Style" panose="02050604050505020204" pitchFamily="18" charset="0"/>
              </a:rPr>
              <a:t>F. Set </a:t>
            </a:r>
            <a:r>
              <a:rPr lang="en-CA" b="1" dirty="0">
                <a:effectLst>
                  <a:outerShdw blurRad="38100" dist="38100" dir="2700000" algn="tl">
                    <a:srgbClr val="000000">
                      <a:alpha val="43137"/>
                    </a:srgbClr>
                  </a:outerShdw>
                </a:effectLst>
                <a:latin typeface="Bookman Old Style" panose="02050604050505020204" pitchFamily="18" charset="0"/>
              </a:rPr>
              <a:t>ANDROID_SDK_ROOT variable</a:t>
            </a:r>
          </a:p>
          <a:p>
            <a:pPr marL="800100" lvl="1" indent="-342900">
              <a:lnSpc>
                <a:spcPct val="115000"/>
              </a:lnSpc>
              <a:buFont typeface="Wingdings" panose="05000000000000000000" pitchFamily="2" charset="2"/>
              <a:buChar char="§"/>
            </a:pPr>
            <a:r>
              <a:rPr lang="en-US" kern="100" dirty="0">
                <a:effectLst/>
                <a:latin typeface="Aptos" panose="020B0004020202020204" pitchFamily="34" charset="0"/>
                <a:ea typeface="Aptos" panose="020B0004020202020204" pitchFamily="34" charset="0"/>
                <a:cs typeface="Times New Roman" panose="02020603050405020304" pitchFamily="18" charset="0"/>
              </a:rPr>
              <a:t>We set the </a:t>
            </a:r>
            <a:r>
              <a:rPr lang="en-US" b="1" kern="100" dirty="0">
                <a:effectLst/>
                <a:latin typeface="Aptos" panose="020B0004020202020204" pitchFamily="34" charset="0"/>
                <a:ea typeface="Aptos" panose="020B0004020202020204" pitchFamily="34" charset="0"/>
                <a:cs typeface="Times New Roman" panose="02020603050405020304" pitchFamily="18" charset="0"/>
              </a:rPr>
              <a:t>ANDROID_SDK_ROOT </a:t>
            </a:r>
            <a:r>
              <a:rPr lang="en-US" kern="100" dirty="0">
                <a:effectLst/>
                <a:latin typeface="Aptos" panose="020B0004020202020204" pitchFamily="34" charset="0"/>
                <a:ea typeface="Aptos" panose="020B0004020202020204" pitchFamily="34" charset="0"/>
                <a:cs typeface="Times New Roman" panose="02020603050405020304" pitchFamily="18" charset="0"/>
              </a:rPr>
              <a:t>environment variable </a:t>
            </a:r>
            <a:r>
              <a:rPr lang="en-US" b="1" kern="100" dirty="0">
                <a:effectLst/>
                <a:latin typeface="Aptos" panose="020B0004020202020204" pitchFamily="34" charset="0"/>
                <a:ea typeface="Aptos" panose="020B0004020202020204" pitchFamily="34" charset="0"/>
                <a:cs typeface="Times New Roman" panose="02020603050405020304" pitchFamily="18" charset="0"/>
              </a:rPr>
              <a:t>to specify the location of the Android SDK so that tools like the Android Emulator, build tools, and React Native can correctly find and use it</a:t>
            </a:r>
          </a:p>
          <a:p>
            <a:pPr marL="800100" lvl="1" indent="-342900">
              <a:lnSpc>
                <a:spcPct val="115000"/>
              </a:lnSpc>
              <a:buFont typeface="Wingdings" panose="05000000000000000000" pitchFamily="2"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Create a new system variable ‘</a:t>
            </a:r>
            <a:r>
              <a:rPr lang="en-CA" b="1" dirty="0">
                <a:effectLst>
                  <a:outerShdw blurRad="38100" dist="38100" dir="2700000" algn="tl">
                    <a:srgbClr val="000000">
                      <a:alpha val="43137"/>
                    </a:srgbClr>
                  </a:outerShdw>
                </a:effectLst>
                <a:latin typeface="Bookman Old Style" panose="02050604050505020204" pitchFamily="18" charset="0"/>
              </a:rPr>
              <a:t>ANDROID_SDK_ROOT</a:t>
            </a:r>
            <a:r>
              <a:rPr lang="en-US" kern="100" dirty="0">
                <a:latin typeface="Aptos" panose="020B0004020202020204" pitchFamily="34" charset="0"/>
                <a:ea typeface="Aptos" panose="020B0004020202020204" pitchFamily="34" charset="0"/>
                <a:cs typeface="Times New Roman" panose="02020603050405020304" pitchFamily="18" charset="0"/>
              </a:rPr>
              <a:t>’ and set it with the path to </a:t>
            </a:r>
            <a:r>
              <a:rPr lang="en-CA" sz="1800" b="1" kern="100" dirty="0">
                <a:effectLst/>
                <a:latin typeface="Aptos" panose="020B0004020202020204" pitchFamily="34" charset="0"/>
                <a:ea typeface="Aptos" panose="020B0004020202020204" pitchFamily="34" charset="0"/>
                <a:cs typeface="Times New Roman" panose="02020603050405020304" pitchFamily="18" charset="0"/>
              </a:rPr>
              <a:t>C:\Users\Tmathew\AppData\Local\Android\Sdk</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800100" lvl="1" indent="-342900">
              <a:lnSpc>
                <a:spcPct val="115000"/>
              </a:lnSpc>
              <a:buFont typeface="Symbol" panose="05050102010706020507" pitchFamily="18" charset="2"/>
              <a:buChar char=""/>
            </a:pPr>
            <a:endParaRPr lang="en-CA"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pPr>
            <a:endParaRPr lang="en-CA" b="1" dirty="0">
              <a:effectLst>
                <a:outerShdw blurRad="38100" dist="38100" dir="2700000" algn="tl">
                  <a:srgbClr val="000000">
                    <a:alpha val="43137"/>
                  </a:srgbClr>
                </a:outerShdw>
              </a:effectLst>
              <a:latin typeface="Bookman Old Style" panose="02050604050505020204" pitchFamily="18" charset="0"/>
            </a:endParaRPr>
          </a:p>
        </p:txBody>
      </p:sp>
      <p:pic>
        <p:nvPicPr>
          <p:cNvPr id="3" name="Picture 2" descr="A screenshot of a computer&#10;&#10;AI-generated content may be incorrect.">
            <a:extLst>
              <a:ext uri="{FF2B5EF4-FFF2-40B4-BE49-F238E27FC236}">
                <a16:creationId xmlns:a16="http://schemas.microsoft.com/office/drawing/2014/main" id="{9771FDB9-7E20-DA16-4F48-4A26EA2D866A}"/>
              </a:ext>
            </a:extLst>
          </p:cNvPr>
          <p:cNvPicPr>
            <a:picLocks noChangeAspect="1"/>
          </p:cNvPicPr>
          <p:nvPr/>
        </p:nvPicPr>
        <p:blipFill>
          <a:blip r:embed="rId3"/>
          <a:stretch>
            <a:fillRect/>
          </a:stretch>
        </p:blipFill>
        <p:spPr>
          <a:xfrm>
            <a:off x="883920" y="3579304"/>
            <a:ext cx="7491984" cy="1764939"/>
          </a:xfrm>
          <a:prstGeom prst="rect">
            <a:avLst/>
          </a:prstGeom>
        </p:spPr>
      </p:pic>
    </p:spTree>
    <p:extLst>
      <p:ext uri="{BB962C8B-B14F-4D97-AF65-F5344CB8AC3E}">
        <p14:creationId xmlns:p14="http://schemas.microsoft.com/office/powerpoint/2010/main" val="27805994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4A273-7684-84DF-7255-1CACAB41BC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19257C-2681-B962-56B5-08FFB62A9EC2}"/>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6900492B-9E87-885C-C540-CB43AE5C580F}"/>
              </a:ext>
            </a:extLst>
          </p:cNvPr>
          <p:cNvSpPr txBox="1"/>
          <p:nvPr/>
        </p:nvSpPr>
        <p:spPr>
          <a:xfrm>
            <a:off x="162306" y="244655"/>
            <a:ext cx="8817102"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1956AEDA-C088-0EB4-C088-26EF1EE99568}"/>
              </a:ext>
            </a:extLst>
          </p:cNvPr>
          <p:cNvSpPr/>
          <p:nvPr/>
        </p:nvSpPr>
        <p:spPr>
          <a:xfrm>
            <a:off x="-1" y="1221723"/>
            <a:ext cx="8147305"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7. Configure VS Code for Launching Android Emulator</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4" name="TextBox 3">
            <a:extLst>
              <a:ext uri="{FF2B5EF4-FFF2-40B4-BE49-F238E27FC236}">
                <a16:creationId xmlns:a16="http://schemas.microsoft.com/office/drawing/2014/main" id="{A9FB13BE-B439-3188-7B9E-9E7D64D720DA}"/>
              </a:ext>
            </a:extLst>
          </p:cNvPr>
          <p:cNvSpPr txBox="1"/>
          <p:nvPr/>
        </p:nvSpPr>
        <p:spPr>
          <a:xfrm>
            <a:off x="-2" y="1672744"/>
            <a:ext cx="12070081" cy="4281108"/>
          </a:xfrm>
          <a:prstGeom prst="rect">
            <a:avLst/>
          </a:prstGeom>
          <a:noFill/>
        </p:spPr>
        <p:txBody>
          <a:bodyPr wrap="square">
            <a:spAutoFit/>
          </a:bodyPr>
          <a:lstStyle/>
          <a:p>
            <a:pPr marL="285750" indent="-285750">
              <a:lnSpc>
                <a:spcPct val="115000"/>
              </a:lnSpc>
              <a:buFont typeface="Arial" panose="020B0604020202020204" pitchFamily="34" charset="0"/>
              <a:buChar char="•"/>
            </a:pPr>
            <a:r>
              <a:rPr lang="en-US" kern="100" dirty="0">
                <a:effectLst/>
                <a:latin typeface="Aptos" panose="020B0004020202020204" pitchFamily="34" charset="0"/>
                <a:ea typeface="Aptos" panose="020B0004020202020204" pitchFamily="34" charset="0"/>
                <a:cs typeface="Times New Roman" panose="02020603050405020304" pitchFamily="18" charset="0"/>
              </a:rPr>
              <a:t>We can </a:t>
            </a:r>
            <a:r>
              <a:rPr lang="en-US" b="1" kern="100" dirty="0">
                <a:effectLst/>
                <a:latin typeface="Aptos" panose="020B0004020202020204" pitchFamily="34" charset="0"/>
                <a:ea typeface="Aptos" panose="020B0004020202020204" pitchFamily="34" charset="0"/>
                <a:cs typeface="Times New Roman" panose="02020603050405020304" pitchFamily="18" charset="0"/>
              </a:rPr>
              <a:t>start Android emulators directly from the VS Code toolbar </a:t>
            </a:r>
            <a:r>
              <a:rPr lang="en-US" kern="100" dirty="0">
                <a:effectLst/>
                <a:latin typeface="Aptos" panose="020B0004020202020204" pitchFamily="34" charset="0"/>
                <a:ea typeface="Aptos" panose="020B0004020202020204" pitchFamily="34" charset="0"/>
                <a:cs typeface="Times New Roman" panose="02020603050405020304" pitchFamily="18" charset="0"/>
              </a:rPr>
              <a:t>for quick testing</a:t>
            </a:r>
          </a:p>
          <a:p>
            <a:pPr marL="285750" indent="-285750">
              <a:lnSpc>
                <a:spcPct val="115000"/>
              </a:lnSpc>
              <a:buFont typeface="Arial" panose="020B0604020202020204" pitchFamily="34" charset="0"/>
              <a:buChar char="•"/>
            </a:pPr>
            <a:r>
              <a:rPr lang="en-US" kern="100" dirty="0">
                <a:effectLst/>
                <a:latin typeface="Aptos" panose="020B0004020202020204" pitchFamily="34" charset="0"/>
                <a:ea typeface="Aptos" panose="020B0004020202020204" pitchFamily="34" charset="0"/>
                <a:cs typeface="Times New Roman" panose="02020603050405020304" pitchFamily="18" charset="0"/>
              </a:rPr>
              <a:t>To configure VS Code for launching an Android Emulator:</a:t>
            </a:r>
          </a:p>
          <a:p>
            <a:pPr marL="742950" lvl="1" indent="-285750">
              <a:lnSpc>
                <a:spcPct val="115000"/>
              </a:lnSpc>
              <a:buFont typeface="Wingdings" panose="05000000000000000000" pitchFamily="2" charset="2"/>
              <a:buChar char="Ø"/>
            </a:pPr>
            <a:r>
              <a:rPr lang="en-US" kern="100" dirty="0">
                <a:effectLst/>
                <a:latin typeface="Aptos" panose="020B0004020202020204" pitchFamily="34" charset="0"/>
                <a:ea typeface="Aptos" panose="020B0004020202020204" pitchFamily="34" charset="0"/>
                <a:cs typeface="Times New Roman" panose="02020603050405020304" pitchFamily="18" charset="0"/>
              </a:rPr>
              <a:t> </a:t>
            </a:r>
            <a:r>
              <a:rPr lang="en-US" kern="100" dirty="0">
                <a:latin typeface="Aptos" panose="020B0004020202020204" pitchFamily="34" charset="0"/>
                <a:ea typeface="Aptos" panose="020B0004020202020204" pitchFamily="34" charset="0"/>
                <a:cs typeface="Times New Roman" panose="02020603050405020304" pitchFamily="18" charset="0"/>
              </a:rPr>
              <a:t>I</a:t>
            </a:r>
            <a:r>
              <a:rPr lang="en-US" kern="100" dirty="0">
                <a:effectLst/>
                <a:latin typeface="Aptos" panose="020B0004020202020204" pitchFamily="34" charset="0"/>
                <a:ea typeface="Aptos" panose="020B0004020202020204" pitchFamily="34" charset="0"/>
                <a:cs typeface="Times New Roman" panose="02020603050405020304" pitchFamily="18" charset="0"/>
              </a:rPr>
              <a:t>nstall the "</a:t>
            </a:r>
            <a:r>
              <a:rPr lang="en-US" b="1" kern="100" dirty="0">
                <a:effectLst/>
                <a:latin typeface="Aptos" panose="020B0004020202020204" pitchFamily="34" charset="0"/>
                <a:ea typeface="Aptos" panose="020B0004020202020204" pitchFamily="34" charset="0"/>
                <a:cs typeface="Times New Roman" panose="02020603050405020304" pitchFamily="18" charset="0"/>
              </a:rPr>
              <a:t>Android iOS Emulator</a:t>
            </a:r>
            <a:r>
              <a:rPr lang="en-US" kern="100" dirty="0">
                <a:effectLst/>
                <a:latin typeface="Aptos" panose="020B0004020202020204" pitchFamily="34" charset="0"/>
                <a:ea typeface="Aptos" panose="020B0004020202020204" pitchFamily="34" charset="0"/>
                <a:cs typeface="Times New Roman" panose="02020603050405020304" pitchFamily="18" charset="0"/>
              </a:rPr>
              <a:t>" </a:t>
            </a:r>
            <a:r>
              <a:rPr lang="en-US" b="1" kern="100" dirty="0">
                <a:effectLst/>
                <a:latin typeface="Aptos" panose="020B0004020202020204" pitchFamily="34" charset="0"/>
                <a:ea typeface="Aptos" panose="020B0004020202020204" pitchFamily="34" charset="0"/>
                <a:cs typeface="Times New Roman" panose="02020603050405020304" pitchFamily="18" charset="0"/>
              </a:rPr>
              <a:t>extension</a:t>
            </a:r>
            <a:r>
              <a:rPr lang="en-US" kern="100" dirty="0">
                <a:effectLst/>
                <a:latin typeface="Aptos" panose="020B0004020202020204" pitchFamily="34" charset="0"/>
                <a:ea typeface="Aptos" panose="020B0004020202020204" pitchFamily="34" charset="0"/>
                <a:cs typeface="Times New Roman" panose="02020603050405020304" pitchFamily="18" charset="0"/>
              </a:rPr>
              <a:t> in VS Code</a:t>
            </a:r>
          </a:p>
          <a:p>
            <a:pPr marL="742950" lvl="1" indent="-285750">
              <a:lnSpc>
                <a:spcPct val="115000"/>
              </a:lnSpc>
              <a:buFont typeface="Wingdings" panose="05000000000000000000" pitchFamily="2" charset="2"/>
              <a:buChar char="Ø"/>
            </a:pPr>
            <a:r>
              <a:rPr lang="en-US" kern="100" dirty="0">
                <a:effectLst/>
                <a:latin typeface="Aptos" panose="020B0004020202020204" pitchFamily="34" charset="0"/>
                <a:ea typeface="Aptos" panose="020B0004020202020204" pitchFamily="34" charset="0"/>
                <a:cs typeface="Times New Roman" panose="02020603050405020304" pitchFamily="18" charset="0"/>
              </a:rPr>
              <a:t>Set </a:t>
            </a:r>
            <a:r>
              <a:rPr lang="en-US" b="1" kern="100" dirty="0">
                <a:effectLst/>
                <a:latin typeface="Aptos" panose="020B0004020202020204" pitchFamily="34" charset="0"/>
                <a:ea typeface="Aptos" panose="020B0004020202020204" pitchFamily="34" charset="0"/>
                <a:cs typeface="Times New Roman" panose="02020603050405020304" pitchFamily="18" charset="0"/>
              </a:rPr>
              <a:t>Emulator path inside VS Code settings </a:t>
            </a:r>
            <a:r>
              <a:rPr lang="en-US" kern="100" dirty="0">
                <a:effectLst/>
                <a:latin typeface="Aptos" panose="020B0004020202020204" pitchFamily="34" charset="0"/>
                <a:ea typeface="Aptos" panose="020B0004020202020204" pitchFamily="34" charset="0"/>
                <a:cs typeface="Times New Roman" panose="02020603050405020304" pitchFamily="18" charset="0"/>
              </a:rPr>
              <a:t>manually</a:t>
            </a:r>
          </a:p>
          <a:p>
            <a:pPr lvl="1">
              <a:lnSpc>
                <a:spcPct val="115000"/>
              </a:lnSpc>
            </a:pP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pPr>
            <a:r>
              <a:rPr lang="en-US" b="1" kern="100" dirty="0">
                <a:latin typeface="Aptos" panose="020B0004020202020204" pitchFamily="34" charset="0"/>
                <a:ea typeface="Aptos" panose="020B0004020202020204" pitchFamily="34" charset="0"/>
                <a:cs typeface="Times New Roman" panose="02020603050405020304" pitchFamily="18" charset="0"/>
              </a:rPr>
              <a:t>1. I</a:t>
            </a:r>
            <a:r>
              <a:rPr lang="en-US" b="1" kern="100" dirty="0">
                <a:effectLst/>
                <a:latin typeface="Aptos" panose="020B0004020202020204" pitchFamily="34" charset="0"/>
                <a:ea typeface="Aptos" panose="020B0004020202020204" pitchFamily="34" charset="0"/>
                <a:cs typeface="Times New Roman" panose="02020603050405020304" pitchFamily="18" charset="0"/>
              </a:rPr>
              <a:t>nstall the "Android iOS Emulator" extension in VS Code</a:t>
            </a:r>
          </a:p>
          <a:p>
            <a:pPr marL="742950" lvl="1" indent="-285750">
              <a:lnSpc>
                <a:spcPct val="115000"/>
              </a:lnSpc>
              <a:buFont typeface="Wingdings" panose="05000000000000000000" pitchFamily="2" charset="2"/>
              <a:buChar char="Ø"/>
            </a:pPr>
            <a:r>
              <a:rPr lang="en-US" kern="100" dirty="0">
                <a:effectLst/>
                <a:latin typeface="Aptos" panose="020B0004020202020204" pitchFamily="34" charset="0"/>
                <a:ea typeface="Aptos" panose="020B0004020202020204" pitchFamily="34" charset="0"/>
                <a:cs typeface="Times New Roman" panose="02020603050405020304" pitchFamily="18" charset="0"/>
              </a:rPr>
              <a:t>​The </a:t>
            </a:r>
            <a:r>
              <a:rPr lang="en-US" b="1" kern="100" dirty="0">
                <a:effectLst/>
                <a:latin typeface="Aptos" panose="020B0004020202020204" pitchFamily="34" charset="0"/>
                <a:ea typeface="Aptos" panose="020B0004020202020204" pitchFamily="34" charset="0"/>
                <a:cs typeface="Times New Roman" panose="02020603050405020304" pitchFamily="18" charset="0"/>
              </a:rPr>
              <a:t>Android iOS Emulator</a:t>
            </a:r>
            <a:r>
              <a:rPr lang="en-US" kern="100" dirty="0">
                <a:effectLst/>
                <a:latin typeface="Aptos" panose="020B0004020202020204" pitchFamily="34" charset="0"/>
                <a:ea typeface="Aptos" panose="020B0004020202020204" pitchFamily="34" charset="0"/>
                <a:cs typeface="Times New Roman" panose="02020603050405020304" pitchFamily="18" charset="0"/>
              </a:rPr>
              <a:t> is a Visual Studio Code extension that allows you </a:t>
            </a:r>
            <a:r>
              <a:rPr lang="en-US" b="1" kern="100" dirty="0">
                <a:effectLst/>
                <a:latin typeface="Aptos" panose="020B0004020202020204" pitchFamily="34" charset="0"/>
                <a:ea typeface="Aptos" panose="020B0004020202020204" pitchFamily="34" charset="0"/>
                <a:cs typeface="Times New Roman" panose="02020603050405020304" pitchFamily="18" charset="0"/>
              </a:rPr>
              <a:t>to launch Android and iOS emulators directly from the VS Code interface</a:t>
            </a:r>
          </a:p>
          <a:p>
            <a:pPr marL="742950" lvl="1" indent="-285750">
              <a:lnSpc>
                <a:spcPct val="115000"/>
              </a:lnSpc>
              <a:buFont typeface="Wingdings" panose="05000000000000000000" pitchFamily="2" charset="2"/>
              <a:buChar char="Ø"/>
            </a:pPr>
            <a:r>
              <a:rPr lang="en-US" kern="100" dirty="0">
                <a:effectLst/>
                <a:latin typeface="Aptos" panose="020B0004020202020204" pitchFamily="34" charset="0"/>
                <a:ea typeface="Aptos" panose="020B0004020202020204" pitchFamily="34" charset="0"/>
                <a:cs typeface="Times New Roman" panose="02020603050405020304" pitchFamily="18" charset="0"/>
              </a:rPr>
              <a:t>It simplifies the process of testing and debugging mobile applications by integrating emulator controls within your development environment</a:t>
            </a:r>
          </a:p>
          <a:p>
            <a:pPr marL="285750" indent="-285750">
              <a:lnSpc>
                <a:spcPct val="115000"/>
              </a:lnSpc>
              <a:buFont typeface="Arial" panose="020B0604020202020204" pitchFamily="34" charset="0"/>
              <a:buChar char="•"/>
            </a:pP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lvl="1">
              <a:lnSpc>
                <a:spcPct val="115000"/>
              </a:lnSpc>
            </a:pPr>
            <a:endParaRPr lang="en-CA"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pPr>
            <a:endParaRPr lang="en-CA" b="1" dirty="0">
              <a:effectLst>
                <a:outerShdw blurRad="38100" dist="38100" dir="2700000" algn="tl">
                  <a:srgbClr val="000000">
                    <a:alpha val="43137"/>
                  </a:srgbClr>
                </a:outerShdw>
              </a:effectLst>
              <a:latin typeface="Bookman Old Style" panose="02050604050505020204" pitchFamily="18" charset="0"/>
            </a:endParaRPr>
          </a:p>
        </p:txBody>
      </p:sp>
      <p:pic>
        <p:nvPicPr>
          <p:cNvPr id="8" name="Picture 7">
            <a:extLst>
              <a:ext uri="{FF2B5EF4-FFF2-40B4-BE49-F238E27FC236}">
                <a16:creationId xmlns:a16="http://schemas.microsoft.com/office/drawing/2014/main" id="{DCE00FA6-61B0-3B63-3997-771118131F60}"/>
              </a:ext>
            </a:extLst>
          </p:cNvPr>
          <p:cNvPicPr>
            <a:picLocks noChangeAspect="1"/>
          </p:cNvPicPr>
          <p:nvPr/>
        </p:nvPicPr>
        <p:blipFill>
          <a:blip r:embed="rId3"/>
          <a:stretch>
            <a:fillRect/>
          </a:stretch>
        </p:blipFill>
        <p:spPr>
          <a:xfrm>
            <a:off x="886968" y="4896927"/>
            <a:ext cx="8439912" cy="1778693"/>
          </a:xfrm>
          <a:prstGeom prst="rect">
            <a:avLst/>
          </a:prstGeom>
        </p:spPr>
      </p:pic>
    </p:spTree>
    <p:extLst>
      <p:ext uri="{BB962C8B-B14F-4D97-AF65-F5344CB8AC3E}">
        <p14:creationId xmlns:p14="http://schemas.microsoft.com/office/powerpoint/2010/main" val="2421812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3EEB1-E794-FBC4-0187-FA4A7CDA77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F6F451B-6A4B-9A87-37F4-316F42B3B1BD}"/>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11FF8C08-BCAA-1D9B-5BB2-8198F28E83B2}"/>
              </a:ext>
            </a:extLst>
          </p:cNvPr>
          <p:cNvSpPr txBox="1"/>
          <p:nvPr/>
        </p:nvSpPr>
        <p:spPr>
          <a:xfrm>
            <a:off x="162306" y="244655"/>
            <a:ext cx="8561070"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D5744F02-76DF-29AD-3C08-538B9FD5ACF8}"/>
              </a:ext>
            </a:extLst>
          </p:cNvPr>
          <p:cNvSpPr/>
          <p:nvPr/>
        </p:nvSpPr>
        <p:spPr>
          <a:xfrm>
            <a:off x="-1" y="1221723"/>
            <a:ext cx="8147305"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Configure VS Code for Launching Android Emulator</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4" name="TextBox 3">
            <a:extLst>
              <a:ext uri="{FF2B5EF4-FFF2-40B4-BE49-F238E27FC236}">
                <a16:creationId xmlns:a16="http://schemas.microsoft.com/office/drawing/2014/main" id="{43275891-628E-35F9-8EEE-61165AE6C53B}"/>
              </a:ext>
            </a:extLst>
          </p:cNvPr>
          <p:cNvSpPr txBox="1"/>
          <p:nvPr/>
        </p:nvSpPr>
        <p:spPr>
          <a:xfrm>
            <a:off x="-2" y="1672744"/>
            <a:ext cx="12070081" cy="2794548"/>
          </a:xfrm>
          <a:prstGeom prst="rect">
            <a:avLst/>
          </a:prstGeom>
          <a:noFill/>
        </p:spPr>
        <p:txBody>
          <a:bodyPr wrap="square">
            <a:spAutoFit/>
          </a:bodyPr>
          <a:lstStyle/>
          <a:p>
            <a:pPr>
              <a:lnSpc>
                <a:spcPct val="115000"/>
              </a:lnSpc>
            </a:pPr>
            <a:r>
              <a:rPr lang="en-US" b="1" kern="100" dirty="0">
                <a:latin typeface="Aptos" panose="020B0004020202020204" pitchFamily="34" charset="0"/>
                <a:ea typeface="Aptos" panose="020B0004020202020204" pitchFamily="34" charset="0"/>
                <a:cs typeface="Times New Roman" panose="02020603050405020304" pitchFamily="18" charset="0"/>
              </a:rPr>
              <a:t>2. </a:t>
            </a:r>
            <a:r>
              <a:rPr lang="en-US" b="1" kern="100" dirty="0">
                <a:latin typeface="Aptos" panose="020B0004020202020204" pitchFamily="34" charset="0"/>
                <a:cs typeface="Times New Roman" panose="02020603050405020304" pitchFamily="18" charset="0"/>
              </a:rPr>
              <a:t>Set Emulator path inside VS Code settings manually</a:t>
            </a:r>
          </a:p>
          <a:p>
            <a:pPr marL="742950" lvl="1" indent="-285750">
              <a:lnSpc>
                <a:spcPct val="115000"/>
              </a:lnSpc>
              <a:buFont typeface="Wingdings" panose="05000000000000000000" pitchFamily="2" charset="2"/>
              <a:buChar char="Ø"/>
            </a:pPr>
            <a:r>
              <a:rPr lang="en-US" sz="1600" kern="100" dirty="0">
                <a:latin typeface="Aptos" panose="020B0004020202020204" pitchFamily="34" charset="0"/>
                <a:cs typeface="Times New Roman" panose="02020603050405020304" pitchFamily="18" charset="0"/>
              </a:rPr>
              <a:t>​Open </a:t>
            </a:r>
            <a:r>
              <a:rPr lang="en-US" sz="1600" b="1" kern="100" dirty="0">
                <a:latin typeface="Aptos" panose="020B0004020202020204" pitchFamily="34" charset="0"/>
                <a:cs typeface="Times New Roman" panose="02020603050405020304" pitchFamily="18" charset="0"/>
              </a:rPr>
              <a:t>VS Code</a:t>
            </a:r>
          </a:p>
          <a:p>
            <a:pPr marL="742950" lvl="1" indent="-285750">
              <a:lnSpc>
                <a:spcPct val="115000"/>
              </a:lnSpc>
              <a:buFont typeface="Wingdings" panose="05000000000000000000" pitchFamily="2" charset="2"/>
              <a:buChar char="Ø"/>
            </a:pPr>
            <a:r>
              <a:rPr lang="en-US" sz="1600" kern="100" dirty="0">
                <a:latin typeface="Aptos" panose="020B0004020202020204" pitchFamily="34" charset="0"/>
                <a:cs typeface="Times New Roman" panose="02020603050405020304" pitchFamily="18" charset="0"/>
              </a:rPr>
              <a:t>Go to </a:t>
            </a:r>
            <a:r>
              <a:rPr lang="en-US" sz="1600" b="1" kern="100" dirty="0">
                <a:latin typeface="Aptos" panose="020B0004020202020204" pitchFamily="34" charset="0"/>
                <a:cs typeface="Times New Roman" panose="02020603050405020304" pitchFamily="18" charset="0"/>
              </a:rPr>
              <a:t>Settings (Ctrl + ,) (File -&gt; Preferences -&gt; Settings)</a:t>
            </a:r>
          </a:p>
          <a:p>
            <a:pPr marL="742950" lvl="1" indent="-285750">
              <a:lnSpc>
                <a:spcPct val="115000"/>
              </a:lnSpc>
              <a:buFont typeface="Wingdings" panose="05000000000000000000" pitchFamily="2" charset="2"/>
              <a:buChar char="Ø"/>
            </a:pPr>
            <a:r>
              <a:rPr lang="en-US" sz="1600" kern="100" dirty="0">
                <a:latin typeface="Aptos" panose="020B0004020202020204" pitchFamily="34" charset="0"/>
                <a:cs typeface="Times New Roman" panose="02020603050405020304" pitchFamily="18" charset="0"/>
              </a:rPr>
              <a:t>Search for "</a:t>
            </a:r>
            <a:r>
              <a:rPr lang="en-US" sz="1600" b="1" kern="100" dirty="0">
                <a:latin typeface="Aptos" panose="020B0004020202020204" pitchFamily="34" charset="0"/>
                <a:cs typeface="Times New Roman" panose="02020603050405020304" pitchFamily="18" charset="0"/>
              </a:rPr>
              <a:t>Android Emulator</a:t>
            </a:r>
            <a:r>
              <a:rPr lang="en-US" sz="1600" kern="100" dirty="0">
                <a:latin typeface="Aptos" panose="020B0004020202020204" pitchFamily="34" charset="0"/>
                <a:cs typeface="Times New Roman" panose="02020603050405020304" pitchFamily="18" charset="0"/>
              </a:rPr>
              <a:t>"</a:t>
            </a:r>
          </a:p>
          <a:p>
            <a:pPr marL="742950" lvl="1" indent="-285750">
              <a:lnSpc>
                <a:spcPct val="115000"/>
              </a:lnSpc>
              <a:buFont typeface="Wingdings" panose="05000000000000000000" pitchFamily="2" charset="2"/>
              <a:buChar char="Ø"/>
            </a:pPr>
            <a:r>
              <a:rPr lang="en-US" sz="1600" kern="100" dirty="0">
                <a:latin typeface="Aptos" panose="020B0004020202020204" pitchFamily="34" charset="0"/>
                <a:cs typeface="Times New Roman" panose="02020603050405020304" pitchFamily="18" charset="0"/>
              </a:rPr>
              <a:t>Find setting called:</a:t>
            </a:r>
          </a:p>
          <a:p>
            <a:pPr marL="1200150" lvl="2" indent="-285750">
              <a:lnSpc>
                <a:spcPct val="115000"/>
              </a:lnSpc>
              <a:buFont typeface="Wingdings" panose="05000000000000000000" pitchFamily="2" charset="2"/>
              <a:buChar char="§"/>
            </a:pPr>
            <a:r>
              <a:rPr lang="en-US" sz="1600" b="1" kern="100" dirty="0">
                <a:latin typeface="Aptos" panose="020B0004020202020204" pitchFamily="34" charset="0"/>
                <a:cs typeface="Times New Roman" panose="02020603050405020304" pitchFamily="18" charset="0"/>
              </a:rPr>
              <a:t>Emulator Path to Windows</a:t>
            </a:r>
          </a:p>
          <a:p>
            <a:pPr marL="1200150" lvl="2" indent="-285750">
              <a:lnSpc>
                <a:spcPct val="115000"/>
              </a:lnSpc>
              <a:buFont typeface="Wingdings" panose="05000000000000000000" pitchFamily="2" charset="2"/>
              <a:buChar char="§"/>
            </a:pPr>
            <a:r>
              <a:rPr lang="en-US" sz="1600" kern="100" dirty="0">
                <a:latin typeface="Aptos" panose="020B0004020202020204" pitchFamily="34" charset="0"/>
                <a:cs typeface="Times New Roman" panose="02020603050405020304" pitchFamily="18" charset="0"/>
              </a:rPr>
              <a:t>Enter the </a:t>
            </a:r>
            <a:r>
              <a:rPr lang="en-US" sz="1600" b="1" kern="100" dirty="0">
                <a:latin typeface="Aptos" panose="020B0004020202020204" pitchFamily="34" charset="0"/>
                <a:cs typeface="Times New Roman" panose="02020603050405020304" pitchFamily="18" charset="0"/>
              </a:rPr>
              <a:t>full path to your emulator.exe</a:t>
            </a:r>
          </a:p>
          <a:p>
            <a:pPr lvl="1">
              <a:lnSpc>
                <a:spcPct val="115000"/>
              </a:lnSpc>
            </a:pPr>
            <a:endParaRPr lang="en-CA"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pPr>
            <a:endParaRPr lang="en-CA" b="1" dirty="0">
              <a:effectLst>
                <a:outerShdw blurRad="38100" dist="38100" dir="2700000" algn="tl">
                  <a:srgbClr val="000000">
                    <a:alpha val="43137"/>
                  </a:srgbClr>
                </a:outerShdw>
              </a:effectLst>
              <a:latin typeface="Bookman Old Style" panose="02050604050505020204" pitchFamily="18" charset="0"/>
            </a:endParaRPr>
          </a:p>
        </p:txBody>
      </p:sp>
      <p:pic>
        <p:nvPicPr>
          <p:cNvPr id="7" name="Picture 6">
            <a:extLst>
              <a:ext uri="{FF2B5EF4-FFF2-40B4-BE49-F238E27FC236}">
                <a16:creationId xmlns:a16="http://schemas.microsoft.com/office/drawing/2014/main" id="{A1870223-AB0A-2933-513E-B387DC53DFA8}"/>
              </a:ext>
            </a:extLst>
          </p:cNvPr>
          <p:cNvPicPr>
            <a:picLocks noChangeAspect="1"/>
          </p:cNvPicPr>
          <p:nvPr/>
        </p:nvPicPr>
        <p:blipFill>
          <a:blip r:embed="rId3"/>
          <a:stretch>
            <a:fillRect/>
          </a:stretch>
        </p:blipFill>
        <p:spPr>
          <a:xfrm>
            <a:off x="5465064" y="3074894"/>
            <a:ext cx="6431280" cy="3574943"/>
          </a:xfrm>
          <a:prstGeom prst="rect">
            <a:avLst/>
          </a:prstGeom>
        </p:spPr>
      </p:pic>
    </p:spTree>
    <p:extLst>
      <p:ext uri="{BB962C8B-B14F-4D97-AF65-F5344CB8AC3E}">
        <p14:creationId xmlns:p14="http://schemas.microsoft.com/office/powerpoint/2010/main" val="20745299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E6551-49C7-75B9-50C8-1C4A12CD7B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9C0DCF-96DD-A682-99C6-38787CE51D5D}"/>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A974F10F-E2F1-69E5-6E65-2B1732DB7054}"/>
              </a:ext>
            </a:extLst>
          </p:cNvPr>
          <p:cNvSpPr txBox="1"/>
          <p:nvPr/>
        </p:nvSpPr>
        <p:spPr>
          <a:xfrm>
            <a:off x="162306" y="244655"/>
            <a:ext cx="8835390"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7740D0D4-964A-6265-62BA-FF78C966B3FB}"/>
              </a:ext>
            </a:extLst>
          </p:cNvPr>
          <p:cNvSpPr/>
          <p:nvPr/>
        </p:nvSpPr>
        <p:spPr>
          <a:xfrm>
            <a:off x="-1" y="1221723"/>
            <a:ext cx="5861305"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8. Verify Emulator Setup with VS Code</a:t>
            </a:r>
            <a:endParaRPr lang="en-CA" sz="2200" b="1" dirty="0">
              <a:solidFill>
                <a:srgbClr val="FFFF00"/>
              </a:solidFill>
              <a:effectLst>
                <a:outerShdw blurRad="38100" dist="38100" dir="2700000" algn="tl">
                  <a:srgbClr val="000000">
                    <a:alpha val="43137"/>
                  </a:srgbClr>
                </a:outerShdw>
              </a:effectLst>
              <a:latin typeface="Bookman Old Style" panose="02050604050505020204" pitchFamily="18" charset="0"/>
            </a:endParaRPr>
          </a:p>
        </p:txBody>
      </p:sp>
      <p:sp>
        <p:nvSpPr>
          <p:cNvPr id="4" name="TextBox 3">
            <a:extLst>
              <a:ext uri="{FF2B5EF4-FFF2-40B4-BE49-F238E27FC236}">
                <a16:creationId xmlns:a16="http://schemas.microsoft.com/office/drawing/2014/main" id="{A580CA81-4A62-7B05-2F64-246D1155FEE2}"/>
              </a:ext>
            </a:extLst>
          </p:cNvPr>
          <p:cNvSpPr txBox="1"/>
          <p:nvPr/>
        </p:nvSpPr>
        <p:spPr>
          <a:xfrm>
            <a:off x="-2" y="1672744"/>
            <a:ext cx="12070081" cy="3899209"/>
          </a:xfrm>
          <a:prstGeom prst="rect">
            <a:avLst/>
          </a:prstGeom>
          <a:noFill/>
        </p:spPr>
        <p:txBody>
          <a:bodyPr wrap="square">
            <a:spAutoFit/>
          </a:bodyPr>
          <a:lstStyle/>
          <a:p>
            <a:pPr>
              <a:lnSpc>
                <a:spcPct val="115000"/>
              </a:lnSpc>
            </a:pPr>
            <a:r>
              <a:rPr lang="en-US" b="1" kern="100" dirty="0">
                <a:latin typeface="Aptos" panose="020B0004020202020204" pitchFamily="34" charset="0"/>
                <a:ea typeface="Aptos" panose="020B0004020202020204" pitchFamily="34" charset="0"/>
                <a:cs typeface="Times New Roman" panose="02020603050405020304" pitchFamily="18" charset="0"/>
              </a:rPr>
              <a:t>L</a:t>
            </a:r>
            <a:r>
              <a:rPr lang="en-US" b="1" kern="100" dirty="0">
                <a:effectLst/>
                <a:latin typeface="Aptos" panose="020B0004020202020204" pitchFamily="34" charset="0"/>
                <a:ea typeface="Aptos" panose="020B0004020202020204" pitchFamily="34" charset="0"/>
                <a:cs typeface="Times New Roman" panose="02020603050405020304" pitchFamily="18" charset="0"/>
              </a:rPr>
              <a:t>ist all connected Android devices</a:t>
            </a:r>
          </a:p>
          <a:p>
            <a:pPr marL="285750" indent="-285750">
              <a:lnSpc>
                <a:spcPct val="115000"/>
              </a:lnSpc>
              <a:buFont typeface="Arial" panose="020B0604020202020204" pitchFamily="34" charset="0"/>
              <a:buChar char="•"/>
            </a:pPr>
            <a:r>
              <a:rPr lang="en-US" b="1" kern="100" dirty="0" err="1">
                <a:effectLst/>
                <a:latin typeface="Aptos" panose="020B0004020202020204" pitchFamily="34" charset="0"/>
                <a:ea typeface="Aptos" panose="020B0004020202020204" pitchFamily="34" charset="0"/>
                <a:cs typeface="Times New Roman" panose="02020603050405020304" pitchFamily="18" charset="0"/>
              </a:rPr>
              <a:t>adb</a:t>
            </a:r>
            <a:r>
              <a:rPr lang="en-US" b="1" kern="100" dirty="0">
                <a:effectLst/>
                <a:latin typeface="Aptos" panose="020B0004020202020204" pitchFamily="34" charset="0"/>
                <a:ea typeface="Aptos" panose="020B0004020202020204" pitchFamily="34" charset="0"/>
                <a:cs typeface="Times New Roman" panose="02020603050405020304" pitchFamily="18" charset="0"/>
              </a:rPr>
              <a:t> devices </a:t>
            </a:r>
            <a:r>
              <a:rPr lang="en-US" kern="100" dirty="0">
                <a:effectLst/>
                <a:latin typeface="Aptos" panose="020B0004020202020204" pitchFamily="34" charset="0"/>
                <a:ea typeface="Aptos" panose="020B0004020202020204" pitchFamily="34" charset="0"/>
                <a:cs typeface="Times New Roman" panose="02020603050405020304" pitchFamily="18" charset="0"/>
              </a:rPr>
              <a:t>is a command used with Android Debug Bridge (ADB) </a:t>
            </a:r>
            <a:r>
              <a:rPr lang="en-US" b="1" kern="100" dirty="0">
                <a:effectLst/>
                <a:latin typeface="Aptos" panose="020B0004020202020204" pitchFamily="34" charset="0"/>
                <a:ea typeface="Aptos" panose="020B0004020202020204" pitchFamily="34" charset="0"/>
                <a:cs typeface="Times New Roman" panose="02020603050405020304" pitchFamily="18" charset="0"/>
              </a:rPr>
              <a:t>to list all connected Android devices and emulators</a:t>
            </a:r>
          </a:p>
          <a:p>
            <a:pPr marL="342900" lvl="0" indent="-342900">
              <a:lnSpc>
                <a:spcPct val="115000"/>
              </a:lnSpc>
              <a:buFont typeface="Symbol" panose="05050102010706020507" pitchFamily="18" charset="2"/>
              <a:buChar char=""/>
            </a:pPr>
            <a:r>
              <a:rPr lang="en-CA" kern="100" dirty="0">
                <a:latin typeface="Aptos" panose="020B0004020202020204" pitchFamily="34" charset="0"/>
                <a:cs typeface="Times New Roman" panose="02020603050405020304" pitchFamily="18" charset="0"/>
              </a:rPr>
              <a:t>Open a </a:t>
            </a:r>
            <a:r>
              <a:rPr lang="en-CA" b="1" kern="100" dirty="0">
                <a:latin typeface="Aptos" panose="020B0004020202020204" pitchFamily="34" charset="0"/>
                <a:cs typeface="Times New Roman" panose="02020603050405020304" pitchFamily="18" charset="0"/>
              </a:rPr>
              <a:t>new terminal in VS code </a:t>
            </a:r>
            <a:r>
              <a:rPr lang="en-CA" kern="100" dirty="0">
                <a:latin typeface="Aptos" panose="020B0004020202020204" pitchFamily="34" charset="0"/>
                <a:cs typeface="Times New Roman" panose="02020603050405020304" pitchFamily="18" charset="0"/>
              </a:rPr>
              <a:t>and run the following command (</a:t>
            </a:r>
            <a:r>
              <a:rPr lang="en-CA" b="1" kern="100" dirty="0">
                <a:latin typeface="Aptos" panose="020B0004020202020204" pitchFamily="34" charset="0"/>
                <a:cs typeface="Times New Roman" panose="02020603050405020304" pitchFamily="18" charset="0"/>
              </a:rPr>
              <a:t>Terminal -&gt; New Terminal</a:t>
            </a:r>
            <a:r>
              <a:rPr lang="en-CA" kern="100" dirty="0">
                <a:latin typeface="Aptos" panose="020B0004020202020204" pitchFamily="34" charset="0"/>
                <a:cs typeface="Times New Roman" panose="02020603050405020304" pitchFamily="18" charset="0"/>
              </a:rPr>
              <a:t>)</a:t>
            </a:r>
          </a:p>
          <a:p>
            <a:pPr marL="800100" lvl="1" indent="-342900">
              <a:lnSpc>
                <a:spcPct val="115000"/>
              </a:lnSpc>
              <a:buFont typeface="Wingdings" panose="05000000000000000000" pitchFamily="2" charset="2"/>
              <a:buChar char="§"/>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If it shows a list of emulators (even empty), your </a:t>
            </a:r>
            <a:r>
              <a:rPr lang="en-CA" sz="1800" kern="100" dirty="0" err="1">
                <a:effectLst/>
                <a:latin typeface="Aptos" panose="020B0004020202020204" pitchFamily="34" charset="0"/>
                <a:ea typeface="Aptos" panose="020B0004020202020204" pitchFamily="34" charset="0"/>
                <a:cs typeface="Times New Roman" panose="02020603050405020304" pitchFamily="18" charset="0"/>
              </a:rPr>
              <a:t>adb</a:t>
            </a:r>
            <a:r>
              <a:rPr lang="en-CA" sz="1800" kern="100" dirty="0">
                <a:effectLst/>
                <a:latin typeface="Aptos" panose="020B0004020202020204" pitchFamily="34" charset="0"/>
                <a:ea typeface="Aptos" panose="020B0004020202020204" pitchFamily="34" charset="0"/>
                <a:cs typeface="Times New Roman" panose="02020603050405020304" pitchFamily="18" charset="0"/>
              </a:rPr>
              <a:t> is properly set up.</a:t>
            </a:r>
          </a:p>
          <a:p>
            <a:pPr lvl="1">
              <a:lnSpc>
                <a:spcPct val="115000"/>
              </a:lnSpc>
            </a:pPr>
            <a:endParaRPr lang="en-CA" kern="100" dirty="0">
              <a:latin typeface="Aptos" panose="020B0004020202020204" pitchFamily="34" charset="0"/>
              <a:cs typeface="Times New Roman" panose="02020603050405020304" pitchFamily="18" charset="0"/>
            </a:endParaRPr>
          </a:p>
          <a:p>
            <a:pPr>
              <a:lnSpc>
                <a:spcPct val="115000"/>
              </a:lnSpc>
            </a:pPr>
            <a:r>
              <a:rPr lang="en-CA"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n-CA" sz="1800" b="1" kern="100" dirty="0" err="1">
                <a:effectLst/>
                <a:latin typeface="Aptos" panose="020B0004020202020204" pitchFamily="34" charset="0"/>
                <a:ea typeface="Aptos" panose="020B0004020202020204" pitchFamily="34" charset="0"/>
                <a:cs typeface="Times New Roman" panose="02020603050405020304" pitchFamily="18" charset="0"/>
              </a:rPr>
              <a:t>adb</a:t>
            </a:r>
            <a:r>
              <a:rPr lang="en-CA"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n-CA" sz="1800" b="1" kern="100" dirty="0" err="1">
                <a:effectLst/>
                <a:latin typeface="Aptos" panose="020B0004020202020204" pitchFamily="34" charset="0"/>
                <a:ea typeface="Aptos" panose="020B0004020202020204" pitchFamily="34" charset="0"/>
                <a:cs typeface="Times New Roman" panose="02020603050405020304" pitchFamily="18" charset="0"/>
              </a:rPr>
              <a:t>devcies</a:t>
            </a:r>
            <a:endParaRPr lang="en-CA"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endParaRPr lang="en-CA" kern="100" dirty="0">
              <a:latin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endParaRPr lang="en-CA" kern="100" dirty="0">
              <a:latin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CA" kern="100" dirty="0">
                <a:latin typeface="Aptos" panose="020B0004020202020204" pitchFamily="34" charset="0"/>
                <a:cs typeface="Times New Roman" panose="02020603050405020304" pitchFamily="18" charset="0"/>
              </a:rPr>
              <a:t>If an emulator is already launched from Android Studio, this command will list that</a:t>
            </a:r>
          </a:p>
          <a:p>
            <a:pPr marL="342900" lvl="0" indent="-342900">
              <a:lnSpc>
                <a:spcPct val="115000"/>
              </a:lnSpc>
              <a:buFont typeface="Symbol" panose="05050102010706020507" pitchFamily="18" charset="2"/>
              <a:buChar char=""/>
            </a:pPr>
            <a:endParaRPr lang="en-CA" kern="100" dirty="0">
              <a:latin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endParaRPr lang="en-CA" kern="100" dirty="0">
              <a:latin typeface="Aptos" panose="020B0004020202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91B858F1-D5D8-8421-A690-3E1A232F3604}"/>
              </a:ext>
            </a:extLst>
          </p:cNvPr>
          <p:cNvPicPr>
            <a:picLocks noChangeAspect="1"/>
          </p:cNvPicPr>
          <p:nvPr/>
        </p:nvPicPr>
        <p:blipFill>
          <a:blip r:embed="rId3"/>
          <a:stretch>
            <a:fillRect/>
          </a:stretch>
        </p:blipFill>
        <p:spPr>
          <a:xfrm>
            <a:off x="825198" y="3457756"/>
            <a:ext cx="4006891" cy="759671"/>
          </a:xfrm>
          <a:prstGeom prst="rect">
            <a:avLst/>
          </a:prstGeom>
        </p:spPr>
      </p:pic>
      <p:pic>
        <p:nvPicPr>
          <p:cNvPr id="10" name="Picture 9">
            <a:extLst>
              <a:ext uri="{FF2B5EF4-FFF2-40B4-BE49-F238E27FC236}">
                <a16:creationId xmlns:a16="http://schemas.microsoft.com/office/drawing/2014/main" id="{54667676-8D27-029B-CE5D-2DF5926FBDDA}"/>
              </a:ext>
            </a:extLst>
          </p:cNvPr>
          <p:cNvPicPr>
            <a:picLocks noChangeAspect="1"/>
          </p:cNvPicPr>
          <p:nvPr/>
        </p:nvPicPr>
        <p:blipFill>
          <a:blip r:embed="rId4"/>
          <a:stretch>
            <a:fillRect/>
          </a:stretch>
        </p:blipFill>
        <p:spPr>
          <a:xfrm>
            <a:off x="825198" y="5236733"/>
            <a:ext cx="4210906" cy="1056988"/>
          </a:xfrm>
          <a:prstGeom prst="rect">
            <a:avLst/>
          </a:prstGeom>
        </p:spPr>
      </p:pic>
    </p:spTree>
    <p:extLst>
      <p:ext uri="{BB962C8B-B14F-4D97-AF65-F5344CB8AC3E}">
        <p14:creationId xmlns:p14="http://schemas.microsoft.com/office/powerpoint/2010/main" val="2017865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6D6D-D9A4-45B0-7B03-69298159C5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64795E1-D70B-262C-EB6E-9A4D264F8BBA}"/>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598C29C0-E115-C9A7-9030-D29A49DAB86C}"/>
              </a:ext>
            </a:extLst>
          </p:cNvPr>
          <p:cNvSpPr txBox="1"/>
          <p:nvPr/>
        </p:nvSpPr>
        <p:spPr>
          <a:xfrm>
            <a:off x="162306" y="244655"/>
            <a:ext cx="8853678"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900F1B6B-ED1D-BDE9-ED1D-435390356743}"/>
              </a:ext>
            </a:extLst>
          </p:cNvPr>
          <p:cNvSpPr/>
          <p:nvPr/>
        </p:nvSpPr>
        <p:spPr>
          <a:xfrm>
            <a:off x="-1" y="1221723"/>
            <a:ext cx="2715769"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9. Install Node.js</a:t>
            </a:r>
            <a:endParaRPr lang="en-CA" sz="2200" dirty="0">
              <a:solidFill>
                <a:srgbClr val="FFFF00"/>
              </a:solidFill>
            </a:endParaRPr>
          </a:p>
        </p:txBody>
      </p:sp>
      <p:sp>
        <p:nvSpPr>
          <p:cNvPr id="27" name="TextBox 26">
            <a:extLst>
              <a:ext uri="{FF2B5EF4-FFF2-40B4-BE49-F238E27FC236}">
                <a16:creationId xmlns:a16="http://schemas.microsoft.com/office/drawing/2014/main" id="{69583A70-21DC-5FE3-D8AB-8F927CE80861}"/>
              </a:ext>
            </a:extLst>
          </p:cNvPr>
          <p:cNvSpPr txBox="1"/>
          <p:nvPr/>
        </p:nvSpPr>
        <p:spPr>
          <a:xfrm>
            <a:off x="162306" y="1672744"/>
            <a:ext cx="11852910" cy="3830921"/>
          </a:xfrm>
          <a:prstGeom prst="rect">
            <a:avLst/>
          </a:prstGeom>
          <a:noFill/>
        </p:spPr>
        <p:txBody>
          <a:bodyPr wrap="square">
            <a:spAutoFit/>
          </a:bodyPr>
          <a:lstStyle/>
          <a:p>
            <a:pPr>
              <a:lnSpc>
                <a:spcPct val="150000"/>
              </a:lnSpc>
            </a:pPr>
            <a:r>
              <a:rPr lang="en-US" sz="2000" b="1" dirty="0">
                <a:effectLst>
                  <a:outerShdw blurRad="38100" dist="38100" dir="2700000" algn="tl">
                    <a:srgbClr val="000000">
                      <a:alpha val="43137"/>
                    </a:srgbClr>
                  </a:outerShdw>
                </a:effectLst>
                <a:latin typeface="Bookman Old Style" panose="02050604050505020204" pitchFamily="18" charset="0"/>
              </a:rPr>
              <a:t>Download and install Node JS at the link </a:t>
            </a:r>
            <a:r>
              <a:rPr lang="en-US" sz="2000" b="1" dirty="0">
                <a:effectLst>
                  <a:outerShdw blurRad="38100" dist="38100" dir="2700000" algn="tl">
                    <a:srgbClr val="000000">
                      <a:alpha val="43137"/>
                    </a:srgbClr>
                  </a:outerShdw>
                </a:effectLst>
                <a:latin typeface="Bookman Old Style" panose="02050604050505020204" pitchFamily="18" charset="0"/>
                <a:hlinkClick r:id="rId3"/>
              </a:rPr>
              <a:t>https://nodejs.org/en</a:t>
            </a:r>
            <a:endParaRPr lang="en-US" sz="2000" b="1" dirty="0">
              <a:effectLst>
                <a:outerShdw blurRad="38100" dist="38100" dir="2700000" algn="tl">
                  <a:srgbClr val="000000">
                    <a:alpha val="43137"/>
                  </a:srgbClr>
                </a:outerShdw>
              </a:effectLst>
              <a:latin typeface="Bookman Old Style" panose="02050604050505020204" pitchFamily="18" charset="0"/>
            </a:endParaRP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Download the LTS version</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 If you already have it, no need to replace</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Check it’s version  by running the command </a:t>
            </a:r>
            <a:r>
              <a:rPr lang="en-US" b="1" dirty="0">
                <a:effectLst>
                  <a:outerShdw blurRad="38100" dist="38100" dir="2700000" algn="tl">
                    <a:srgbClr val="000000">
                      <a:alpha val="43137"/>
                    </a:srgbClr>
                  </a:outerShdw>
                </a:effectLst>
                <a:latin typeface="Bookman Old Style" panose="02050604050505020204" pitchFamily="18" charset="0"/>
              </a:rPr>
              <a:t>node –v</a:t>
            </a:r>
            <a:r>
              <a:rPr lang="en-US" dirty="0">
                <a:effectLst>
                  <a:outerShdw blurRad="38100" dist="38100" dir="2700000" algn="tl">
                    <a:srgbClr val="000000">
                      <a:alpha val="43137"/>
                    </a:srgbClr>
                  </a:outerShdw>
                </a:effectLst>
                <a:latin typeface="Bookman Old Style" panose="02050604050505020204" pitchFamily="18" charset="0"/>
              </a:rPr>
              <a:t> at the command prompt</a:t>
            </a:r>
          </a:p>
          <a:p>
            <a:pPr lvl="1">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marL="742950" lvl="1" indent="-28575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742950" lvl="1" indent="-28575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r>
              <a:rPr lang="en-US" dirty="0">
                <a:effectLst>
                  <a:outerShdw blurRad="38100" dist="38100" dir="2700000" algn="tl">
                    <a:srgbClr val="000000">
                      <a:alpha val="43137"/>
                    </a:srgbClr>
                  </a:outerShdw>
                </a:effectLst>
                <a:latin typeface="Bookman Old Style" panose="02050604050505020204" pitchFamily="18" charset="0"/>
              </a:rPr>
              <a:t>    </a:t>
            </a:r>
          </a:p>
        </p:txBody>
      </p:sp>
      <p:pic>
        <p:nvPicPr>
          <p:cNvPr id="4" name="Picture 3">
            <a:extLst>
              <a:ext uri="{FF2B5EF4-FFF2-40B4-BE49-F238E27FC236}">
                <a16:creationId xmlns:a16="http://schemas.microsoft.com/office/drawing/2014/main" id="{F057B194-553C-B60D-B8F1-3389B9B304EB}"/>
              </a:ext>
            </a:extLst>
          </p:cNvPr>
          <p:cNvPicPr>
            <a:picLocks noChangeAspect="1"/>
          </p:cNvPicPr>
          <p:nvPr/>
        </p:nvPicPr>
        <p:blipFill>
          <a:blip r:embed="rId4"/>
          <a:stretch>
            <a:fillRect/>
          </a:stretch>
        </p:blipFill>
        <p:spPr>
          <a:xfrm>
            <a:off x="1303343" y="3526896"/>
            <a:ext cx="5859706" cy="1976769"/>
          </a:xfrm>
          <a:prstGeom prst="rect">
            <a:avLst/>
          </a:prstGeom>
        </p:spPr>
      </p:pic>
    </p:spTree>
    <p:extLst>
      <p:ext uri="{BB962C8B-B14F-4D97-AF65-F5344CB8AC3E}">
        <p14:creationId xmlns:p14="http://schemas.microsoft.com/office/powerpoint/2010/main" val="18706667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BA46-5B1D-79D9-7F36-299D510E66F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8CCD65-7383-BF77-BCA3-7E90648DE523}"/>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75DB8453-CAEF-3C5F-A94E-BD75DBDC42A8}"/>
              </a:ext>
            </a:extLst>
          </p:cNvPr>
          <p:cNvSpPr txBox="1"/>
          <p:nvPr/>
        </p:nvSpPr>
        <p:spPr>
          <a:xfrm>
            <a:off x="162306" y="244655"/>
            <a:ext cx="8990838"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7B56C905-0190-BCE7-2F3A-AEE5972BC71B}"/>
              </a:ext>
            </a:extLst>
          </p:cNvPr>
          <p:cNvSpPr/>
          <p:nvPr/>
        </p:nvSpPr>
        <p:spPr>
          <a:xfrm>
            <a:off x="-1" y="1221723"/>
            <a:ext cx="301752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10. Install yarn</a:t>
            </a:r>
            <a:endParaRPr lang="en-CA" sz="2200" dirty="0">
              <a:solidFill>
                <a:srgbClr val="FFFF00"/>
              </a:solidFill>
            </a:endParaRPr>
          </a:p>
        </p:txBody>
      </p:sp>
      <p:sp>
        <p:nvSpPr>
          <p:cNvPr id="3" name="TextBox 2">
            <a:extLst>
              <a:ext uri="{FF2B5EF4-FFF2-40B4-BE49-F238E27FC236}">
                <a16:creationId xmlns:a16="http://schemas.microsoft.com/office/drawing/2014/main" id="{F3BED7E1-06B1-9EAA-D234-62AAFEF6AF37}"/>
              </a:ext>
            </a:extLst>
          </p:cNvPr>
          <p:cNvSpPr txBox="1"/>
          <p:nvPr/>
        </p:nvSpPr>
        <p:spPr>
          <a:xfrm>
            <a:off x="162306" y="1672744"/>
            <a:ext cx="11852910" cy="33692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Yarn </a:t>
            </a:r>
            <a:r>
              <a:rPr lang="en-US" dirty="0">
                <a:effectLst>
                  <a:outerShdw blurRad="38100" dist="38100" dir="2700000" algn="tl">
                    <a:srgbClr val="000000">
                      <a:alpha val="43137"/>
                    </a:srgbClr>
                  </a:outerShdw>
                </a:effectLst>
                <a:latin typeface="Bookman Old Style" panose="02050604050505020204" pitchFamily="18" charset="0"/>
              </a:rPr>
              <a:t>is a </a:t>
            </a:r>
            <a:r>
              <a:rPr lang="en-US" b="1" dirty="0">
                <a:effectLst>
                  <a:outerShdw blurRad="38100" dist="38100" dir="2700000" algn="tl">
                    <a:srgbClr val="000000">
                      <a:alpha val="43137"/>
                    </a:srgbClr>
                  </a:outerShdw>
                </a:effectLst>
                <a:latin typeface="Bookman Old Style" panose="02050604050505020204" pitchFamily="18" charset="0"/>
              </a:rPr>
              <a:t>package manager </a:t>
            </a:r>
            <a:r>
              <a:rPr lang="en-US" dirty="0">
                <a:effectLst>
                  <a:outerShdw blurRad="38100" dist="38100" dir="2700000" algn="tl">
                    <a:srgbClr val="000000">
                      <a:alpha val="43137"/>
                    </a:srgbClr>
                  </a:outerShdw>
                </a:effectLst>
                <a:latin typeface="Bookman Old Style" panose="02050604050505020204" pitchFamily="18" charset="0"/>
              </a:rPr>
              <a:t>— just like </a:t>
            </a:r>
            <a:r>
              <a:rPr lang="en-US" dirty="0" err="1">
                <a:effectLst>
                  <a:outerShdw blurRad="38100" dist="38100" dir="2700000" algn="tl">
                    <a:srgbClr val="000000">
                      <a:alpha val="43137"/>
                    </a:srgbClr>
                  </a:outerShdw>
                </a:effectLst>
                <a:latin typeface="Bookman Old Style" panose="02050604050505020204" pitchFamily="18" charset="0"/>
              </a:rPr>
              <a:t>npm</a:t>
            </a:r>
            <a:r>
              <a:rPr lang="en-US" dirty="0">
                <a:effectLst>
                  <a:outerShdw blurRad="38100" dist="38100" dir="2700000" algn="tl">
                    <a:srgbClr val="000000">
                      <a:alpha val="43137"/>
                    </a:srgbClr>
                  </a:outerShdw>
                </a:effectLst>
                <a:latin typeface="Bookman Old Style" panose="02050604050505020204" pitchFamily="18" charset="0"/>
              </a:rPr>
              <a:t> (Node Package Manager)</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Yarn plays an important role in React Native development as a package manager </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It </a:t>
            </a:r>
            <a:r>
              <a:rPr lang="en-US" b="1" dirty="0">
                <a:effectLst>
                  <a:outerShdw blurRad="38100" dist="38100" dir="2700000" algn="tl">
                    <a:srgbClr val="000000">
                      <a:alpha val="43137"/>
                    </a:srgbClr>
                  </a:outerShdw>
                </a:effectLst>
                <a:latin typeface="Bookman Old Style" panose="02050604050505020204" pitchFamily="18" charset="0"/>
              </a:rPr>
              <a:t>helps manage dependencies (libraries, tools, etc.) for your project efficiently</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Installs, updates, and removes project dependencies (e.g., react-navigation, </a:t>
            </a:r>
            <a:r>
              <a:rPr lang="en-US" dirty="0" err="1">
                <a:effectLst>
                  <a:outerShdw blurRad="38100" dist="38100" dir="2700000" algn="tl">
                    <a:srgbClr val="000000">
                      <a:alpha val="43137"/>
                    </a:srgbClr>
                  </a:outerShdw>
                </a:effectLst>
                <a:latin typeface="Bookman Old Style" panose="02050604050505020204" pitchFamily="18" charset="0"/>
              </a:rPr>
              <a:t>axios</a:t>
            </a:r>
            <a:r>
              <a:rPr lang="en-US" dirty="0">
                <a:effectLst>
                  <a:outerShdw blurRad="38100" dist="38100" dir="2700000" algn="tl">
                    <a:srgbClr val="000000">
                      <a:alpha val="43137"/>
                    </a:srgbClr>
                  </a:outerShdw>
                </a:effectLst>
                <a:latin typeface="Bookman Old Style" panose="02050604050505020204" pitchFamily="18" charset="0"/>
              </a:rPr>
              <a:t>, etc.)</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Uses the </a:t>
            </a:r>
            <a:r>
              <a:rPr lang="en-US" b="1" dirty="0" err="1">
                <a:effectLst>
                  <a:outerShdw blurRad="38100" dist="38100" dir="2700000" algn="tl">
                    <a:srgbClr val="000000">
                      <a:alpha val="43137"/>
                    </a:srgbClr>
                  </a:outerShdw>
                </a:effectLst>
                <a:latin typeface="Bookman Old Style" panose="02050604050505020204" pitchFamily="18" charset="0"/>
              </a:rPr>
              <a:t>package.json</a:t>
            </a:r>
            <a:r>
              <a:rPr lang="en-US" b="1" dirty="0">
                <a:effectLst>
                  <a:outerShdw blurRad="38100" dist="38100" dir="2700000" algn="tl">
                    <a:srgbClr val="000000">
                      <a:alpha val="43137"/>
                    </a:srgbClr>
                  </a:outerShdw>
                </a:effectLst>
                <a:latin typeface="Bookman Old Style" panose="02050604050505020204" pitchFamily="18" charset="0"/>
              </a:rPr>
              <a:t> </a:t>
            </a:r>
            <a:r>
              <a:rPr lang="en-US" dirty="0">
                <a:effectLst>
                  <a:outerShdw blurRad="38100" dist="38100" dir="2700000" algn="tl">
                    <a:srgbClr val="000000">
                      <a:alpha val="43137"/>
                    </a:srgbClr>
                  </a:outerShdw>
                </a:effectLst>
                <a:latin typeface="Bookman Old Style" panose="02050604050505020204" pitchFamily="18" charset="0"/>
              </a:rPr>
              <a:t>file </a:t>
            </a:r>
            <a:r>
              <a:rPr lang="en-US" b="1" dirty="0">
                <a:effectLst>
                  <a:outerShdw blurRad="38100" dist="38100" dir="2700000" algn="tl">
                    <a:srgbClr val="000000">
                      <a:alpha val="43137"/>
                    </a:srgbClr>
                  </a:outerShdw>
                </a:effectLst>
                <a:latin typeface="Bookman Old Style" panose="02050604050505020204" pitchFamily="18" charset="0"/>
              </a:rPr>
              <a:t>to know what to install</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Yarn </a:t>
            </a:r>
            <a:r>
              <a:rPr lang="en-US" b="1" dirty="0">
                <a:effectLst>
                  <a:outerShdw blurRad="38100" dist="38100" dir="2700000" algn="tl">
                    <a:srgbClr val="000000">
                      <a:alpha val="43137"/>
                    </a:srgbClr>
                  </a:outerShdw>
                </a:effectLst>
                <a:latin typeface="Bookman Old Style" panose="02050604050505020204" pitchFamily="18" charset="0"/>
              </a:rPr>
              <a:t>caches previously installed packages, which speeds up future installs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It installs packages in parallel, </a:t>
            </a:r>
            <a:r>
              <a:rPr lang="en-US" b="1" dirty="0">
                <a:effectLst>
                  <a:outerShdw blurRad="38100" dist="38100" dir="2700000" algn="tl">
                    <a:srgbClr val="000000">
                      <a:alpha val="43137"/>
                    </a:srgbClr>
                  </a:outerShdw>
                </a:effectLst>
                <a:latin typeface="Bookman Old Style" panose="02050604050505020204" pitchFamily="18" charset="0"/>
              </a:rPr>
              <a:t>making the process faster than </a:t>
            </a:r>
            <a:r>
              <a:rPr lang="en-US" b="1" dirty="0" err="1">
                <a:effectLst>
                  <a:outerShdw blurRad="38100" dist="38100" dir="2700000" algn="tl">
                    <a:srgbClr val="000000">
                      <a:alpha val="43137"/>
                    </a:srgbClr>
                  </a:outerShdw>
                </a:effectLst>
                <a:latin typeface="Bookman Old Style" panose="02050604050505020204" pitchFamily="18" charset="0"/>
              </a:rPr>
              <a:t>npm</a:t>
            </a:r>
            <a:endParaRPr lang="en-US" b="1"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4040928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B52EA-D891-B1ED-52E0-0F3A83544B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B8C371E-BCB8-B5CF-068A-B4EBF8041432}"/>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AFCD8C55-1115-E800-4CED-1D0F97F34F58}"/>
              </a:ext>
            </a:extLst>
          </p:cNvPr>
          <p:cNvSpPr txBox="1"/>
          <p:nvPr/>
        </p:nvSpPr>
        <p:spPr>
          <a:xfrm>
            <a:off x="162306" y="244655"/>
            <a:ext cx="9054846"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F1D43177-852D-76D6-4F34-D7782DBA9733}"/>
              </a:ext>
            </a:extLst>
          </p:cNvPr>
          <p:cNvSpPr/>
          <p:nvPr/>
        </p:nvSpPr>
        <p:spPr>
          <a:xfrm>
            <a:off x="-1" y="1221723"/>
            <a:ext cx="1865377"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Install yarn</a:t>
            </a:r>
            <a:endParaRPr lang="en-CA" sz="2200" dirty="0">
              <a:solidFill>
                <a:srgbClr val="FFFF00"/>
              </a:solidFill>
            </a:endParaRPr>
          </a:p>
        </p:txBody>
      </p:sp>
      <p:sp>
        <p:nvSpPr>
          <p:cNvPr id="3" name="TextBox 2">
            <a:extLst>
              <a:ext uri="{FF2B5EF4-FFF2-40B4-BE49-F238E27FC236}">
                <a16:creationId xmlns:a16="http://schemas.microsoft.com/office/drawing/2014/main" id="{3881BCF0-AFF5-6E1D-1AB5-89D38A51116D}"/>
              </a:ext>
            </a:extLst>
          </p:cNvPr>
          <p:cNvSpPr txBox="1"/>
          <p:nvPr/>
        </p:nvSpPr>
        <p:spPr>
          <a:xfrm>
            <a:off x="162306" y="1672744"/>
            <a:ext cx="11852910" cy="586224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To install ‘yarn’, run the below command at the command prompt or PowerShell:</a:t>
            </a:r>
          </a:p>
          <a:p>
            <a:pPr lvl="1">
              <a:lnSpc>
                <a:spcPct val="150000"/>
              </a:lnSpc>
            </a:pPr>
            <a:r>
              <a:rPr lang="en-CA" dirty="0" err="1">
                <a:solidFill>
                  <a:srgbClr val="0070C0"/>
                </a:solidFill>
                <a:effectLst>
                  <a:outerShdw blurRad="38100" dist="38100" dir="2700000" algn="tl">
                    <a:srgbClr val="000000">
                      <a:alpha val="43137"/>
                    </a:srgbClr>
                  </a:outerShdw>
                </a:effectLst>
                <a:latin typeface="Bookman Old Style" panose="02050604050505020204" pitchFamily="18" charset="0"/>
              </a:rPr>
              <a:t>npm</a:t>
            </a:r>
            <a:r>
              <a:rPr lang="en-CA" dirty="0">
                <a:effectLst>
                  <a:outerShdw blurRad="38100" dist="38100" dir="2700000" algn="tl">
                    <a:srgbClr val="000000">
                      <a:alpha val="43137"/>
                    </a:srgbClr>
                  </a:outerShdw>
                </a:effectLst>
                <a:latin typeface="Bookman Old Style" panose="02050604050505020204" pitchFamily="18" charset="0"/>
              </a:rPr>
              <a:t> install -g yarn</a:t>
            </a: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This installs Yarn globally </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To verify that Yarn is installed, open a Command Prompt or PowerShell window and run:</a:t>
            </a:r>
          </a:p>
          <a:p>
            <a:pPr lvl="1">
              <a:lnSpc>
                <a:spcPct val="150000"/>
              </a:lnSpc>
            </a:pPr>
            <a:r>
              <a:rPr lang="en-CA" dirty="0">
                <a:solidFill>
                  <a:srgbClr val="0070C0"/>
                </a:solidFill>
                <a:effectLst>
                  <a:outerShdw blurRad="38100" dist="38100" dir="2700000" algn="tl">
                    <a:srgbClr val="000000">
                      <a:alpha val="43137"/>
                    </a:srgbClr>
                  </a:outerShdw>
                </a:effectLst>
                <a:latin typeface="Bookman Old Style" panose="02050604050505020204" pitchFamily="18" charset="0"/>
              </a:rPr>
              <a:t>yarn</a:t>
            </a:r>
            <a:r>
              <a:rPr lang="en-CA" dirty="0">
                <a:effectLst>
                  <a:outerShdw blurRad="38100" dist="38100" dir="2700000" algn="tl">
                    <a:srgbClr val="000000">
                      <a:alpha val="43137"/>
                    </a:srgbClr>
                  </a:outerShdw>
                </a:effectLst>
                <a:latin typeface="Bookman Old Style" panose="02050604050505020204" pitchFamily="18" charset="0"/>
              </a:rPr>
              <a:t> –version</a:t>
            </a: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If you see the version number, Yarn is installed and ready to use</a:t>
            </a:r>
            <a:endParaRPr lang="en-CA"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p:txBody>
      </p:sp>
      <p:pic>
        <p:nvPicPr>
          <p:cNvPr id="9" name="Picture 8">
            <a:extLst>
              <a:ext uri="{FF2B5EF4-FFF2-40B4-BE49-F238E27FC236}">
                <a16:creationId xmlns:a16="http://schemas.microsoft.com/office/drawing/2014/main" id="{957193DE-1B31-930A-9CB1-72AF3EF6F325}"/>
              </a:ext>
            </a:extLst>
          </p:cNvPr>
          <p:cNvPicPr>
            <a:picLocks noChangeAspect="1"/>
          </p:cNvPicPr>
          <p:nvPr/>
        </p:nvPicPr>
        <p:blipFill>
          <a:blip r:embed="rId3"/>
          <a:stretch>
            <a:fillRect/>
          </a:stretch>
        </p:blipFill>
        <p:spPr>
          <a:xfrm>
            <a:off x="1245888" y="2788439"/>
            <a:ext cx="4544059" cy="941269"/>
          </a:xfrm>
          <a:prstGeom prst="rect">
            <a:avLst/>
          </a:prstGeom>
        </p:spPr>
      </p:pic>
      <p:pic>
        <p:nvPicPr>
          <p:cNvPr id="7" name="Picture 6">
            <a:extLst>
              <a:ext uri="{FF2B5EF4-FFF2-40B4-BE49-F238E27FC236}">
                <a16:creationId xmlns:a16="http://schemas.microsoft.com/office/drawing/2014/main" id="{A56B1835-441D-E0E3-F8C3-873B14F52663}"/>
              </a:ext>
            </a:extLst>
          </p:cNvPr>
          <p:cNvPicPr>
            <a:picLocks noChangeAspect="1"/>
          </p:cNvPicPr>
          <p:nvPr/>
        </p:nvPicPr>
        <p:blipFill>
          <a:blip r:embed="rId4"/>
          <a:stretch>
            <a:fillRect/>
          </a:stretch>
        </p:blipFill>
        <p:spPr>
          <a:xfrm>
            <a:off x="1245888" y="5198066"/>
            <a:ext cx="4544059" cy="876422"/>
          </a:xfrm>
          <a:prstGeom prst="rect">
            <a:avLst/>
          </a:prstGeom>
        </p:spPr>
      </p:pic>
    </p:spTree>
    <p:extLst>
      <p:ext uri="{BB962C8B-B14F-4D97-AF65-F5344CB8AC3E}">
        <p14:creationId xmlns:p14="http://schemas.microsoft.com/office/powerpoint/2010/main" val="2690796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924E3-7D2C-C093-C6AC-C544DC44203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CB8876-4613-833C-556A-D682291FB31F}"/>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64349C4A-E041-FB53-0EA3-78C8E6530AC5}"/>
              </a:ext>
            </a:extLst>
          </p:cNvPr>
          <p:cNvSpPr txBox="1"/>
          <p:nvPr/>
        </p:nvSpPr>
        <p:spPr>
          <a:xfrm>
            <a:off x="162306" y="244655"/>
            <a:ext cx="8670798" cy="461665"/>
          </a:xfrm>
          <a:prstGeom prst="rect">
            <a:avLst/>
          </a:prstGeom>
          <a:noFill/>
        </p:spPr>
        <p:txBody>
          <a:bodyPr wrap="square" rtlCol="0">
            <a:spAutoFit/>
          </a:bodyPr>
          <a:lstStyle/>
          <a:p>
            <a:r>
              <a:rPr lang="en-US" sz="2400" dirty="0">
                <a:solidFill>
                  <a:schemeClr val="bg1"/>
                </a:solidFill>
                <a:latin typeface="Bookman Old Style" panose="02050604050505020204" pitchFamily="18" charset="0"/>
              </a:rPr>
              <a:t>Setting Up React Native Development Environment</a:t>
            </a:r>
            <a:endParaRPr lang="en-CA" sz="2400" dirty="0">
              <a:solidFill>
                <a:schemeClr val="bg1"/>
              </a:solidFill>
            </a:endParaRPr>
          </a:p>
        </p:txBody>
      </p:sp>
      <p:sp>
        <p:nvSpPr>
          <p:cNvPr id="2" name="Rectangle 1">
            <a:extLst>
              <a:ext uri="{FF2B5EF4-FFF2-40B4-BE49-F238E27FC236}">
                <a16:creationId xmlns:a16="http://schemas.microsoft.com/office/drawing/2014/main" id="{2814B311-7C37-997D-BF53-42BB30159C7F}"/>
              </a:ext>
            </a:extLst>
          </p:cNvPr>
          <p:cNvSpPr/>
          <p:nvPr/>
        </p:nvSpPr>
        <p:spPr>
          <a:xfrm>
            <a:off x="-1" y="1221723"/>
            <a:ext cx="2267713"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yarn android</a:t>
            </a:r>
            <a:endParaRPr lang="en-CA" sz="2200" dirty="0">
              <a:solidFill>
                <a:srgbClr val="FFFF00"/>
              </a:solidFill>
            </a:endParaRPr>
          </a:p>
        </p:txBody>
      </p:sp>
      <p:sp>
        <p:nvSpPr>
          <p:cNvPr id="3" name="TextBox 2">
            <a:extLst>
              <a:ext uri="{FF2B5EF4-FFF2-40B4-BE49-F238E27FC236}">
                <a16:creationId xmlns:a16="http://schemas.microsoft.com/office/drawing/2014/main" id="{E07FD9E5-E29E-1D2E-EC46-70EB8B2B46AA}"/>
              </a:ext>
            </a:extLst>
          </p:cNvPr>
          <p:cNvSpPr txBox="1"/>
          <p:nvPr/>
        </p:nvSpPr>
        <p:spPr>
          <a:xfrm>
            <a:off x="162306" y="1672744"/>
            <a:ext cx="11852910" cy="37847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yarn android </a:t>
            </a:r>
            <a:r>
              <a:rPr lang="en-US" dirty="0">
                <a:effectLst>
                  <a:outerShdw blurRad="38100" dist="38100" dir="2700000" algn="tl">
                    <a:srgbClr val="000000">
                      <a:alpha val="43137"/>
                    </a:srgbClr>
                  </a:outerShdw>
                </a:effectLst>
                <a:latin typeface="Bookman Old Style" panose="02050604050505020204" pitchFamily="18" charset="0"/>
              </a:rPr>
              <a:t>is a command </a:t>
            </a:r>
            <a:r>
              <a:rPr lang="en-US" b="1" dirty="0">
                <a:effectLst>
                  <a:outerShdw blurRad="38100" dist="38100" dir="2700000" algn="tl">
                    <a:srgbClr val="000000">
                      <a:alpha val="43137"/>
                    </a:srgbClr>
                  </a:outerShdw>
                </a:effectLst>
                <a:latin typeface="Bookman Old Style" panose="02050604050505020204" pitchFamily="18" charset="0"/>
              </a:rPr>
              <a:t>used in React Native projects to build and run your app directly on an Android device or emulator</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yarn is a package manager (like </a:t>
            </a:r>
            <a:r>
              <a:rPr lang="en-US" dirty="0" err="1">
                <a:effectLst>
                  <a:outerShdw blurRad="38100" dist="38100" dir="2700000" algn="tl">
                    <a:srgbClr val="000000">
                      <a:alpha val="43137"/>
                    </a:srgbClr>
                  </a:outerShdw>
                </a:effectLst>
                <a:latin typeface="Bookman Old Style" panose="02050604050505020204" pitchFamily="18" charset="0"/>
              </a:rPr>
              <a:t>npm</a:t>
            </a:r>
            <a:r>
              <a:rPr lang="en-US" dirty="0">
                <a:effectLst>
                  <a:outerShdw blurRad="38100" dist="38100" dir="2700000" algn="tl">
                    <a:srgbClr val="000000">
                      <a:alpha val="43137"/>
                    </a:srgbClr>
                  </a:outerShdw>
                </a:effectLst>
                <a:latin typeface="Bookman Old Style" panose="02050604050505020204" pitchFamily="18" charset="0"/>
              </a:rPr>
              <a:t>), and </a:t>
            </a:r>
            <a:r>
              <a:rPr lang="en-US" b="1" dirty="0">
                <a:effectLst>
                  <a:outerShdw blurRad="38100" dist="38100" dir="2700000" algn="tl">
                    <a:srgbClr val="000000">
                      <a:alpha val="43137"/>
                    </a:srgbClr>
                  </a:outerShdw>
                </a:effectLst>
                <a:latin typeface="Bookman Old Style" panose="02050604050505020204" pitchFamily="18" charset="0"/>
              </a:rPr>
              <a:t>it knows the project scripts from the </a:t>
            </a:r>
            <a:r>
              <a:rPr lang="en-US" b="1" dirty="0" err="1">
                <a:effectLst>
                  <a:outerShdw blurRad="38100" dist="38100" dir="2700000" algn="tl">
                    <a:srgbClr val="000000">
                      <a:alpha val="43137"/>
                    </a:srgbClr>
                  </a:outerShdw>
                </a:effectLst>
                <a:latin typeface="Bookman Old Style" panose="02050604050505020204" pitchFamily="18" charset="0"/>
              </a:rPr>
              <a:t>package.json</a:t>
            </a:r>
            <a:endParaRPr lang="en-US" b="1"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When you type yarn android, it runs the Android-specific build process and launches the app automatically</a:t>
            </a:r>
          </a:p>
          <a:p>
            <a:pPr lvl="1">
              <a:lnSpc>
                <a:spcPct val="150000"/>
              </a:lnSpc>
            </a:pPr>
            <a:r>
              <a:rPr lang="en-CA" b="1" dirty="0">
                <a:solidFill>
                  <a:srgbClr val="0070C0"/>
                </a:solidFill>
                <a:effectLst>
                  <a:outerShdw blurRad="38100" dist="38100" dir="2700000" algn="tl">
                    <a:srgbClr val="000000">
                      <a:alpha val="43137"/>
                    </a:srgbClr>
                  </a:outerShdw>
                </a:effectLst>
                <a:latin typeface="Bookman Old Style" panose="02050604050505020204" pitchFamily="18" charset="0"/>
              </a:rPr>
              <a:t>yarn</a:t>
            </a:r>
            <a:r>
              <a:rPr lang="en-CA" b="1" dirty="0">
                <a:effectLst>
                  <a:outerShdw blurRad="38100" dist="38100" dir="2700000" algn="tl">
                    <a:srgbClr val="000000">
                      <a:alpha val="43137"/>
                    </a:srgbClr>
                  </a:outerShdw>
                </a:effectLst>
                <a:latin typeface="Bookman Old Style" panose="02050604050505020204" pitchFamily="18" charset="0"/>
              </a:rPr>
              <a:t> android</a:t>
            </a: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CA"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919881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57031</TotalTime>
  <Words>2508</Words>
  <Application>Microsoft Office PowerPoint</Application>
  <PresentationFormat>Widescreen</PresentationFormat>
  <Paragraphs>265</Paragraphs>
  <Slides>43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Aptos</vt:lpstr>
      <vt:lpstr>Aptos Display</vt:lpstr>
      <vt:lpstr>Arial</vt:lpstr>
      <vt:lpstr>Bookman Old Style</vt:lpstr>
      <vt:lpstr>Courier New</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Plathanath Mathew</dc:creator>
  <cp:lastModifiedBy>Thomas Plathanath Mathew</cp:lastModifiedBy>
  <cp:revision>855</cp:revision>
  <dcterms:created xsi:type="dcterms:W3CDTF">2025-02-20T19:22:06Z</dcterms:created>
  <dcterms:modified xsi:type="dcterms:W3CDTF">2025-05-29T11:51:28Z</dcterms:modified>
</cp:coreProperties>
</file>