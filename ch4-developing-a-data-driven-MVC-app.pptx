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86"/>
  </p:notesMasterIdLst>
  <p:handoutMasterIdLst>
    <p:handoutMasterId r:id="rId87"/>
  </p:handoutMasterIdLst>
  <p:sldIdLst>
    <p:sldId id="256" r:id="rId2"/>
    <p:sldId id="330" r:id="rId3"/>
    <p:sldId id="322" r:id="rId4"/>
    <p:sldId id="258" r:id="rId5"/>
    <p:sldId id="259" r:id="rId6"/>
    <p:sldId id="260" r:id="rId7"/>
    <p:sldId id="261" r:id="rId8"/>
    <p:sldId id="347" r:id="rId9"/>
    <p:sldId id="323" r:id="rId10"/>
    <p:sldId id="337" r:id="rId11"/>
    <p:sldId id="338" r:id="rId12"/>
    <p:sldId id="339" r:id="rId13"/>
    <p:sldId id="340" r:id="rId14"/>
    <p:sldId id="341" r:id="rId15"/>
    <p:sldId id="343" r:id="rId16"/>
    <p:sldId id="325" r:id="rId17"/>
    <p:sldId id="329" r:id="rId18"/>
    <p:sldId id="331" r:id="rId19"/>
    <p:sldId id="328" r:id="rId20"/>
    <p:sldId id="332" r:id="rId21"/>
    <p:sldId id="334" r:id="rId22"/>
    <p:sldId id="335" r:id="rId23"/>
    <p:sldId id="344" r:id="rId24"/>
    <p:sldId id="333" r:id="rId25"/>
    <p:sldId id="336" r:id="rId26"/>
    <p:sldId id="346" r:id="rId27"/>
    <p:sldId id="345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24" r:id="rId78"/>
    <p:sldId id="318" r:id="rId79"/>
    <p:sldId id="312" r:id="rId80"/>
    <p:sldId id="319" r:id="rId81"/>
    <p:sldId id="320" r:id="rId82"/>
    <p:sldId id="315" r:id="rId83"/>
    <p:sldId id="316" r:id="rId84"/>
    <p:sldId id="321" r:id="rId8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6433" autoAdjust="0"/>
  </p:normalViewPr>
  <p:slideViewPr>
    <p:cSldViewPr>
      <p:cViewPr varScale="1">
        <p:scale>
          <a:sx n="98" d="100"/>
          <a:sy n="98" d="100"/>
        </p:scale>
        <p:origin x="17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9/14/2022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75" r:id="rId9"/>
    <p:sldLayoutId id="2147483684" r:id="rId10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1143000"/>
            <a:ext cx="7772400" cy="553998"/>
          </a:xfrm>
        </p:spPr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24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develop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data-driven MVC web app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C5427-6384-46AE-BAFC-7932934A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44C8-7FDC-411B-8764-C7900B0F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chapter…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F6FA2-4C07-4AF3-9253-D65FE2D51D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focus is on building a simple but complete database (DB) driven ASP.NET Core MVC web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will use Microsoft’s framework Entity Framework (EF) core to model and interact with data stored in a relational 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it comes to working with EF Core there are two approaches, or schools of thought: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code first approach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database first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this chapter we will start with a demo of the </a:t>
            </a:r>
            <a:r>
              <a:rPr lang="en-US" sz="2400" b="1" i="1" u="sng" dirty="0"/>
              <a:t>code first approach</a:t>
            </a:r>
            <a:r>
              <a:rPr lang="en-US" sz="2400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0FD7A-325B-4226-B8D8-65EE1D78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49426-437B-4B34-B7F2-B4B14548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C2CEC-D59F-4DB1-A3ED-850F7DFE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9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44C8-7FDC-411B-8764-C7900B0F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idea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F6FA2-4C07-4AF3-9253-D65FE2D51D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Our first app will be a basic CRUD (Create Read Update Delete) style web app that allows us to list, create, edit, and delete basic Movie entities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That is, “</a:t>
            </a:r>
            <a:r>
              <a:rPr lang="en-US" sz="2400" i="1" dirty="0"/>
              <a:t>Movies</a:t>
            </a:r>
            <a:r>
              <a:rPr lang="en-US" sz="2400" dirty="0"/>
              <a:t>” are our main domain entity for this first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next few slides show some screenshots of the end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And then let’s also demo a finished solution</a:t>
            </a:r>
            <a:endParaRPr lang="en-CA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0FD7A-325B-4226-B8D8-65EE1D78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49426-437B-4B34-B7F2-B4B14548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C2CEC-D59F-4DB1-A3ED-850F7DFE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07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F765-FD30-4FAA-AF13-DBE3A8F3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 List page of the Movie List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97F3B-907F-4AC2-875B-73BBD7ED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AC314-C98B-4FE5-A663-C025712B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BC445-A913-4E7B-B7F1-99F9E3A9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8C73-EAF1-4D27-B737-A91F9B6513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C09A-CD20-4811-9C85-CDAEAFDA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1" y="1044580"/>
            <a:ext cx="8852298" cy="491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96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3D94-555B-41E2-B21E-B401548B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Add Movie page of the Movie List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69A2E-4026-418C-A021-A5B06FB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1FFF3-4C55-4964-8338-CBC1CF36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DBA71-6228-40BA-B6ED-99CB2D33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EC52-511B-48DD-A3BD-0A6BDB5EB7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D70CC5-1D16-477D-9969-F0474225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60834"/>
            <a:ext cx="4058690" cy="455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2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81D5-941F-436F-897D-03FBB071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Edit Movie page of the Movie List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79A0-D29A-4DC9-A7F4-F94E6ED5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D5C3-D293-44A6-A632-9AB12954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2DBA8-B157-4FD8-B4CB-6A8003E2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96B1F-46ED-4468-95C8-A15545B65D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B70CB-068D-4867-A64A-B6CA8227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6800"/>
            <a:ext cx="4191000" cy="49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2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E345-8482-455A-B6DF-025FAD3E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Confirm Deletion page of the Movie List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B8E44-167B-475F-B4F6-8F7E7806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1D49C-7908-4C59-BF7B-759564E3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C009-4779-42B0-81BC-F5E5D602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48FD-9D34-4887-8ED4-78F6B469BE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81351-E41D-4270-B426-E34FB6ADF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55" y="2390630"/>
            <a:ext cx="368668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0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632D-3AC2-42A7-ACF7-C416D15B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validation errors…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9CF0-F412-451A-8877-54793FA9A4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8B833-879A-4BA5-BC84-A8A64190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0FF30-0D1D-4A53-AFA7-303567E0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7432E-6386-4AF1-A4F0-44230190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98795B-92AA-4714-8EB0-E2F901A7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6720"/>
            <a:ext cx="3640470" cy="4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9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1714-F1D6-4F3D-926E-52DDBED9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Putting this all together…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136C-7D32-4154-9696-FE96CFDB8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838200"/>
            <a:ext cx="8153400" cy="51054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series of messy diagrams but they are an attempt to make sense of the interactions in this Movie List web app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And does so in a “</a:t>
            </a:r>
            <a:r>
              <a:rPr lang="en-US" sz="2800" b="1" i="1" dirty="0"/>
              <a:t>resource-oriented</a:t>
            </a:r>
            <a:r>
              <a:rPr lang="en-US" sz="2800" dirty="0"/>
              <a:t>” way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More on what that means later </a:t>
            </a:r>
            <a:r>
              <a:rPr lang="en-US" sz="2400" dirty="0">
                <a:sym typeface="Wingdings" panose="05000000000000000000" pitchFamily="2" charset="2"/>
              </a:rPr>
              <a:t>but for now simply think of resources as the conceptual things (on the server side) that your web app interacts with via HTTP GET or POST requests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They are identified by URLs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Concrete representations (or “views”) of them are returned to the client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In formats such as HTML, JSON, jpeg, PDF, </a:t>
            </a:r>
            <a:r>
              <a:rPr lang="en-US" sz="2000" dirty="0" err="1">
                <a:sym typeface="Wingdings" panose="05000000000000000000" pitchFamily="2" charset="2"/>
              </a:rPr>
              <a:t>etc</a:t>
            </a:r>
            <a:r>
              <a:rPr lang="en-US" sz="2000" dirty="0">
                <a:sym typeface="Wingdings" panose="05000000000000000000" pitchFamily="2" charset="2"/>
              </a:rPr>
              <a:t>…</a:t>
            </a:r>
            <a:endParaRPr lang="en-CA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7382-5186-43A9-AEA1-6073CF2A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8134-703F-4DF4-B799-43A4BBAC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EA62D-2ABB-465D-9EF8-B723399E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74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303F-9651-4569-8D06-63C6E0D2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Resources &amp; Representations (HTML views)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9535-4FE8-4EDD-8AD7-C037216D47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AC75-A556-45B4-BF48-DFC571DD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75343-BAC5-4A1F-9EEF-19148793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3C7D-C9ED-4601-90AE-17E1BD0E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AC9DD-3067-4D17-9061-C15B644D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650"/>
            <a:ext cx="9144000" cy="536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96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032E-D48C-49E1-9686-C0CEAAFE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Interactions with the “all Movies” resource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AC13-DDDE-43BA-BCB0-5A07186D4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F6057-38D2-4B0F-8970-C9753104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682E-0EE3-4A16-9F71-DAD154E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DBDB-4F23-49EE-8919-2A1D17D4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84A34E-DFFE-47FC-A1D4-DAC165E5E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820"/>
            <a:ext cx="9144000" cy="533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1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032E-D48C-49E1-9686-C0CEAAFE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Interactions with the “all Movies” resource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AC13-DDDE-43BA-BCB0-5A07186D4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F6057-38D2-4B0F-8970-C9753104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682E-0EE3-4A16-9F71-DAD154E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DBDB-4F23-49EE-8919-2A1D17D4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21930-A8C2-40B2-87E1-6E2772370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7997"/>
            <a:ext cx="9144000" cy="52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8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032E-D48C-49E1-9686-C0CEAAFE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Interactions with the “all Movies” resource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AC13-DDDE-43BA-BCB0-5A07186D4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F6057-38D2-4B0F-8970-C9753104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682E-0EE3-4A16-9F71-DAD154E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DBDB-4F23-49EE-8919-2A1D17D4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7A059-A80D-45C2-91C3-A219529B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156"/>
            <a:ext cx="9144000" cy="531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3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032E-D48C-49E1-9686-C0CEAAFE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Interactions with a single “Movie” resource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AC13-DDDE-43BA-BCB0-5A07186D4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F6057-38D2-4B0F-8970-C9753104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682E-0EE3-4A16-9F71-DAD154E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DBDB-4F23-49EE-8919-2A1D17D4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1A20D5-E71A-4AC8-84F1-9007216F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794"/>
            <a:ext cx="9144000" cy="53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5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A3689EB-D8D6-4ACB-A4BB-72659A6F5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1501"/>
            <a:ext cx="9144000" cy="5294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0F032E-D48C-49E1-9686-C0CEAAFE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315200" cy="369332"/>
          </a:xfrm>
        </p:spPr>
        <p:txBody>
          <a:bodyPr/>
          <a:lstStyle/>
          <a:p>
            <a:r>
              <a:rPr lang="en-US" dirty="0"/>
              <a:t>Interactions with a single “Movie” resource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AC13-DDDE-43BA-BCB0-5A07186D4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F6057-38D2-4B0F-8970-C9753104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6682E-0EE3-4A16-9F71-DAD154E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DBDB-4F23-49EE-8919-2A1D17D4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872C9E-A919-4FDD-A80E-1C27C0F12C64}"/>
              </a:ext>
            </a:extLst>
          </p:cNvPr>
          <p:cNvSpPr txBox="1"/>
          <p:nvPr/>
        </p:nvSpPr>
        <p:spPr>
          <a:xfrm>
            <a:off x="4343400" y="2438400"/>
            <a:ext cx="4637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Delete interactions are similar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0E59-8A90-4D64-AD72-27980B2F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D856-8F4C-41E6-9EA2-861C8716BE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Before we build this example “Movies List” web app from scratch we need to: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Make a few comments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And make sure we have a relational database server installed and we can connect to it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en-US" dirty="0"/>
              <a:t>We’ll do this now and we’ll use MS SQL Server (developer edition)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345E1-A331-4372-AE40-A3A9BF1F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437F-CA76-4614-9170-C29C64BF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2C261-FAEA-49B3-AF20-E9898DDB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2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F989-37DD-45D9-AA02-93BEF2F1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a word of caution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B13DC-7014-479B-94D2-B72907816D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are glossing over many details of working with both ASP.NET Core itself but even more so with EF Core as a means of developing DB-driven web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Why? Well to get you up and running quickly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But </a:t>
            </a:r>
            <a:r>
              <a:rPr lang="en-US" sz="2400" b="1" i="1" u="sng" dirty="0"/>
              <a:t>we will come back to each topic in greater depth </a:t>
            </a:r>
            <a:r>
              <a:rPr lang="en-US" sz="2400" dirty="0"/>
              <a:t>as we proceed through the rest of this course!</a:t>
            </a:r>
            <a:endParaRPr lang="en-CA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5B4C5-7F0F-4CFD-B508-91D19E3D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CE7CE-A195-4C7C-8732-98A7B9F9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ECA2C-4D75-4FC0-9AAD-F894E341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7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122A-AFC9-4B02-BAEC-84D3C7E4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EF Core?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BC91-A6A6-4ABC-8A7D-F322A78CFC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8458200" cy="480060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EF Core is Microsoft’s ORM (Object-Relational Mapping) framework for .NET 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will return to it (and the intimately related concept of LINQ) in greater detail later (e.g. </a:t>
            </a:r>
            <a:r>
              <a:rPr lang="en-US" sz="2800" dirty="0" err="1"/>
              <a:t>ch</a:t>
            </a:r>
            <a:r>
              <a:rPr lang="en-US" sz="2800" dirty="0"/>
              <a:t> 12) but for now think of it as follows…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EF Core allows developers to define the basic domain (or problem domain) entities of their application using .NET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 the hood then the EF Core framework: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Maps objects of those classes to data (i.e. rows) in a relational DB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Provides developers with a context class to query, insert, update, and delete those entities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Hence the term “ORM” – objects are being mapped to relational DB entities</a:t>
            </a:r>
            <a:endParaRPr lang="en-CA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6737B-E515-4214-BB86-2769F41B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AA5B1-3099-45D5-BB2C-F0B7095F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798E-D012-492E-8176-61525EF4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177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0E59-8A90-4D64-AD72-27980B2F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315200" cy="400934"/>
          </a:xfrm>
        </p:spPr>
        <p:txBody>
          <a:bodyPr/>
          <a:lstStyle/>
          <a:p>
            <a:r>
              <a:rPr lang="en-US" dirty="0"/>
              <a:t>Now…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D856-8F4C-41E6-9EA2-861C8716B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762000"/>
            <a:ext cx="8763000" cy="5181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Let’s build this example “Movies List” web app from scratch and go over each step in great detail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Note: my solution differs from the </a:t>
            </a:r>
            <a:r>
              <a:rPr lang="en-US" sz="2400" dirty="0" err="1"/>
              <a:t>Murach</a:t>
            </a:r>
            <a:r>
              <a:rPr lang="en-US" sz="2400" dirty="0"/>
              <a:t> solution but only very slightly and I will try to highlight where and why as we proceed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And remember, as discussed in the course intro slides, we will not make use of generating code here!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You need to do it yourself to learn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And defining your controllers allows you to design interactions with your resources as you see fit</a:t>
            </a:r>
            <a:endParaRPr lang="en-CA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345E1-A331-4372-AE40-A3A9BF1F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437F-CA76-4614-9170-C29C64BF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2C261-FAEA-49B3-AF20-E9898DDB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114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9D-FF27-46E2-A2A1-B2B06DF6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315200" cy="369332"/>
          </a:xfrm>
        </p:spPr>
        <p:txBody>
          <a:bodyPr/>
          <a:lstStyle/>
          <a:p>
            <a:r>
              <a:rPr lang="en-US" dirty="0"/>
              <a:t>The high-level steps for basic version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FC7A-3DEA-4900-AFA4-4079466AA6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609600"/>
            <a:ext cx="8686800" cy="5334000"/>
          </a:xfrm>
        </p:spPr>
        <p:txBody>
          <a:bodyPr/>
          <a:lstStyle/>
          <a:p>
            <a:r>
              <a:rPr lang="en-US" sz="1600" dirty="0"/>
              <a:t>Steps for the first (basic) version:</a:t>
            </a:r>
          </a:p>
          <a:p>
            <a:r>
              <a:rPr lang="en-US" sz="1600" dirty="0"/>
              <a:t>* Start with a MVC project template</a:t>
            </a:r>
          </a:p>
          <a:p>
            <a:r>
              <a:rPr lang="en-US" sz="1600" dirty="0"/>
              <a:t>* Add the </a:t>
            </a:r>
            <a:r>
              <a:rPr lang="en-US" sz="1600" dirty="0" err="1"/>
              <a:t>Microsoft.EntityFrameworkCore</a:t>
            </a:r>
            <a:r>
              <a:rPr lang="en-US" sz="1600" dirty="0"/>
              <a:t> packages</a:t>
            </a:r>
          </a:p>
          <a:p>
            <a:r>
              <a:rPr lang="en-US" sz="1600" dirty="0"/>
              <a:t>* Define our Movie Model &amp; Context classes</a:t>
            </a:r>
          </a:p>
          <a:p>
            <a:r>
              <a:rPr lang="en-US" sz="1600" dirty="0"/>
              <a:t>     - EF Core uses these classes to map to, generate and interact with the Database (DB)</a:t>
            </a:r>
          </a:p>
          <a:p>
            <a:r>
              <a:rPr lang="en-US" sz="1600" dirty="0"/>
              <a:t>     - This includes seeding the DB with some data</a:t>
            </a:r>
          </a:p>
          <a:p>
            <a:r>
              <a:rPr lang="en-US" sz="1600" dirty="0"/>
              <a:t>* Add a DB connection string to the </a:t>
            </a:r>
            <a:r>
              <a:rPr lang="en-US" sz="1600" dirty="0" err="1"/>
              <a:t>appSettings.json</a:t>
            </a:r>
            <a:r>
              <a:rPr lang="en-US" sz="1600" dirty="0"/>
              <a:t> file</a:t>
            </a:r>
          </a:p>
          <a:p>
            <a:r>
              <a:rPr lang="en-US" sz="1600" dirty="0"/>
              <a:t>* Add MS </a:t>
            </a:r>
            <a:r>
              <a:rPr lang="en-US" sz="1600" dirty="0" err="1"/>
              <a:t>Sql</a:t>
            </a:r>
            <a:r>
              <a:rPr lang="en-US" sz="1600" dirty="0"/>
              <a:t> </a:t>
            </a:r>
            <a:r>
              <a:rPr lang="en-US" sz="1600" dirty="0" err="1"/>
              <a:t>svr</a:t>
            </a:r>
            <a:r>
              <a:rPr lang="en-US" sz="1600" dirty="0"/>
              <a:t> services in </a:t>
            </a:r>
            <a:r>
              <a:rPr lang="en-US" sz="1600" dirty="0" err="1"/>
              <a:t>Program.cs</a:t>
            </a:r>
            <a:r>
              <a:rPr lang="en-US" sz="1600" dirty="0"/>
              <a:t> and pass the connection string accessed</a:t>
            </a:r>
          </a:p>
          <a:p>
            <a:r>
              <a:rPr lang="en-US" sz="1600" dirty="0"/>
              <a:t>* Add a </a:t>
            </a:r>
            <a:r>
              <a:rPr lang="en-US" sz="1600" dirty="0" err="1"/>
              <a:t>MoviesController</a:t>
            </a:r>
            <a:r>
              <a:rPr lang="en-US" sz="1600" dirty="0"/>
              <a:t>, a List action to it; and a View/Movies sub-folder, and a View named </a:t>
            </a:r>
            <a:r>
              <a:rPr lang="en-US" sz="1600" dirty="0" err="1"/>
              <a:t>List.cshtml</a:t>
            </a:r>
            <a:r>
              <a:rPr lang="en-US" sz="1600" dirty="0"/>
              <a:t> to it</a:t>
            </a:r>
          </a:p>
          <a:p>
            <a:r>
              <a:rPr lang="en-US" sz="1600" dirty="0"/>
              <a:t>      - Link to this page from the Home/Index view</a:t>
            </a:r>
          </a:p>
          <a:p>
            <a:r>
              <a:rPr lang="en-US" sz="1600" dirty="0"/>
              <a:t>* Add a DB context reference to the </a:t>
            </a:r>
            <a:r>
              <a:rPr lang="en-US" sz="1600" dirty="0" err="1"/>
              <a:t>MoviesController</a:t>
            </a:r>
            <a:r>
              <a:rPr lang="en-US" sz="1600" dirty="0"/>
              <a:t> &amp; try to access the DB in the List action</a:t>
            </a:r>
          </a:p>
          <a:p>
            <a:r>
              <a:rPr lang="en-US" sz="1600" dirty="0"/>
              <a:t>      - It will fail because we have yet to create the DB</a:t>
            </a:r>
          </a:p>
          <a:p>
            <a:r>
              <a:rPr lang="en-US" sz="1600" dirty="0"/>
              <a:t>* Get the DB going in 2 steps:</a:t>
            </a:r>
          </a:p>
          <a:p>
            <a:r>
              <a:rPr lang="en-US" sz="1600" dirty="0"/>
              <a:t>      - Step1: generate DB code from our model</a:t>
            </a:r>
          </a:p>
          <a:p>
            <a:r>
              <a:rPr lang="en-US" sz="1600" dirty="0"/>
              <a:t>      - Step 2: run that code to generate the DB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E9FA-C190-4476-A08F-1A45497C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FC87-7800-40C4-A1CA-8A82C8BA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655A3-02BE-464D-953B-E813135B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490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9D-FF27-46E2-A2A1-B2B06DF6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315200" cy="369332"/>
          </a:xfrm>
        </p:spPr>
        <p:txBody>
          <a:bodyPr/>
          <a:lstStyle/>
          <a:p>
            <a:r>
              <a:rPr lang="en-US" dirty="0"/>
              <a:t>The high-level steps continued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FC7A-3DEA-4900-AFA4-4079466AA6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609600"/>
            <a:ext cx="8686800" cy="5334000"/>
          </a:xfrm>
        </p:spPr>
        <p:txBody>
          <a:bodyPr/>
          <a:lstStyle/>
          <a:p>
            <a:r>
              <a:rPr lang="en-US" sz="1600" dirty="0"/>
              <a:t>* Get our "all movies" page working:</a:t>
            </a:r>
          </a:p>
          <a:p>
            <a:r>
              <a:rPr lang="en-US" sz="1600" dirty="0"/>
              <a:t>      - Define the Index action in the </a:t>
            </a:r>
            <a:r>
              <a:rPr lang="en-US" sz="1600" dirty="0" err="1"/>
              <a:t>MoviesController</a:t>
            </a:r>
            <a:r>
              <a:rPr lang="en-US" sz="1600" dirty="0"/>
              <a:t> to retrieve all movies and pass to view as a List</a:t>
            </a:r>
          </a:p>
          <a:p>
            <a:r>
              <a:rPr lang="en-US" sz="1600" dirty="0"/>
              <a:t>      - In the view, we iterate (using a foreach loop) over the List&lt;Movie&gt; model to populate HTML table data</a:t>
            </a:r>
          </a:p>
          <a:p>
            <a:r>
              <a:rPr lang="en-US" sz="1600" dirty="0"/>
              <a:t>* Get our add new movie functionality going:</a:t>
            </a:r>
          </a:p>
          <a:p>
            <a:r>
              <a:rPr lang="en-US" sz="1600" dirty="0"/>
              <a:t>      - In the </a:t>
            </a:r>
            <a:r>
              <a:rPr lang="en-US" sz="1600" dirty="0" err="1"/>
              <a:t>MoviesController</a:t>
            </a:r>
            <a:r>
              <a:rPr lang="en-US" sz="1600" dirty="0"/>
              <a:t> add both a POST &amp; GET version of a "Create" action</a:t>
            </a:r>
          </a:p>
          <a:p>
            <a:r>
              <a:rPr lang="en-US" sz="1600" dirty="0"/>
              <a:t>      - Define a Movies/Create view with a form that allows the user to enter fields for a new movie</a:t>
            </a:r>
          </a:p>
          <a:p>
            <a:r>
              <a:rPr lang="en-US" sz="1600" dirty="0"/>
              <a:t>* For editing an existing movie:</a:t>
            </a:r>
          </a:p>
          <a:p>
            <a:r>
              <a:rPr lang="en-US" sz="1600" dirty="0"/>
              <a:t>      - Add a new </a:t>
            </a:r>
            <a:r>
              <a:rPr lang="en-US" sz="1600" dirty="0" err="1"/>
              <a:t>MovieController</a:t>
            </a:r>
            <a:r>
              <a:rPr lang="en-US" sz="1600" dirty="0"/>
              <a:t> (why?) and both a GET &amp; POST version of an Edit action to it</a:t>
            </a:r>
          </a:p>
          <a:p>
            <a:r>
              <a:rPr lang="en-US" sz="1600" dirty="0"/>
              <a:t>      - Define a Movie/Edit view with a form that allows the user to edit the existing movie</a:t>
            </a:r>
          </a:p>
          <a:p>
            <a:r>
              <a:rPr lang="en-US" sz="1600" dirty="0"/>
              <a:t>* And finally, for deleting an existing movie:</a:t>
            </a:r>
          </a:p>
          <a:p>
            <a:r>
              <a:rPr lang="en-US" sz="1600" dirty="0"/>
              <a:t>      - To the </a:t>
            </a:r>
            <a:r>
              <a:rPr lang="en-US" sz="1600" dirty="0" err="1"/>
              <a:t>MovieController</a:t>
            </a:r>
            <a:r>
              <a:rPr lang="en-US" sz="1600" dirty="0"/>
              <a:t> add both a GET &amp; POST version of a Delete action</a:t>
            </a:r>
          </a:p>
          <a:p>
            <a:r>
              <a:rPr lang="en-US" sz="1600" dirty="0"/>
              <a:t>      - Define a Movie/Delete view with a form that allows the user to confirm delete of an existing movie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E9FA-C190-4476-A08F-1A45497C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FC87-7800-40C4-A1CA-8A82C8BA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655A3-02BE-464D-953B-E813135B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50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B9B4-D148-440F-928B-B1493BEC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40323"/>
            <a:ext cx="8153400" cy="738664"/>
          </a:xfrm>
        </p:spPr>
        <p:txBody>
          <a:bodyPr/>
          <a:lstStyle/>
          <a:p>
            <a:r>
              <a:rPr lang="en-US" dirty="0"/>
              <a:t>So why both a </a:t>
            </a:r>
            <a:r>
              <a:rPr lang="en-US" dirty="0" err="1"/>
              <a:t>MovieController</a:t>
            </a:r>
            <a:r>
              <a:rPr lang="en-US" dirty="0"/>
              <a:t> and </a:t>
            </a:r>
            <a:r>
              <a:rPr lang="en-US" dirty="0" err="1"/>
              <a:t>MoviesController</a:t>
            </a:r>
            <a:r>
              <a:rPr lang="en-US" dirty="0"/>
              <a:t>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52905-1FD1-4028-B61B-737B386760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Recall that I said that I conceptualize this app as being comprised of 2 main resources: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The collection of all Movies (i.e. the “Movies” resource)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And an individual Movie (identified by its ID in the URL)</a:t>
            </a:r>
            <a:endParaRPr lang="en-CA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EBA3F-54BA-4C47-B73A-32A39A4D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BEA56-D7FD-437F-9D0E-33EF348C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B335-243A-41AC-936F-2FEDA87E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37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04A2-0BBB-4662-A004-DDB983A9A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315200" cy="369332"/>
          </a:xfrm>
        </p:spPr>
        <p:txBody>
          <a:bodyPr/>
          <a:lstStyle/>
          <a:p>
            <a:r>
              <a:rPr lang="en-US" dirty="0"/>
              <a:t>Resources drive your MVC project structure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BEC6-07CA-4F08-9DC1-B0DD4BE2F2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AFD2-0974-41FA-B9FF-97905DFD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61971-9B58-420E-9C98-D212AC74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5BE1-B673-46D8-AA49-DFEB63A8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24C6D-2ABF-4F59-83F8-4FC6CF9A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522"/>
            <a:ext cx="9144000" cy="537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3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5DB-2490-461E-933A-440731F5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Also, note…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EB5B-4A6C-490D-BECB-4FEBDA938C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There is no doubt some repetition between the </a:t>
            </a:r>
            <a:r>
              <a:rPr lang="en-US" i="1" dirty="0" err="1"/>
              <a:t>Create.cshtml</a:t>
            </a:r>
            <a:r>
              <a:rPr lang="en-US" dirty="0"/>
              <a:t> page and the </a:t>
            </a:r>
            <a:r>
              <a:rPr lang="en-US" i="1" dirty="0" err="1"/>
              <a:t>Edit.cshtml</a:t>
            </a:r>
            <a:r>
              <a:rPr lang="en-US" dirty="0"/>
              <a:t> page but we’ll learn later how best to avoid the repetitive code by using mechanisms like partial views, view components, tag helpers, </a:t>
            </a:r>
            <a:r>
              <a:rPr lang="en-US" dirty="0" err="1"/>
              <a:t>etc</a:t>
            </a:r>
            <a:r>
              <a:rPr lang="en-US" dirty="0"/>
              <a:t>…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5365D-DAD7-43EF-B055-EF97867F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9AEA8-5A0B-48F2-A485-BD7FC21E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B0AA9-1DCB-4AE2-9DBF-FE34109F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524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8661-46DA-4393-B74D-DF6266D0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We’ll develop this sample in 2 stages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008CB-7A1C-42F1-AF50-4FDBC728E9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143000"/>
            <a:ext cx="8305800" cy="4800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Stage (or version) 1: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The basic version with only a simple Movie entity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Stage (or version) 2: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Expands on the basic version to add a Genre entity in a 1-to-many relationship with Movies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Makes use of EF Core’s migration capabilities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Likely next week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DC484-ABA7-49F4-9106-36B64B4C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2D52-18DF-4B27-A343-3124D425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A97A6-6034-43B2-AD79-E9F80F30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688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628B-B18A-40D2-9DD6-2FA3A54D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But..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1F68-C061-4961-8D89-0696DB25FE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key point here is that the initial version of the app should still run against the updated database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That is, the migration doesn’t break old working code!!!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91CD5-1DCF-493A-9530-5583EB5B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162C-4737-4D66-9C75-EEEE5944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738F-A4B6-4D1E-9E08-F41D177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270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628B-B18A-40D2-9DD6-2FA3A54D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Now..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1F68-C061-4961-8D89-0696DB25FE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the slides that follow, these are the steps taken by the authors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Our version that we work through is slightly different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And on the newer .NET 6 version as well!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91CD5-1DCF-493A-9530-5583EB5B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162C-4737-4D66-9C75-EEEE5944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738F-A4B6-4D1E-9E08-F41D177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20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CD44-8996-4B92-9082-1EDB090B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Solution Explorer for the Movie List app</a:t>
            </a:r>
          </a:p>
        </p:txBody>
      </p:sp>
      <p:pic>
        <p:nvPicPr>
          <p:cNvPr id="7" name="Content Placeholder 6" descr="Refer to page 133 in textbook">
            <a:extLst>
              <a:ext uri="{FF2B5EF4-FFF2-40B4-BE49-F238E27FC236}">
                <a16:creationId xmlns:a16="http://schemas.microsoft.com/office/drawing/2014/main" id="{11481CFB-A666-40F7-99CA-EABB519E6F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971800" y="1143000"/>
            <a:ext cx="2898361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619CE-D966-46BE-ADD1-D36DCA57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C0127-1DAA-4AD7-AEC8-43D1F8B1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D3477-818B-42DC-AA89-FFBE573B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448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25F7-CB52-4EF8-A60E-06494245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Folders in the Movie List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E6C7-1D32-4D4F-9690-9AE7DD55F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Models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Views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Controllers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Migrations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Files in the Movie List app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appsettings.json</a:t>
            </a:r>
            <a:endParaRPr lang="en-US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Program.cs</a:t>
            </a:r>
            <a:endParaRPr lang="en-US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E731-B194-427C-B6BF-0FD79976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EFAB5-4D28-4EED-953B-10F389D7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8D54-824D-4803-A539-6EEF7FD4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673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38BB-AF8C-46B7-AD5A-46A8655B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How to open the NuGet Package Manager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BC58A-8364-4F6F-A57C-FE542F8DA0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Tools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Nuget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Package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Manager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Manage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NuGet Packages for Solution.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NuGet Package Manager</a:t>
            </a:r>
          </a:p>
          <a:p>
            <a:endParaRPr lang="en-US" dirty="0"/>
          </a:p>
        </p:txBody>
      </p:sp>
      <p:pic>
        <p:nvPicPr>
          <p:cNvPr id="8" name="Content Placeholder 7" descr="Refer to page 135 in textbook">
            <a:extLst>
              <a:ext uri="{FF2B5EF4-FFF2-40B4-BE49-F238E27FC236}">
                <a16:creationId xmlns:a16="http://schemas.microsoft.com/office/drawing/2014/main" id="{6F6F33E1-5B06-4768-8042-E903E47DF7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2433484"/>
            <a:ext cx="6400800" cy="351011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D8572-B5A3-4B53-9CC9-BEDB2E84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CE8E9-919A-4285-B5F2-E8D34813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880E8-482B-452F-BD2A-70AFB7EA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914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B932-AE9B-468C-9221-FA81257C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How to install the NuGet packages for EF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A695-1652-47FB-AFA0-A7EBB76D3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96200" cy="4876800"/>
          </a:xfrm>
        </p:spPr>
        <p:txBody>
          <a:bodyPr/>
          <a:lstStyle/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Click the Browse link in the upper left of the window.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Microsoft.EntityFrameworkCore.SqlServer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in the search box.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Click on the appropriate package from the list that appears in the left-hand panel.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the right-hand panel, check the project name, select the version that matches the version of .NET Core you’re running, and click Install.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Review the Preview Changes dialog that comes up and click OK.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Review the License Acceptance dialog that comes up and click I Accept.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Microsoft.EntityFrameworkCore.Tools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in the search box.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 steps 3 through 6.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5375D-D24A-4454-9C83-5A647405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49CF-E682-4C0C-A3A0-D8E61956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CCA0-133E-491D-9288-44846242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072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3375-94A7-4693-A095-AB35D556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Three key classes provided by EF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8B1B9-D257-41AC-82E1-1A56E70757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DbContextOptions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50E11-EEBA-4156-8B5E-2E190067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73B8B-AF25-4B82-A397-7F9523AC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FF48-D6A3-46EE-A23A-62DE3A31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30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5188-C7EC-4DE4-B2D5-69BCEBD0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MovieContext</a:t>
            </a:r>
            <a:r>
              <a:rPr lang="en-US" dirty="0"/>
              <a:t> class that inherits </a:t>
            </a:r>
            <a:br>
              <a:rPr lang="en-US" dirty="0"/>
            </a:br>
            <a:r>
              <a:rPr lang="en-US" dirty="0"/>
              <a:t>the DbContext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9DD26-FC54-4016-8300-A11F35237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572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Microsoft.EntityFrameworkCore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MovieList.Models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class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DbContextOptions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options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: base(options)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&lt;Movie&gt;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Movies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872FE-8840-427A-9B7D-711F05E9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1CB7D-5AE5-4857-AE48-A026280C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A653D-FA5E-4C0D-A5F2-FEBE8850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822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5028-C95F-411A-9B57-5175B40F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Movie class with a property whose value </a:t>
            </a:r>
            <a:br>
              <a:rPr lang="en-US" dirty="0"/>
            </a:br>
            <a:r>
              <a:rPr lang="en-US" dirty="0"/>
              <a:t>is generated by the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9F568-D25F-4217-B6C7-C1FBF18599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76962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System.ComponentModel.DataAnnotations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MovieList.Models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class Movie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// EF Core will configure the database to generate this value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[Required(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"Please enter a name.")]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string Name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[Required(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"Please enter a year.")]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[Range(1889, 2999,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"Year must be after 1889.")]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int? Year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[Required(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"Please enter a rating.")]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[Range(1, 5,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"Rating must be between 1 and 5.")]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int? Rating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3502-907D-44DB-9AE2-38E64A948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B0048-87FC-4E47-AFE2-3C3A97ED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09C2D-4F94-4B36-9BB7-4A92E30A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460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26C9-C97A-4DF5-87BA-DE83F829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One method of the DbContext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953CD-65A7-4459-A9B9-3FB6F782EF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OnModelCreating(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2E7EC-9EFB-498A-A264-02AC9873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055EE-433E-4523-A3C4-9D188769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D6F5-5452-43ED-BB94-222B0C90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81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9E0F-BDCF-48B6-8102-BBAE5C5D3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MovieContext</a:t>
            </a:r>
            <a:r>
              <a:rPr lang="en-US" dirty="0"/>
              <a:t> class that seeds initial Movie data</a:t>
            </a:r>
            <a:br>
              <a:rPr lang="en-US" dirty="0"/>
            </a:br>
            <a:r>
              <a:rPr lang="en-US" dirty="0"/>
              <a:t>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FDF18-136E-4061-A21B-F1F85D8EE6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5551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MovieList.Models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class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DbContext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DbContextOptions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options)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: base(options)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&lt;Movie&gt; Movies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protected override void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OnModelCreating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&lt;Movie&gt;().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HasData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new Movie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Name = "Casablanca",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Year = 1942,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Rating = 5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},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BF518-361D-4310-8861-9C120C8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5CB7-9DF7-44D3-B611-DFCA119B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A1F20-7F34-4F3F-96A0-61F20E58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711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C44F-84A4-4350-BEB6-8D5B55F4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MovieContext</a:t>
            </a:r>
            <a:r>
              <a:rPr lang="en-US" dirty="0"/>
              <a:t> class that seeds initial Movie data</a:t>
            </a:r>
            <a:br>
              <a:rPr lang="en-US" dirty="0"/>
            </a:br>
            <a:r>
              <a:rPr lang="en-US" dirty="0"/>
              <a:t>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86073-53A4-4937-B9CC-56980A180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09738" algn="l"/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new Movie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2,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Name = "Wonder Woman",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Year = 2017,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Rating = 3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new Movie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3,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Name = "Moonstruck",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Year = 1988,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Rating = 4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73424-C018-4DF9-9BFE-475E4C52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9532-0AD9-4335-BB36-6FB0F3E8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520DC-BFE2-4A3F-B3A2-F5AA6C8B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984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3A3A-A690-42B1-B1E6-C6C0DB81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"/>
            <a:ext cx="7315200" cy="369332"/>
          </a:xfrm>
        </p:spPr>
        <p:txBody>
          <a:bodyPr/>
          <a:lstStyle/>
          <a:p>
            <a:r>
              <a:rPr lang="en-US" dirty="0"/>
              <a:t>A connection string in the </a:t>
            </a:r>
            <a:r>
              <a:rPr lang="en-US" dirty="0" err="1"/>
              <a:t>appsettings.json</a:t>
            </a:r>
            <a:r>
              <a:rPr lang="en-US" dirty="0"/>
              <a:t> file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40D3B-3CA0-4800-B15C-8491C4CA11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609600"/>
            <a:ext cx="83058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"Logging":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LogLevel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"Default": "Warning"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AllowedHosts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"*",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ConnectionStrings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"Server=(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localdb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)\\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mssqllocaldb;Database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=Movies;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Trusted_Connection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True;MultipleActiveResultSets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"Logging":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LogLevel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"Default": "Warning"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AllowedHosts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"*",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ConnectionStrings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"Server=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localhost;Database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=Movies;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Trusted_Connection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True;MultipleActiveResultSets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B6634-6A29-44BA-9034-57E44818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CEC9-638B-49CA-B736-604554D6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628FF-AAC7-4F9B-99B2-341E4EA1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838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574E-4AD8-4586-BA5B-075DA33E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Code that enables dependency injection </a:t>
            </a:r>
            <a:br>
              <a:rPr lang="en-US" dirty="0"/>
            </a:br>
            <a:r>
              <a:rPr lang="en-US" dirty="0"/>
              <a:t>for DbContext objects (older .NET 5 version)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32829-329C-469B-B0C5-FBA217080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467600" cy="47837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Microsoft.Extensions.Hosting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Microsoft.EntityFrameworkCore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MovieList.Models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Startup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Startup(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IConfiguration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configuration)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Configuration = configuration;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IConfiguration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Configuration { get;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ConfigureServices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IServiceCollection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services)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...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services.AddDbContext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&gt;(options =&gt;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options.UseSqlServer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Configuration.GetConnectionString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1AC49-7173-415F-9BC7-18108A91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D240F-7CF8-4657-9EB7-39D70CCD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54C0A-C437-4826-90A2-BCC4E739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201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116B-49C0-49EA-A9BA-96CBC03A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Package Manager Console (PMC) window</a:t>
            </a:r>
          </a:p>
        </p:txBody>
      </p:sp>
      <p:pic>
        <p:nvPicPr>
          <p:cNvPr id="8" name="Content Placeholder 7" descr="Refer to page 143 in textbook">
            <a:extLst>
              <a:ext uri="{FF2B5EF4-FFF2-40B4-BE49-F238E27FC236}">
                <a16:creationId xmlns:a16="http://schemas.microsoft.com/office/drawing/2014/main" id="{AEE93C6B-C2BE-4BDA-815A-280FD0B9F86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3000"/>
            <a:ext cx="6761050" cy="159119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675FF-84B3-4407-BD35-9F5F73774A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9718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open the PMC window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the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Tools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NuGet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Package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Manager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Manager Console command.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81C38-5C01-4077-B303-AF8BED22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BC483-7842-43ED-8019-E8CEFA21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17593-BC4B-4773-BCD5-7700611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10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80F8-8369-4E4D-A93F-C3362A39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91400" cy="738664"/>
          </a:xfrm>
        </p:spPr>
        <p:txBody>
          <a:bodyPr/>
          <a:lstStyle/>
          <a:p>
            <a:r>
              <a:rPr lang="en-US" dirty="0"/>
              <a:t>How to create the Movies database from your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C911F-90D6-4A29-B7FF-9015AF6783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20000" cy="4876800"/>
          </a:xfrm>
        </p:spPr>
        <p:txBody>
          <a:bodyPr/>
          <a:lstStyle/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Make sure the connection string and dependency injection are set up.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“Add-Migration Initial” in the PMC at the command prompt and press Enter. 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“Update-Database” at the command prompt and press Enter.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F42E-ACCB-43E1-A6AC-5532756F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8468-8273-4006-8EBE-111353B1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DA7D-502E-4AE3-B0EB-9CF4C458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257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DE17-2BAC-4315-8E6C-B4D6782F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Up() method of the Initial migration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4329B-8EF1-49DA-B5BF-EC5F7C05B8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protected override void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CreateTable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"Movies"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columns: table =&gt; new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&lt;int&gt;(nullable: false)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.Annotation("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SqlServer:ValueGenerationStrategy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SqlServerValueGenerationStrategy.IdentityColumn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Name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&lt;string&gt;(nullable: false),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Year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&lt;int&gt;(nullable: false),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Rating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&lt;int&gt;(nullable: false)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constraints: table =&gt;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table.PrimaryKey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PK_Movies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x =&gt;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InsertData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table: "Movies",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columns: new[] {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"Name", "Rating", "Year"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values: new object[] { 1, "Casablanca", 5, 1942 });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// code that inserts the other two movies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6A448-5BD6-46BC-9C7B-86968E06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02D0-6911-43B9-8C2A-B9B8B827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35EC9-9794-45E6-B89F-A06DD531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95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615D-0C38-424F-8261-BFAAF53DA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How to view the database once it’s created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AC43D-FD2E-4420-9BB1-0B8D501DD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20000" cy="4876800"/>
          </a:xfrm>
        </p:spPr>
        <p:txBody>
          <a:bodyPr/>
          <a:lstStyle/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Choose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View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SQL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Server Object Explorer command in Visual Studio.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Expand the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localdb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)\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MSSQLLocalDB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node, then expand the Databases node.</a:t>
            </a:r>
          </a:p>
          <a:p>
            <a:pPr marL="971550" marR="347345" lvl="1" indent="-514350">
              <a:spcBef>
                <a:spcPts val="0"/>
              </a:spcBef>
              <a:spcAft>
                <a:spcPts val="300"/>
              </a:spcAft>
              <a:buFont typeface="+mj-lt"/>
              <a:buAutoNum type="romanLcPeriod"/>
              <a:tabLst>
                <a:tab pos="347345" algn="l"/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 just localhost for full SQL Server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Expand the Movies node, then expand the Tables node.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view the table columns, expand a table node and then its Columns node.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view the table data, right-click a table and select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ViewData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command.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30E05-35BC-4FB6-9C36-1480445E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3F9A-F3B3-4BE2-A21E-C00EAFE1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3BD97-C1FC-4404-8D5B-5C8BBA64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923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17D4-4EDB-49CA-B47A-1648B5E9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LINQ methods that build or execute </a:t>
            </a:r>
            <a:br>
              <a:rPr lang="en-US" dirty="0"/>
            </a:br>
            <a:r>
              <a:rPr lang="en-US" dirty="0"/>
              <a:t>a query expression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AAF5-ED92-430F-AB35-9FF92EB8E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7075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FirstOrDefault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method of the </a:t>
            </a:r>
            <a:r>
              <a:rPr lang="en-US" sz="2400" b="1" dirty="0" err="1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&lt;Entity&gt; class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gets an entity by its id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3F6B-2759-460B-A859-4F4FCFD7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4FBA-49ED-476F-8C09-4A3A135E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2DD3A-3577-456C-BD83-BB48F342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415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426B-F2D5-4F3A-9C13-2A93E05E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467600" cy="738664"/>
          </a:xfrm>
        </p:spPr>
        <p:txBody>
          <a:bodyPr/>
          <a:lstStyle/>
          <a:p>
            <a:r>
              <a:rPr lang="en-US" dirty="0"/>
              <a:t>A using directive that imports the LINQ namespace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F4301-F358-466D-BFE3-322048A6F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System.Linq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DbContext property that’s used in the examples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 { get; set; }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builds a query expression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IQueryable&lt;Movie&gt; query 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executes a query expression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List&lt;Movie&gt; movies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query.ToList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builds </a:t>
            </a:r>
            <a:r>
              <a:rPr lang="en-US" sz="2400" b="1" u="sng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executes a query expression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movies 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44BA1-2E80-4CD0-BA99-02F45150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97305-CA61-4B8A-BF76-0F840381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5BF6-5260-4A89-A90F-752A2308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002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73B6-530A-4A4A-B1E3-D7151D78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Code that builds a query expression </a:t>
            </a:r>
            <a:br>
              <a:rPr lang="en-US" dirty="0"/>
            </a:br>
            <a:r>
              <a:rPr lang="en-US" dirty="0"/>
              <a:t>by chaining LINQ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6F5C-628E-4B5E-803D-5EF4064C90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7075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query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context.Movies.Where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m.Rating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3)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1FF83-F376-41D4-B659-0A6921FB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BA7E0-0853-4C05-8C75-1654F995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0820-9694-4016-B9D6-71E615F3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979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7C29-433C-46F9-842C-3FFB2B7C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Code that builds a query expression </a:t>
            </a:r>
            <a:br>
              <a:rPr lang="en-US" dirty="0"/>
            </a:br>
            <a:r>
              <a:rPr lang="en-US" dirty="0"/>
              <a:t>on multiple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BDB63-B412-4A2D-B91A-26C303613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IQueryable&lt;Movie&gt; query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query.Where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m.Year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1970);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query.Where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m.Rating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3);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query.OrderBy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0222D-1F2F-41F8-A518-4102D38C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AD41B-9208-4180-942E-200ECF17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3347D-294C-46D4-B1C2-19D28D89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473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3D06-DC41-42D4-8089-ACD59123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Three ways to select a movie by its 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654FC-0B55-417E-B1F0-FF592560C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id = 1;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context.Movies.Where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 =&gt;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id).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FirstOrDefault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context.Movies.FirstOrDefault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id);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context.Movies.Find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6BC-30E8-4F9E-85C9-A4DDD08D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5CDE-E648-4683-9CB1-0C23DA1B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90EE6-ED9F-48A2-97FE-6F9F48F2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005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0B2C-60F3-48F3-8F04-B041E3F9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Three methods of the </a:t>
            </a:r>
            <a:r>
              <a:rPr lang="en-US" dirty="0" err="1"/>
              <a:t>DbSet</a:t>
            </a:r>
            <a:r>
              <a:rPr lang="en-US" dirty="0"/>
              <a:t>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357E3-D27D-470D-BB6F-1D3158F5C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method of the DbContext class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SaveChanges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using directive for the EF Core namespace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Microsoft.EntityFrameworkCore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EAF8-DD77-43BD-B548-A57BE94C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A97E8-98CC-4B19-8896-FAAF55F8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49EA0-5E2A-4A39-91D7-80DF7327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0394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BEA6-3484-47F4-B67F-1E0001C5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Code that adds a new movie to the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9275-A9CF-4353-B935-087EF1FE84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 = new Movie { Name = "Taxi Driver",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Year = 1976,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Rating =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};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context.Movies.Add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context.SaveChanges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CD092-E902-4ED7-9844-93D6AFB9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53BD-A5C5-4655-A4E3-A0BA15F3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20FD-A0FF-49B2-B03E-37907C04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285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B6B4-E6F0-44C3-A880-8428B653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appsettings.json</a:t>
            </a:r>
            <a:r>
              <a:rPr lang="en-US" dirty="0"/>
              <a:t> file that displays </a:t>
            </a:r>
            <a:br>
              <a:rPr lang="en-US" dirty="0"/>
            </a:br>
            <a:r>
              <a:rPr lang="en-US" dirty="0"/>
              <a:t>the generated SQL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D064C-E76C-46D1-9B05-0D29060F67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7075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"Logging":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LogLevel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"Default": "Information",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"Microsoft": "Warning",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Microsoft.Hosting.Lifetime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"Information",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Microsoft.EntityFrameworkCore.Database.Command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  "Debug"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B8239-147F-4BE9-8C12-3B94583A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1D48B-97D2-43D8-BC16-0E1342DD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B5505-23CA-48DD-A28F-D6CD1753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502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3CB6-0854-4AD8-A13E-A5CEF1C2D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Code that selects movies from the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52CE6-A267-42E4-BEC6-F1A54B3C2A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962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movies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generated SQL statement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[m].[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[m].[Name], [m].[Rating], [m].[Year]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[Movies] AS [m]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[m].[Name]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ADA2-C0D3-4451-8B94-E6ECCD89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062B8-1278-4AFA-87C6-B2A1AFDE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CD567-7ADF-4A3C-B915-A27AB92C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685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1206-5564-4BF3-A5E3-90BA3831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Home 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C9F4C-D907-4699-A401-37FE85EF22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9906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System.Linq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Microsoft.AspNetCore.Mvc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MovieList.Models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MovieList.Controllers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class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HomeController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Controller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 { get; set; }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HomeController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ctx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 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ctx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Index()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var movies 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context.Movies.OrderBy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 =&gt;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View(movies);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BD78B-3FF5-416F-8A99-8E1A5F01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53EE-4758-4E80-9F77-BF2ABF79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EDCDA-C79E-4654-9C71-B4A5676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0150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1B39-E847-427E-81ED-1AA3C797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Home/Index view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A0C13-D481-4059-BB12-DA56A0A40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@model List&lt;Movie&gt;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"My Movies";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&lt;h2&gt;Movie List&lt;/h2&gt;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&lt;a asp-controller="Movie" asp-action="Add"&gt;Add New Movie&lt;/a&gt;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&lt;table class="table table-bordered table-striped"&gt;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&gt;Name&lt;/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&gt;Year&lt;/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&gt;Rating&lt;/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36DF7-5760-4EFD-A0E0-F314038D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6BC63-A46B-49F4-AC82-5E30BB9A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D72BD-BEC5-4ACE-A37A-37575966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4902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71EC-B1FA-4364-86AC-4FE23682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Home/Index view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A5CC1-7A30-4419-B1ED-788D9DD65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741363" algn="l"/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@foreach (var movie in Model) {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movie.Year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movie.Rating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&lt;a asp-controller="Movie" asp-action="Edit"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asp-route-id="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"&gt;Edit&lt;/a&gt;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&lt;a asp-controller="Movie" asp-action="Delete"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asp-route-id="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"&gt;Delete&lt;/a&gt;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&lt;/table&gt;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419D-D5E4-446A-9964-5C566551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93E7-17B9-4D2B-B14A-7C1205BB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5CE2-D817-4DC6-97C7-B9594D25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1331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9705-83C7-4E50-BCDD-79CE05F0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 controller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07A3-CF05-44A2-A823-290DA472A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MovieList.Controllers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class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MovieController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Controller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 { get; set; }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MovieController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ctx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context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ctx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Add()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"Add";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View(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"Edit", new Movie()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Edit(int id)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"Edit";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var movie =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context.Movies.Find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(id)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View(movie);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F53F1-ABBA-4D32-8A73-BB56B5F9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C2144-EF6E-47B1-8AC2-3DE88738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AF86-7697-4917-880C-ADE586C7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117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3ECC-D41A-4B2B-8C75-8CAFFDD9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 controller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9D5A0-6A13-406E-9B71-59BCBF922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862013" algn="l"/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Edit(Movie movie)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ModelState.IsValid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if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0)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context.Movies.Add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else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context.Movies.Update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context.SaveChanges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return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RedirectToAction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("Index", "Home");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 else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0) ? "Add": "Edit";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return View(movie);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Delete(int id)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var movie =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context.Movies.Find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(id)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View(movie);</a:t>
            </a:r>
          </a:p>
          <a:p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}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03DA0-DA73-48C0-A427-4A9670C5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9CD22-F883-4E98-8177-F8E1303E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BFAE6-7398-42E0-AA99-9160550B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0169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EBC8-6C2A-4416-81DE-35EC3AE3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 controller (part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5DC95-9F39-4D28-8721-31FE083288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862013" algn="l"/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Delete(Movie movie)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context.Movies.Remove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context.SaveChanges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return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RedirectToAction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("Index", "Home");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5CB4F-F432-44D5-9240-7D4832D0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241B-7D50-424C-8571-1F117E79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2AB2-369C-41E5-B93B-8AB42109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7494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F1F9-3E95-4ED8-8050-17E3B41B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Movie/Edit view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BCB1-4550-4B73-884A-7EA7480C6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@model Movie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 title 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" Movie";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title;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&lt;h2&gt;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&lt;/h2&gt;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&lt;form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asp-action="Edit"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asp-validation-summary="All"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class="text-danger"&gt;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class="form-group"&gt;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asp-for="Name"&gt;Name&lt;/label&gt;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&lt;input asp-for="Name" class="form-control"&gt;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968FB-E6F0-4FB9-B9CA-6A2CEE74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0886-35AE-4EC8-AA3F-A2EC98F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DD6A5-3C54-483F-98EB-0D17633E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4374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9D48-A641-4E84-8594-694A18BA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Movie/Edit view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22553-B82E-4739-8755-2D275498F6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6075" marR="0">
              <a:spcBef>
                <a:spcPts val="0"/>
              </a:spcBef>
              <a:spcAft>
                <a:spcPts val="0"/>
              </a:spcAft>
              <a:tabLst>
                <a:tab pos="795338" algn="l"/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&lt;div class="form-group"&gt;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asp-for="Year"&gt;Year&lt;/label&gt;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&lt;input asp-for="Year" class="form-control"&gt;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class="form-group"&gt;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asp-for="Rating"&gt;Rating&lt;/label&gt;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&lt;input asp-for="Rating" class="form-control"&gt;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&lt;input type="hidden" asp-for="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&lt;button type="submit" class="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asp-controller="Home" asp-action="Index"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class="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-primary"&gt;Cancel&lt;/a&gt;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8C1A-5619-4FE9-871F-6DC6EC0F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3CCC4-7B78-4806-9BAC-104CF026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62C1D-3D7B-4B87-870A-8F1FC99A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621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01AB-D35C-42E4-8FDF-53FDCCB6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Movie/Delete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3DF23-9B65-4CDA-A2A3-D5DAE6D49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@model Movie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"Delete Movie";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&lt;h2&gt;Confirm Deletion&lt;/h2&gt;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&lt;h3&gt;@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(@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Model.Year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)&lt;/h3&gt;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&lt;form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asp-action="Delete"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&lt;input type="hidden" asp-for="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&lt;button type="submit" class="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Delete&lt;/button&gt;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asp-controller="Home" asp-action="Index"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class="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-primary"&gt;Cancel&lt;/a&gt;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1994-7E3B-43E4-96DA-71C97733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E6E3B-828E-4209-A805-16B2C458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D7F18-58E1-4953-9BE5-B9EBFB87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9906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14DD-B8E5-4A1C-AAD3-DD57D016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Genre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2050A-BBB5-469D-9BDC-A395005E3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Genre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string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string Name { get; set; }</a:t>
            </a:r>
          </a:p>
          <a:p>
            <a:pPr marL="344488" indent="-344488"/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}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13C6D-1DA1-419C-967D-332F1EC7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29D10-E50F-4564-92EF-74C37046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217F-9E7F-4436-95D0-1A754B02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328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52C7-848C-449D-81C3-7198E216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How to add a Genre property to the Movie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CFAF8-4B04-48E0-B529-022BCA861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Movie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/*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Year, and Rating properties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same as before */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[Required(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"Please enter a genre.")]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Genre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AB39B-306A-49FC-B8C7-4822D075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EF8C7-89F3-4908-B21E-6EF61094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234F-779A-4389-A81E-FDD40FD9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2541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A710-5552-421A-8C6C-460529B8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How to specify a foreign key property </a:t>
            </a:r>
            <a:br>
              <a:rPr lang="en-US" dirty="0"/>
            </a:br>
            <a:r>
              <a:rPr lang="en-US" dirty="0"/>
              <a:t>when adding a Genre property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AEDA2-B81B-48D6-8422-FD4C143C1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5551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Movie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/*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Year, and Rating properties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same as before */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[Required(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"Please enter a genre.")]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string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Genre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get; set;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63D26-CC44-4A04-A0D2-142D9A0D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BCED8-A51F-43E6-9DB9-C6600347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2D243-BD92-4324-AAE4-64B45359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4425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6383-E96E-4F83-9C06-F04347C9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MovieContext</a:t>
            </a:r>
            <a:r>
              <a:rPr lang="en-US" dirty="0"/>
              <a:t> class that adds the Genre model with initial data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1D16-A046-424D-AA64-17B109DE8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DbContextOptions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MovieContext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options)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: base(options)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&lt;Movie&gt; Movies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DbSet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&lt;Genre&gt; Genres { get; set; }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protected override void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OnModelCreating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base.OnModelCreating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&lt;Genre&gt;().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HasData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"A", Name = "Action"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"C", Name = "Comedy"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"D", Name = "Drama"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"H", Name = "Horror"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"M", Name = "Musical"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"R", Name =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RomCom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Genre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"S", Name =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SciFi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);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518D5-7900-4EE9-AEAF-0AACB100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B339E-94A1-414F-8A0E-E61F8B4C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A3082-CA4D-4BEF-B1C7-A1F1A644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8214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7D49-C9CF-45F7-AD65-4F064316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MovieContext</a:t>
            </a:r>
            <a:r>
              <a:rPr lang="en-US" dirty="0"/>
              <a:t> class that adds the Genre model with initial data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79D47-4FFD-41B1-ADCA-B5AC78DA9F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862013" algn="l"/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modelBuilder.Entity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&lt;Movie&gt;().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HasData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Movie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1, Name = "Casablanca",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Year = 1942, Rating = 5,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"D"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Movie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2, Name = "Wonder Woman",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Year = 2017, Rating = 3,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"A"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new Movie {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3, Name = "Moonstruck",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Year = 1988, Rating = 4,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"R"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);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E3688-C62E-4F45-BA45-C1C0D060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F692E-4160-45FD-81D3-9A2ABEF42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51EBD-9229-4DF4-9593-02B90DDA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872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8104-BDFA-4B9B-B382-E8EF901E1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How to update the database </a:t>
            </a:r>
            <a:br>
              <a:rPr lang="en-US" dirty="0"/>
            </a:br>
            <a:r>
              <a:rPr lang="en-US" dirty="0"/>
              <a:t>with the new Genre model and seed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7047-EBA0-4C1F-9A3F-3C67F88C95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Tools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NuGet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Package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Manager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Manager Console to open the Package Manager Console window.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“Add-Migration Genre” at the command prompt and press Enter.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“Update-Database” at the command prompt and press Enter.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9EFA-6B8B-4275-9C78-D843FB88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204EB-FA7B-423D-BE07-F71391CA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88616-F6C7-42C7-A68C-A1E77635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1415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0FE0-89C9-43B7-A6D7-F48F9544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Some of the code in the Up() method </a:t>
            </a:r>
            <a:br>
              <a:rPr lang="en-US" dirty="0"/>
            </a:br>
            <a:r>
              <a:rPr lang="en-US" dirty="0"/>
              <a:t>of the Genre migration file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5D58D-35FB-409D-8309-1114C7295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6313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protected override void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&lt;string&gt;(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table: "Movies"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nullable: false,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defaultValue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"");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CreateTable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"Genres"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columns: table =&gt; new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&lt;string&gt;(nullable: false),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Name =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&lt;string&gt;(nullable: true)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}, constraints: table =&gt;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table.PrimaryKey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PK_Genres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x =&gt;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26A03-9822-407E-BD88-1BFFF9F6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05D9-DC80-4462-8503-8748F887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FF03-A2DE-438E-80F7-E45DBC0A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6005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4C41-C6DE-420A-A14F-9C994A2D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Some of the code in the Up() method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46AA5-4728-4CA6-9FAC-6FF6553AE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741363" algn="l"/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InsertData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table: "Genres"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columns: new[] {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"Name"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values: new object[,]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"A", "Action"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"C", "Comedy"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"D", "Drama"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"H", "Horror"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"M", "Musical"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"R",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RomCom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 "S",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SciFi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UpdateData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table: "Movies"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keyColumn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keyValue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column: 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value: "D"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// code that updates the other two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4C81B-B7D2-4127-BF08-FE2D3D09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8455-175F-4F8C-A868-A079B9BD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820DE-2D3E-4D37-946F-664E68E9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2459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4B3B-A773-4D14-80C6-1D3C5FEA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Some of the code in the Up() method (part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EBA8C-2332-437E-9466-6C6A1386D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46075" marR="0">
              <a:spcBef>
                <a:spcPts val="0"/>
              </a:spcBef>
              <a:spcAft>
                <a:spcPts val="0"/>
              </a:spcAft>
              <a:tabLst>
                <a:tab pos="795338" algn="l"/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migrationBuilder.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AddForeignKey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name: 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FK_Movies_Genres_GenreId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table: "Movies"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column: 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principalTable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"Genres"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principalColumn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onDelete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ReferentialAction.Cascade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7EE10-D0B2-48A7-AA75-EAED1E08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30AAC-6EDE-479B-A24B-C03EE395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66EAF-9AE8-46E1-97F2-B6F640A7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753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7EF4-AE89-4DFA-BB29-7A75C45F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Another LINQ method that builds </a:t>
            </a:r>
            <a:br>
              <a:rPr lang="en-US" dirty="0"/>
            </a:br>
            <a:r>
              <a:rPr lang="en-US" dirty="0"/>
              <a:t>a query expression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71F40-9E31-441A-8422-B21AC1D83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543800" cy="455512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Index() action method of the Home controller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Microsoft.EntityFrameworkCore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HomeController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Controller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Index()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var movies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.Include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m.Genre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OrderBy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View(movies);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6888C-3029-4465-9928-4B3EF60B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E6545-9872-4CE5-9F4A-F44E18D1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48A3F-26D4-4E9E-952D-5412E4C1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5712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09DA-EC56-43BC-8F03-DE773F8B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&lt;table&gt; element of the Home/Index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E8E6F-99DF-45AA-A581-BDDE292C18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20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&lt;table class="table table-bordered table-striped"&gt;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&gt;Name&lt;/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&gt;Year&lt;/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&gt;Genre&lt;/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&gt;Rating&lt;/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@foreach (var movie in Model)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movie.Year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&lt;td&gt;@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movie.Genre.Name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movie.Rating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&lt;td&gt;&lt;!-- Edit/Delete links same as before --&gt;&lt;/td&gt;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&lt;/table&gt;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0672-E475-4EAB-9571-7EECB105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84096-85B4-4042-9455-E07ABCE2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77FA-C8A7-42F1-BD24-EE07BCE3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7870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B3FC-8943-43BE-9CA4-25AB776A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Add() action method of the Movie 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F2C4C-00A3-4FBE-8261-6D36842E1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"Add";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ViewBag.Genres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context.Genres.OrderBy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 =&gt;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View("Edit", new Movie());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60C2-120B-4120-98B5-CF1B23B8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74800-DADD-476F-B1C2-30292185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C542-F1EA-42B4-9EC1-7B2F920B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4321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F2A1-40B1-49C3-B378-C8FA0F84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The Edit() action method of the Movie controller </a:t>
            </a:r>
            <a:br>
              <a:rPr lang="en-US" dirty="0"/>
            </a:br>
            <a:r>
              <a:rPr lang="en-US" dirty="0"/>
              <a:t>for GET requests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F63D-E2EF-47D1-BA04-07569A04FC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HttpGet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Edit(int id)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"Edit";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ViewBag.Genres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context.Genres.OrderBy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 =&gt;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var movie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context.Movies.Find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(id);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View(movie);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FBF38-8106-426C-AC23-D78E9D1C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8AD15-96DF-4F0F-ACE1-CEE3DB3B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EE897-4348-4D50-8A7A-1E0B7378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1031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18FD-5452-47C2-B3C3-13A826B9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The Edit() action method of the Movie controller </a:t>
            </a:r>
            <a:br>
              <a:rPr lang="en-US" dirty="0"/>
            </a:br>
            <a:r>
              <a:rPr lang="en-US" dirty="0"/>
              <a:t>for POST requests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F7FE6-3F97-4614-A9C1-DEBCF19B01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HttpPost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IActionResult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Edit(Movie movie)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ModelState.IsValid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0)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context.Movies.Add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else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context.Movies.Update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(movie);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context.SaveChanges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RedirectToAction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("Index", "Home");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ViewBag.Action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0) ? "Add": "Edit";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ViewBag.Genres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context.Genres.OrderBy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 =&gt;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ToList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View(movie);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7B33B-5872-4991-9B24-4C184617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481F6-1C78-438D-AD98-38F7614A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9D517-E950-4E34-B156-A2E5E98D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3999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8815-CFFD-4C1A-80B3-F97827A0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form tag of the Movie/Edit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D5780-5606-4274-82CD-8D54A9E17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&lt;form asp-action="Edit"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class="form-group"&gt;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asp-for="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&gt;Genre&lt;/label&gt;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&lt;select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asp-for="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GenreId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class="form-control"&gt;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&lt;option value=""&gt;select a genre&lt;/option&gt;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@foreach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Genre g in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ViewBag.Genres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&lt;option value="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g.GenreId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&lt;/option&gt;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&lt;/select&gt;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...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91F4F-8A11-484F-AB36-8418FFB3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C0283-F88B-4371-B3B8-D372982A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3E3B3-A9B8-4A26-A122-ABF0F912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5630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001B-CAE7-4E88-A422-FEB0EF92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there you have it…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A5D58-6F9C-4C63-8C70-0CEAFC7C60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 this point you are now equipped with a very solid: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“Template” for basic database-drive ASP.NET Core MVC web apps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i.e. many web apps take a similar form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glimpse into the process of migrating new features into your data/object model</a:t>
            </a:r>
            <a:endParaRPr lang="en-CA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4695-1A17-49B1-B5F3-949273D7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BE423-208E-45B1-A122-74E6DFD4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072FC-C0CA-44BF-8044-8F993C29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0756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B4E8-D804-435B-B2CF-3010276D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default URLs of an MVC app</a:t>
            </a:r>
          </a:p>
        </p:txBody>
      </p:sp>
      <p:pic>
        <p:nvPicPr>
          <p:cNvPr id="9" name="Content Placeholder 8" descr="Refer to page 167 in textbook">
            <a:extLst>
              <a:ext uri="{FF2B5EF4-FFF2-40B4-BE49-F238E27FC236}">
                <a16:creationId xmlns:a16="http://schemas.microsoft.com/office/drawing/2014/main" id="{8CFA88C0-A8A0-4B28-A7A0-3094841E21E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6716" y="1126615"/>
            <a:ext cx="6730567" cy="1572904"/>
          </a:xfrm>
          <a:prstGeom prst="rect">
            <a:avLst/>
          </a:prstGeom>
        </p:spPr>
      </p:pic>
      <p:pic>
        <p:nvPicPr>
          <p:cNvPr id="10" name="Content Placeholder 9" descr="Refer to page 167 in textbook">
            <a:extLst>
              <a:ext uri="{FF2B5EF4-FFF2-40B4-BE49-F238E27FC236}">
                <a16:creationId xmlns:a16="http://schemas.microsoft.com/office/drawing/2014/main" id="{72E1B66D-F90C-421A-876A-B18FE6F8AF5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06716" y="3012973"/>
            <a:ext cx="6754953" cy="153022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DE91D0-791B-4F0F-9EC7-16579EAF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A16433-7BB0-4839-8D75-5F150429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214718-86C8-4FD5-A321-23EB8195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78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493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334F-8C6B-4D1B-BC45-5AEB4A0A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ConfigureServices</a:t>
            </a:r>
            <a:r>
              <a:rPr lang="en-US" dirty="0"/>
              <a:t>() method to make URLs lowercase with a trailing slash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1D3F4-26A6-4730-9495-3A5C84248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ConfigureServices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IServiceCollection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services)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services.AddRouting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(options =&gt;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options.LowercaseUrls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true;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options.AppendTrailingSlash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true;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</a:p>
          <a:p>
            <a:pPr marL="344488" indent="-344488"/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}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21C54-83A6-4560-BDA6-8E126631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4E519-EED3-4491-9D4B-184347F5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97D14-AF9A-428F-AE2D-2FA9F3DF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7929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F580-264A-4D8F-8CA4-50F1DE95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reconfigured URLs</a:t>
            </a:r>
          </a:p>
        </p:txBody>
      </p:sp>
      <p:pic>
        <p:nvPicPr>
          <p:cNvPr id="9" name="Content Placeholder 8" descr="Refer to page 167 in textbook">
            <a:extLst>
              <a:ext uri="{FF2B5EF4-FFF2-40B4-BE49-F238E27FC236}">
                <a16:creationId xmlns:a16="http://schemas.microsoft.com/office/drawing/2014/main" id="{135925DD-009E-4A9F-8080-FC4DD8F2517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60992" y="1151628"/>
            <a:ext cx="6822015" cy="1390008"/>
          </a:xfrm>
          <a:prstGeom prst="rect">
            <a:avLst/>
          </a:prstGeom>
        </p:spPr>
      </p:pic>
      <p:pic>
        <p:nvPicPr>
          <p:cNvPr id="10" name="Content Placeholder 9" descr="Refer to page 167 in textbook">
            <a:extLst>
              <a:ext uri="{FF2B5EF4-FFF2-40B4-BE49-F238E27FC236}">
                <a16:creationId xmlns:a16="http://schemas.microsoft.com/office/drawing/2014/main" id="{9ABA8F7C-CD62-473A-A041-BB13D488373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160992" y="2931850"/>
            <a:ext cx="6803726" cy="146316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B300F2-875D-49E0-9F2A-D9BE39C8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D61BF-0A92-4EED-ABD2-4344C14F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5B6A87-F29B-4042-A62A-8588AC10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80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433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0CB9-00FA-40E1-846C-EABD70D3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2936"/>
            <a:ext cx="7315200" cy="738664"/>
          </a:xfrm>
        </p:spPr>
        <p:txBody>
          <a:bodyPr/>
          <a:lstStyle/>
          <a:p>
            <a:r>
              <a:rPr lang="en-US" dirty="0"/>
              <a:t>The Edit page with numeric ID values only </a:t>
            </a:r>
            <a:br>
              <a:rPr lang="en-US" dirty="0"/>
            </a:br>
            <a:r>
              <a:rPr lang="en-US" dirty="0"/>
              <a:t>in the URL</a:t>
            </a:r>
          </a:p>
        </p:txBody>
      </p:sp>
      <p:pic>
        <p:nvPicPr>
          <p:cNvPr id="9" name="Content Placeholder 8" descr="Refer to page 169 in textbook">
            <a:extLst>
              <a:ext uri="{FF2B5EF4-FFF2-40B4-BE49-F238E27FC236}">
                <a16:creationId xmlns:a16="http://schemas.microsoft.com/office/drawing/2014/main" id="{70B9F487-835F-4061-A1D5-B7903E074E3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3295" y="1490344"/>
            <a:ext cx="6657409" cy="1481456"/>
          </a:xfrm>
          <a:prstGeom prst="rect">
            <a:avLst/>
          </a:prstGeom>
        </p:spPr>
      </p:pic>
      <p:pic>
        <p:nvPicPr>
          <p:cNvPr id="10" name="Content Placeholder 9" descr="Refer to page 169 in textbook">
            <a:extLst>
              <a:ext uri="{FF2B5EF4-FFF2-40B4-BE49-F238E27FC236}">
                <a16:creationId xmlns:a16="http://schemas.microsoft.com/office/drawing/2014/main" id="{993F6F13-ED31-40E0-88D1-D95DB47EBFC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43295" y="3276600"/>
            <a:ext cx="6681795" cy="146316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F43472-6CF2-4092-B01F-032AD740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9CCA17-5DF9-47A9-85D6-01E4C0FD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011155-B0BD-4E84-A126-C1B80291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81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406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7BC-FF57-4E35-92BB-4FE748CEC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lang="en-US" dirty="0"/>
              <a:t>The default route updated to include </a:t>
            </a:r>
            <a:br>
              <a:rPr lang="en-US" dirty="0"/>
            </a:br>
            <a:r>
              <a:rPr lang="en-US" dirty="0"/>
              <a:t>a second optional parameter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7A8B7-C814-497A-A668-2223CD18A4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88477"/>
            <a:ext cx="7391400" cy="4572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app.UseEndpoints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(endpoints =&gt;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endpoints.MapControllerRoute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name: "default",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pattern: "{controller=Home}/{action=Index}/{id?}/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{slug?}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read-only property named Slug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Movie class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string Slug =&gt;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Name?.Replace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 ', '-').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+ '-' +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Year?.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C9FA8-1E06-4D8D-A7BC-DFF12A7C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67221-0901-4803-9D8C-71B3C6D7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2302-DEE7-4E9A-9F5D-3D18AC0E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5978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FB90-081A-47D5-88D0-1AFE75CB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Edit/Delete links in the Home/Index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61F74-8165-4AAA-9DE3-B82E2D1DCA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&lt;a asp-controller="Movie" asp-action="Edit"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asp-route-id="@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asp-route-slug="@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movie.Slug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&gt;Edit&lt;/a&gt;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&lt;a asp-controller="Movie" asp-action="Delete"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asp-route-id="@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movie.MovieId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asp-route-slug="@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movie.Slug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&gt;Delete&lt;/a&gt;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243DA-7411-4849-8A56-2B09D098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3E09F-9CFB-4E71-881A-A47CCBDD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8A06-D509-458D-87C5-3886012E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1328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B585-DBA5-4EB8-8358-C10E15AB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Edit page with a slug in the URL</a:t>
            </a:r>
          </a:p>
        </p:txBody>
      </p:sp>
      <p:pic>
        <p:nvPicPr>
          <p:cNvPr id="9" name="Content Placeholder 8" descr="Refer to page 169 in textbook">
            <a:extLst>
              <a:ext uri="{FF2B5EF4-FFF2-40B4-BE49-F238E27FC236}">
                <a16:creationId xmlns:a16="http://schemas.microsoft.com/office/drawing/2014/main" id="{0CA6709F-1207-4DB3-9DCE-0C18573069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56442" y="1143000"/>
            <a:ext cx="7273158" cy="1286367"/>
          </a:xfrm>
          <a:prstGeom prst="rect">
            <a:avLst/>
          </a:prstGeom>
        </p:spPr>
      </p:pic>
      <p:pic>
        <p:nvPicPr>
          <p:cNvPr id="10" name="Content Placeholder 9" descr="Refer to page 169 in textbook">
            <a:extLst>
              <a:ext uri="{FF2B5EF4-FFF2-40B4-BE49-F238E27FC236}">
                <a16:creationId xmlns:a16="http://schemas.microsoft.com/office/drawing/2014/main" id="{B39C93EC-126D-4255-B2C0-55726238D44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59906" y="2794961"/>
            <a:ext cx="7285351" cy="126807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011349-0616-4F5D-80BB-4DF56976B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D5202D-E0FA-4F42-84EF-0CDD1332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908F59-2F36-42ED-801C-1F241590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C4,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84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664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4758</TotalTime>
  <Words>7457</Words>
  <Application>Microsoft Office PowerPoint</Application>
  <PresentationFormat>On-screen Show (4:3)</PresentationFormat>
  <Paragraphs>1104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0" baseType="lpstr">
      <vt:lpstr>Arial</vt:lpstr>
      <vt:lpstr>Arial Narrow</vt:lpstr>
      <vt:lpstr>Courier New</vt:lpstr>
      <vt:lpstr>Symbol</vt:lpstr>
      <vt:lpstr>Times New Roman</vt:lpstr>
      <vt:lpstr>Master slides_with_titles_logo</vt:lpstr>
      <vt:lpstr>Chapter 4</vt:lpstr>
      <vt:lpstr>In this chapter…</vt:lpstr>
      <vt:lpstr>The basic idea</vt:lpstr>
      <vt:lpstr>The Movie List page of the Movie List app</vt:lpstr>
      <vt:lpstr>The Add Movie page of the Movie List app</vt:lpstr>
      <vt:lpstr>The Edit Movie page of the Movie List app</vt:lpstr>
      <vt:lpstr>The Confirm Deletion page of the Movie List app</vt:lpstr>
      <vt:lpstr>Some validation errors…</vt:lpstr>
      <vt:lpstr>Putting this all together…</vt:lpstr>
      <vt:lpstr>Resources &amp; Representations (HTML views)</vt:lpstr>
      <vt:lpstr>Interactions with the “all Movies” resource</vt:lpstr>
      <vt:lpstr>Interactions with the “all Movies” resource</vt:lpstr>
      <vt:lpstr>Interactions with the “all Movies” resource</vt:lpstr>
      <vt:lpstr>Interactions with a single “Movie” resource</vt:lpstr>
      <vt:lpstr>Interactions with a single “Movie” resource</vt:lpstr>
      <vt:lpstr>But…</vt:lpstr>
      <vt:lpstr>Next: a word of caution</vt:lpstr>
      <vt:lpstr>What is EF Core?</vt:lpstr>
      <vt:lpstr>Now…</vt:lpstr>
      <vt:lpstr>The high-level steps for basic version</vt:lpstr>
      <vt:lpstr>The high-level steps continued</vt:lpstr>
      <vt:lpstr>So why both a MovieController and MoviesController?</vt:lpstr>
      <vt:lpstr>Resources drive your MVC project structure</vt:lpstr>
      <vt:lpstr>Also, note…</vt:lpstr>
      <vt:lpstr>We’ll develop this sample in 2 stages</vt:lpstr>
      <vt:lpstr>But..</vt:lpstr>
      <vt:lpstr>Now..</vt:lpstr>
      <vt:lpstr>The Solution Explorer for the Movie List app</vt:lpstr>
      <vt:lpstr>Folders in the Movie List app</vt:lpstr>
      <vt:lpstr>How to open the NuGet Package Manager</vt:lpstr>
      <vt:lpstr>How to install the NuGet packages for EF Core</vt:lpstr>
      <vt:lpstr>Three key classes provided by EF Core</vt:lpstr>
      <vt:lpstr>A MovieContext class that inherits  the DbContext class</vt:lpstr>
      <vt:lpstr>A Movie class with a property whose value  is generated by the database</vt:lpstr>
      <vt:lpstr>One method of the DbContext class</vt:lpstr>
      <vt:lpstr>A MovieContext class that seeds initial Movie data (part 1)</vt:lpstr>
      <vt:lpstr>A MovieContext class that seeds initial Movie data (part 2)</vt:lpstr>
      <vt:lpstr>A connection string in the appsettings.json file </vt:lpstr>
      <vt:lpstr>Code that enables dependency injection  for DbContext objects (older .NET 5 version)</vt:lpstr>
      <vt:lpstr>The Package Manager Console (PMC) window</vt:lpstr>
      <vt:lpstr>How to create the Movies database from your code</vt:lpstr>
      <vt:lpstr>The Up() method of the Initial migration file</vt:lpstr>
      <vt:lpstr>How to view the database once it’s created</vt:lpstr>
      <vt:lpstr>LINQ methods that build or execute  a query expression</vt:lpstr>
      <vt:lpstr>A using directive that imports the LINQ namespace</vt:lpstr>
      <vt:lpstr>Code that builds a query expression  by chaining LINQ methods</vt:lpstr>
      <vt:lpstr>Code that builds a query expression  on multiple lines</vt:lpstr>
      <vt:lpstr>Three ways to select a movie by its id</vt:lpstr>
      <vt:lpstr>Three methods of the DbSet class</vt:lpstr>
      <vt:lpstr>Code that adds a new movie to the database</vt:lpstr>
      <vt:lpstr>An appsettings.json file that displays  the generated SQL statements</vt:lpstr>
      <vt:lpstr>Code that selects movies from the database</vt:lpstr>
      <vt:lpstr>The Home controller</vt:lpstr>
      <vt:lpstr>The Home/Index view (part 1)</vt:lpstr>
      <vt:lpstr>The Home/Index view (part 2)</vt:lpstr>
      <vt:lpstr>The Movie controller (part 1)</vt:lpstr>
      <vt:lpstr>The Movie controller (part 2)</vt:lpstr>
      <vt:lpstr>The Movie controller (part 3)</vt:lpstr>
      <vt:lpstr>The Movie/Edit view (part 1)</vt:lpstr>
      <vt:lpstr>The Movie/Edit view (part 2)</vt:lpstr>
      <vt:lpstr>The Movie/Delete view</vt:lpstr>
      <vt:lpstr>The Genre class</vt:lpstr>
      <vt:lpstr>How to add a Genre property to the Movie class</vt:lpstr>
      <vt:lpstr>How to specify a foreign key property  when adding a Genre property</vt:lpstr>
      <vt:lpstr>A MovieContext class that adds the Genre model with initial data (part 1)</vt:lpstr>
      <vt:lpstr>A MovieContext class that adds the Genre model with initial data (part 2)</vt:lpstr>
      <vt:lpstr>How to update the database  with the new Genre model and seed data</vt:lpstr>
      <vt:lpstr>Some of the code in the Up() method  of the Genre migration file (part 1)</vt:lpstr>
      <vt:lpstr>Some of the code in the Up() method (part 2)</vt:lpstr>
      <vt:lpstr>Some of the code in the Up() method (part 3)</vt:lpstr>
      <vt:lpstr>Another LINQ method that builds  a query expression</vt:lpstr>
      <vt:lpstr>The &lt;table&gt; element of the Home/Index view </vt:lpstr>
      <vt:lpstr>The Add() action method of the Movie controller</vt:lpstr>
      <vt:lpstr>The Edit() action method of the Movie controller  for GET requests</vt:lpstr>
      <vt:lpstr>The Edit() action method of the Movie controller  for POST requests</vt:lpstr>
      <vt:lpstr>The form tag of the Movie/Edit view</vt:lpstr>
      <vt:lpstr>So there you have it…</vt:lpstr>
      <vt:lpstr>The default URLs of an MVC app</vt:lpstr>
      <vt:lpstr>The ConfigureServices() method to make URLs lowercase with a trailing slash</vt:lpstr>
      <vt:lpstr>The reconfigured URLs</vt:lpstr>
      <vt:lpstr>The Edit page with numeric ID values only  in the URL</vt:lpstr>
      <vt:lpstr>The default route updated to include  a second optional parameter</vt:lpstr>
      <vt:lpstr>The Edit/Delete links in the Home/Index view</vt:lpstr>
      <vt:lpstr>The Edit page with a slug in the URL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Peter Madziak</cp:lastModifiedBy>
  <cp:revision>41</cp:revision>
  <cp:lastPrinted>2016-01-14T23:03:16Z</cp:lastPrinted>
  <dcterms:created xsi:type="dcterms:W3CDTF">2019-12-11T22:30:38Z</dcterms:created>
  <dcterms:modified xsi:type="dcterms:W3CDTF">2022-09-14T16:40:09Z</dcterms:modified>
</cp:coreProperties>
</file>