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8" r:id="rId19"/>
    <p:sldId id="339" r:id="rId20"/>
    <p:sldId id="344" r:id="rId21"/>
    <p:sldId id="341" r:id="rId22"/>
    <p:sldId id="340" r:id="rId23"/>
    <p:sldId id="342" r:id="rId24"/>
    <p:sldId id="34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139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A77D-91E5-E4F3-1F36-8ABF1AAC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D4212-9C5D-E0A3-C816-DF8889E3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EF2EF-F365-DC0F-F1B5-434B19B5C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256CD-BB9F-AB34-CD58-2814AA335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7877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588EC-FCE2-CE47-31CA-CFB57688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4DA31-F23F-F6B8-B399-AFD7AE248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5DF12-C64E-4C74-25BB-CD57C5387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1E804-CA2C-0AB6-4945-E7F391D97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91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51379-E9DE-1CFC-E470-078AFFAF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5BA72-BAAC-73D2-EA49-41CC15B56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AA505-CF42-58C2-D8D2-132A7416A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272E4-74EC-858C-836F-780ECD134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2039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F306-D03E-3817-B0B6-5737DFF7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B303B-B625-54BD-181D-7330A1A3E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07E96-7D32-D091-0BD7-A8CBB651F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1370E-D659-269A-CD24-14AA91314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878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EB15-672F-D4B5-236B-4EE76331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F7511-7A4C-DB24-FB74-A51ECFC73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35CD4-A252-446A-04CC-05F0FE84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42F5B-76FA-8223-6B4A-9738A0990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6898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47DA-F17D-8D71-7EA1-11C27BBE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192A7-DC67-0F51-8159-DF77AEF89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B9C84-0CE4-A822-F1CE-11BC1B8E5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FEF6C-79AD-9695-D630-F34F3DE1F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497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285C-0EAE-93C9-CEE7-C7C88159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87FF9-2D64-C349-2880-ABB3E1C2D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0945E-F878-5746-239F-021B75FC4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3C98A-345E-874C-1B21-B2BC97EB6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0185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4E3B-C6AE-E9AD-B8C1-A530E28E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D4273-77A6-EA4A-D464-C181A698B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67DA5-CA4F-4C45-710E-7129DDB53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30E07-223F-5686-52C2-752942A24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493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0EED-0F1A-80F5-30F7-3F46A359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DCFCE-F724-CA97-8990-932047051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FEE73-0637-A234-1018-1A4F971A2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AC99E-3A5A-4478-C507-9EC4AF54B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929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F999-AB50-01E8-553D-65AD9FBF2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9989A-4A25-879A-93C7-6C3A5A18C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AD8BE-BF52-A767-9600-9886EB0DF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8EA6-1071-A87C-80B9-C3A32EBAB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4280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ED6A-EDA0-32EF-EB72-F431DE2B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EFA64-3FEA-C90C-FCCD-E35E73B8F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A631D-648A-205D-3628-D933E620D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B234E-8B60-2225-BD54-BC1698C59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7593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BF1F-07B4-BF25-0265-01FE1AEF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70F39-550D-4204-769C-471D8FEFD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E6597-77E2-745F-31A8-1C070435C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C880A-541F-3FEF-137B-82DD53679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55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D230-A87C-54D7-77DA-0034FF16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18D82-4E0B-E450-4AA1-6786442D4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C30E6-D3A2-F88E-5101-B2B3D562C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9BCB9-B013-6651-BE31-5F795A5DB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0591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8575-9FE0-FC51-B18E-A4E9D7D7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A520F-60EF-0E0F-A919-A7F63C2ED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99D09-1E4B-3C8B-E1DA-F989CA31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2C78A-44D6-349B-0FD6-A273F952B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9963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D63D-05F5-A6A6-BDA0-C2A0DCA6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BBBA7-93EA-1CB7-83AE-11DA483B6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88781-B3EE-D5F4-1041-56F098AFC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94749-05FD-AD8F-9645-17A886D54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5561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4156-4172-47A6-45C2-C2F88BFA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94BA4-B341-994F-B61D-92CBFD7C8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060CB-B1BD-3A6E-E87F-84B1EBD58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71088-C1E0-89D2-2F01-62C69EB54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7861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DA46-082C-1DCD-EFB3-12D4095E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EBE11-DB88-880F-7ABA-C7AC773C9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1B376-DEB8-9638-6ABE-33A6015E4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575A8-8AFD-3A9B-94FE-2070D03C0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301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D8DF-0B77-C6F4-B418-AA5DB5AC1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17DE9-B742-3438-4F51-88D3BD0F2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44115-511E-292E-5BE4-0C1E11597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B31DD-3A16-17F6-60BB-E544DDFAB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399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DD00-8C76-2923-9ED8-BE6942A4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71BD1-51C6-BB6F-9FA6-673A8F513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FA7E4-0769-F1E6-F4BB-AB5B4BFA4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814EC-0888-D361-D567-211411C44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4387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004D-E159-282F-DBAA-200CF19D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772B5-92FA-3DE7-28C4-61EBA16E0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3FBB6-B089-D75D-768C-57CBC4EC3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831DC-F328-0387-D4A6-53584F398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5336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255F-8F92-D7E9-E89A-27AED670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B8A0C-4FF2-B243-7EA0-12A9E98D8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77FD7-B00F-DC0C-8E53-5C3039777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AD8C4-008C-68CB-FD96-7D2727F53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BD9AF-AE78-435B-BDB7-7959223117C3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866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 To TypeScript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347472" y="4354842"/>
            <a:ext cx="12014072" cy="82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9 - TypeScript Class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DDB2-6941-5898-CB84-DA1F6A9D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C9E9-0CED-B41D-EF13-97A904DD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86F42-C7F9-12E4-8E3E-8AB25EFF7226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5F433-E049-1A57-7748-6A3355396CE3}"/>
              </a:ext>
            </a:extLst>
          </p:cNvPr>
          <p:cNvSpPr/>
          <p:nvPr/>
        </p:nvSpPr>
        <p:spPr>
          <a:xfrm>
            <a:off x="-1" y="1221723"/>
            <a:ext cx="27614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Class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BA649-BD4B-BC5F-A8FD-62CED41DED3E}"/>
              </a:ext>
            </a:extLst>
          </p:cNvPr>
          <p:cNvSpPr txBox="1"/>
          <p:nvPr/>
        </p:nvSpPr>
        <p:spPr>
          <a:xfrm>
            <a:off x="162306" y="1672744"/>
            <a:ext cx="11852910" cy="511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class in TypeScript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blueprint for creating objects with properties and methods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While JavaScript introduced class syntax in ES6,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enhances it by adding type annotations, offering compile-time type safety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Why Use Classes in TypeScript?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Organize and structure code for object-oriented programming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Encapsulate properties and methods together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types to ensure correctness and prevent bugs at compile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7C51-EFEC-0B3A-37B7-B904B858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D141C6-B04F-EC40-B7E0-736DE7848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AB25E0-68BC-8891-0AC5-188BFA4AA0F7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657A5-C6E1-2B3B-DA51-E069DAD3B59A}"/>
              </a:ext>
            </a:extLst>
          </p:cNvPr>
          <p:cNvSpPr/>
          <p:nvPr/>
        </p:nvSpPr>
        <p:spPr>
          <a:xfrm>
            <a:off x="-1" y="1221723"/>
            <a:ext cx="27614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Class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C3BC5D-86A8-E692-6DED-4EFBB5666F80}"/>
              </a:ext>
            </a:extLst>
          </p:cNvPr>
          <p:cNvSpPr txBox="1"/>
          <p:nvPr/>
        </p:nvSpPr>
        <p:spPr>
          <a:xfrm>
            <a:off x="132968" y="1526395"/>
            <a:ext cx="12191999" cy="488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How to define a class?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property1: Type;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property2: Type;</a:t>
            </a:r>
          </a:p>
          <a:p>
            <a:pPr lvl="1">
              <a:lnSpc>
                <a:spcPts val="1800"/>
              </a:lnSpc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(param1: Type, param2: Type) {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.property1 = param1;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.property2 = param2;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lvl="1">
              <a:lnSpc>
                <a:spcPts val="1800"/>
              </a:lnSpc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methodName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logic</a:t>
            </a:r>
            <a:endParaRPr lang="en-CA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Constructor is a special method of the class for initializing new objects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 define types for each property and method to catch errors at compile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ensures you don’t pass the wrong types, like a string when a number is expected</a:t>
            </a:r>
          </a:p>
        </p:txBody>
      </p:sp>
    </p:spTree>
    <p:extLst>
      <p:ext uri="{BB962C8B-B14F-4D97-AF65-F5344CB8AC3E}">
        <p14:creationId xmlns:p14="http://schemas.microsoft.com/office/powerpoint/2010/main" val="360740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0B94-0FC3-BAA9-8BF1-7C8E3DB8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0A828A-5249-E1C7-E0C5-76F3EAFAD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54827E-9FCE-B74D-73CD-324BA77B2402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95E5F-76FE-ECBE-D427-BE6D867BEBE2}"/>
              </a:ext>
            </a:extLst>
          </p:cNvPr>
          <p:cNvSpPr/>
          <p:nvPr/>
        </p:nvSpPr>
        <p:spPr>
          <a:xfrm>
            <a:off x="-1" y="1221723"/>
            <a:ext cx="27614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Class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93C345-B293-8648-6708-6A550D889FDC}"/>
              </a:ext>
            </a:extLst>
          </p:cNvPr>
          <p:cNvSpPr txBox="1"/>
          <p:nvPr/>
        </p:nvSpPr>
        <p:spPr>
          <a:xfrm>
            <a:off x="132968" y="1599547"/>
            <a:ext cx="12191999" cy="9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Let’s build a Product class that stores the product’s ID, name, and price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also has a method to calculate price after tax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F8BE-5CD1-5CAB-1DE8-88766B83D638}"/>
              </a:ext>
            </a:extLst>
          </p:cNvPr>
          <p:cNvSpPr txBox="1"/>
          <p:nvPr/>
        </p:nvSpPr>
        <p:spPr>
          <a:xfrm>
            <a:off x="443484" y="2750642"/>
            <a:ext cx="11215116" cy="3556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Product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number;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string;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price: number;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(id: number, name: string, price: number)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= name;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.price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price;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calculateTotalWithTax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taxRate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number): number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.price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.price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taxRate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705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5B0C-C0F3-E502-654F-ABAA010F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B9C37-89E6-59FC-110E-C1DF4FD23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D60D7-4720-7CEF-90BB-CA7ABC4C5C7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85E79C-AC5F-FAA6-CB86-8C8F0B091C59}"/>
              </a:ext>
            </a:extLst>
          </p:cNvPr>
          <p:cNvSpPr/>
          <p:nvPr/>
        </p:nvSpPr>
        <p:spPr>
          <a:xfrm>
            <a:off x="-1" y="1221723"/>
            <a:ext cx="27614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Class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4E8B3D-D58F-9444-0FE9-B3ED851B63B9}"/>
              </a:ext>
            </a:extLst>
          </p:cNvPr>
          <p:cNvSpPr txBox="1"/>
          <p:nvPr/>
        </p:nvSpPr>
        <p:spPr>
          <a:xfrm>
            <a:off x="132968" y="1599547"/>
            <a:ext cx="12191999" cy="5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new laptop object and calculate it’s price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E66BB-7782-7DEA-786E-51BC927BC60B}"/>
              </a:ext>
            </a:extLst>
          </p:cNvPr>
          <p:cNvSpPr txBox="1"/>
          <p:nvPr/>
        </p:nvSpPr>
        <p:spPr>
          <a:xfrm>
            <a:off x="480060" y="2173793"/>
            <a:ext cx="11535156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laptop =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Product(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"Laptop"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//calls the constructor </a:t>
            </a:r>
          </a:p>
          <a:p>
            <a:pPr>
              <a:lnSpc>
                <a:spcPct val="1500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laptop.calculateTotalWithTax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0.13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</a:p>
        </p:txBody>
      </p:sp>
    </p:spTree>
    <p:extLst>
      <p:ext uri="{BB962C8B-B14F-4D97-AF65-F5344CB8AC3E}">
        <p14:creationId xmlns:p14="http://schemas.microsoft.com/office/powerpoint/2010/main" val="261408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DBB9-9A63-73A2-31DF-12EEB69E8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35F737-5860-263D-7D2F-82C2398A7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BA6222-C09E-354D-D564-CEE0476E3043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0CE4F-86EF-51F9-E0D4-3205CD8289C0}"/>
              </a:ext>
            </a:extLst>
          </p:cNvPr>
          <p:cNvSpPr/>
          <p:nvPr/>
        </p:nvSpPr>
        <p:spPr>
          <a:xfrm>
            <a:off x="-1" y="1221723"/>
            <a:ext cx="4343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Access Modifiers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8CD5B3-0906-3945-3152-780E92611E09}"/>
              </a:ext>
            </a:extLst>
          </p:cNvPr>
          <p:cNvSpPr txBox="1"/>
          <p:nvPr/>
        </p:nvSpPr>
        <p:spPr>
          <a:xfrm>
            <a:off x="132968" y="1599547"/>
            <a:ext cx="12191999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Access modifiers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control how and where class members (properties and methods) can be accessed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brings better encapsulation and structure to your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default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all members are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public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if no modifier is specified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C08182-AF19-7B18-A9C0-A21F99B10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914944"/>
              </p:ext>
            </p:extLst>
          </p:nvPr>
        </p:nvGraphicFramePr>
        <p:xfrm>
          <a:off x="1287272" y="3120808"/>
          <a:ext cx="9617456" cy="219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485">
                  <a:extLst>
                    <a:ext uri="{9D8B030D-6E8A-4147-A177-3AD203B41FA5}">
                      <a16:colId xmlns:a16="http://schemas.microsoft.com/office/drawing/2014/main" val="1044813334"/>
                    </a:ext>
                  </a:extLst>
                </a:gridCol>
                <a:gridCol w="3085323">
                  <a:extLst>
                    <a:ext uri="{9D8B030D-6E8A-4147-A177-3AD203B41FA5}">
                      <a16:colId xmlns:a16="http://schemas.microsoft.com/office/drawing/2014/main" val="3432686715"/>
                    </a:ext>
                  </a:extLst>
                </a:gridCol>
                <a:gridCol w="2964936">
                  <a:extLst>
                    <a:ext uri="{9D8B030D-6E8A-4147-A177-3AD203B41FA5}">
                      <a16:colId xmlns:a16="http://schemas.microsoft.com/office/drawing/2014/main" val="3983651417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617987665"/>
                    </a:ext>
                  </a:extLst>
                </a:gridCol>
              </a:tblGrid>
              <a:tr h="264468">
                <a:tc gridSpan="4">
                  <a:txBody>
                    <a:bodyPr/>
                    <a:lstStyle/>
                    <a:p>
                      <a:pPr algn="ctr"/>
                      <a:r>
                        <a:rPr lang="en-CA" dirty="0"/>
                        <a:t>Types of Access Modifiers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459104"/>
                  </a:ext>
                </a:extLst>
              </a:tr>
              <a:tr h="456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Modifier	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Accessible Within Class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Accessible in Subclasses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Accessible Outside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093913"/>
                  </a:ext>
                </a:extLst>
              </a:tr>
              <a:tr h="45648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621142"/>
                  </a:ext>
                </a:extLst>
              </a:tr>
              <a:tr h="45648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14379"/>
                  </a:ext>
                </a:extLst>
              </a:tr>
              <a:tr h="45648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431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91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5BEFE-D647-5DB6-3C24-A7841176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A5755-052A-1D4D-20CF-19FF59922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1887D8-40D1-C90F-0803-540201356045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9411C7-3601-38E6-1B54-C020AEC1C733}"/>
              </a:ext>
            </a:extLst>
          </p:cNvPr>
          <p:cNvSpPr/>
          <p:nvPr/>
        </p:nvSpPr>
        <p:spPr>
          <a:xfrm>
            <a:off x="-1" y="1221723"/>
            <a:ext cx="4343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Access Modifiers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CC8798-106C-15C6-A503-33B78C3F8D82}"/>
              </a:ext>
            </a:extLst>
          </p:cNvPr>
          <p:cNvSpPr txBox="1"/>
          <p:nvPr/>
        </p:nvSpPr>
        <p:spPr>
          <a:xfrm>
            <a:off x="132968" y="1599547"/>
            <a:ext cx="12191999" cy="488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 private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balance: number;</a:t>
            </a:r>
          </a:p>
          <a:p>
            <a:pPr lvl="1">
              <a:lnSpc>
                <a:spcPts val="1800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(balance: number) {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balance;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lvl="1">
              <a:lnSpc>
                <a:spcPts val="1800"/>
              </a:lnSpc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number {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 lvl="1"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account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account.getBalance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account.balance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//Results in error: Property balance is private</a:t>
            </a:r>
          </a:p>
          <a:p>
            <a:pPr>
              <a:lnSpc>
                <a:spcPts val="1800"/>
              </a:lnSpc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09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8D546-F1F6-EE89-6171-0AE9336C1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6F3245-64CC-7C0F-3C3C-3808A7FD0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2B5B1-92B1-7A9C-6EBB-DF76F3300610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2721D9-26DD-1BD4-B798-D1CF6E01147F}"/>
              </a:ext>
            </a:extLst>
          </p:cNvPr>
          <p:cNvSpPr/>
          <p:nvPr/>
        </p:nvSpPr>
        <p:spPr>
          <a:xfrm>
            <a:off x="-1" y="1221723"/>
            <a:ext cx="4343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Access Modifiers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4CA4B7-3AEB-B0C1-7B9F-1EBFB71FA00A}"/>
              </a:ext>
            </a:extLst>
          </p:cNvPr>
          <p:cNvSpPr txBox="1"/>
          <p:nvPr/>
        </p:nvSpPr>
        <p:spPr>
          <a:xfrm>
            <a:off x="132969" y="1599547"/>
            <a:ext cx="5600322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 protected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speed: number =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accelerate(amount: number)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.speed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amount;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                           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displaySpeed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`Current speed: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.speed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km/h`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Car();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car.accelerate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car.displaySpeed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car.speed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6B418-8531-4C53-F6C7-112AA10F4938}"/>
              </a:ext>
            </a:extLst>
          </p:cNvPr>
          <p:cNvSpPr txBox="1"/>
          <p:nvPr/>
        </p:nvSpPr>
        <p:spPr>
          <a:xfrm>
            <a:off x="8515158" y="3967056"/>
            <a:ext cx="1929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Inheritance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9957D6-A5B4-6AC4-180B-1F0ED0A315E0}"/>
              </a:ext>
            </a:extLst>
          </p:cNvPr>
          <p:cNvCxnSpPr>
            <a:cxnSpLocks/>
          </p:cNvCxnSpPr>
          <p:nvPr/>
        </p:nvCxnSpPr>
        <p:spPr>
          <a:xfrm flipH="1">
            <a:off x="3319272" y="4167111"/>
            <a:ext cx="5084064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EC89B2-BB03-CB40-1ED2-57BC03B25846}"/>
              </a:ext>
            </a:extLst>
          </p:cNvPr>
          <p:cNvSpPr txBox="1"/>
          <p:nvPr/>
        </p:nvSpPr>
        <p:spPr>
          <a:xfrm>
            <a:off x="6900671" y="4291275"/>
            <a:ext cx="5158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‘protected’ property ‘speed’ inside the sub class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A59255-6502-4FE9-4061-CE53DB28530C}"/>
              </a:ext>
            </a:extLst>
          </p:cNvPr>
          <p:cNvCxnSpPr>
            <a:cxnSpLocks/>
          </p:cNvCxnSpPr>
          <p:nvPr/>
        </p:nvCxnSpPr>
        <p:spPr>
          <a:xfrm flipH="1">
            <a:off x="4564337" y="4637701"/>
            <a:ext cx="2337907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46E79D-6807-B933-AEB1-908EB9555B8E}"/>
              </a:ext>
            </a:extLst>
          </p:cNvPr>
          <p:cNvSpPr txBox="1"/>
          <p:nvPr/>
        </p:nvSpPr>
        <p:spPr>
          <a:xfrm>
            <a:off x="6276268" y="6046918"/>
            <a:ext cx="515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Results in error: ‘speed’ is ‘protected’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BD89EC-2F8D-1532-BFB3-FD0006AD6398}"/>
              </a:ext>
            </a:extLst>
          </p:cNvPr>
          <p:cNvCxnSpPr>
            <a:cxnSpLocks/>
          </p:cNvCxnSpPr>
          <p:nvPr/>
        </p:nvCxnSpPr>
        <p:spPr>
          <a:xfrm flipH="1">
            <a:off x="2810121" y="6274989"/>
            <a:ext cx="3285879" cy="1936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99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645E-DDBF-1E9B-1176-13FF924B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80C2A-5D0D-A1A4-3F92-B3E9BF23A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F95598-6CDF-825C-1742-44727F21B426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463892-9D99-CDFC-8881-6C65942B7E59}"/>
              </a:ext>
            </a:extLst>
          </p:cNvPr>
          <p:cNvSpPr/>
          <p:nvPr/>
        </p:nvSpPr>
        <p:spPr>
          <a:xfrm>
            <a:off x="-1" y="1221723"/>
            <a:ext cx="434340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Access Modifiers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5ADDC7-87D0-2C8B-FA8E-8AFD82E682DA}"/>
              </a:ext>
            </a:extLst>
          </p:cNvPr>
          <p:cNvSpPr txBox="1"/>
          <p:nvPr/>
        </p:nvSpPr>
        <p:spPr>
          <a:xfrm>
            <a:off x="132969" y="1599547"/>
            <a:ext cx="5600322" cy="9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 public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F7959-7D38-F5FF-04EF-BB5D3140F1E3}"/>
              </a:ext>
            </a:extLst>
          </p:cNvPr>
          <p:cNvSpPr txBox="1"/>
          <p:nvPr/>
        </p:nvSpPr>
        <p:spPr>
          <a:xfrm>
            <a:off x="251841" y="2347486"/>
            <a:ext cx="6140196" cy="240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name: string;</a:t>
            </a: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(name: string)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= name;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 =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Student(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console.log(student.name);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65A8326-D158-2DA6-EE63-BF04EE6C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969" y="4989918"/>
            <a:ext cx="1162621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Best Practice: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Always start with the most restrictive modifier (private) and loosen it (protected, then public) only if necessary</a:t>
            </a:r>
          </a:p>
        </p:txBody>
      </p:sp>
    </p:spTree>
    <p:extLst>
      <p:ext uri="{BB962C8B-B14F-4D97-AF65-F5344CB8AC3E}">
        <p14:creationId xmlns:p14="http://schemas.microsoft.com/office/powerpoint/2010/main" val="2640565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D4A5-9FF2-9280-EAD3-52C0C1A5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F530AB-E732-505A-7614-A2AB543B0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B084EC-249A-0E74-4CA7-7C6A77C9CD24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83B7F6-0A2C-DA9F-3FEF-0F44185AC18D}"/>
              </a:ext>
            </a:extLst>
          </p:cNvPr>
          <p:cNvSpPr/>
          <p:nvPr/>
        </p:nvSpPr>
        <p:spPr>
          <a:xfrm>
            <a:off x="-1" y="1221723"/>
            <a:ext cx="59618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Shorthand Initialization with Modifiers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F47B89-6183-1B71-8EED-9BC8E6160A4B}"/>
              </a:ext>
            </a:extLst>
          </p:cNvPr>
          <p:cNvSpPr txBox="1"/>
          <p:nvPr/>
        </p:nvSpPr>
        <p:spPr>
          <a:xfrm>
            <a:off x="132968" y="1599547"/>
            <a:ext cx="11973688" cy="142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declare and initialize members directly in the constructor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using access modifiers: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BC366-CD2E-86A7-0F23-BB3FA25FE1C9}"/>
              </a:ext>
            </a:extLst>
          </p:cNvPr>
          <p:cNvSpPr txBox="1"/>
          <p:nvPr/>
        </p:nvSpPr>
        <p:spPr>
          <a:xfrm>
            <a:off x="331660" y="2508061"/>
            <a:ext cx="10243566" cy="442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Book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CA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title: string,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author: string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protected</a:t>
            </a:r>
            <a:r>
              <a:rPr lang="en-CA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price: number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 {}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by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.author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and the price $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.price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myBook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Book(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 Alchemist"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"Paulo Coelho"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19.99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myBook.getDetails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</a:p>
          <a:p>
            <a:pPr>
              <a:lnSpc>
                <a:spcPts val="1800"/>
              </a:lnSpc>
            </a:pPr>
            <a:endParaRPr lang="en-CA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   </a:t>
            </a:r>
            <a:r>
              <a:rPr lang="en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Alchemist by Paulo Coelho and the price $19.99</a:t>
            </a:r>
          </a:p>
        </p:txBody>
      </p:sp>
    </p:spTree>
    <p:extLst>
      <p:ext uri="{BB962C8B-B14F-4D97-AF65-F5344CB8AC3E}">
        <p14:creationId xmlns:p14="http://schemas.microsoft.com/office/powerpoint/2010/main" val="934828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791C-C3DE-E4E0-D2A3-5E14575F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871105-9837-21FE-06C2-17AF15BBE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B9A42C-4552-44AC-E46A-4714DF3E7CC5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4351CD-85D1-28E2-0887-968E5047A488}"/>
              </a:ext>
            </a:extLst>
          </p:cNvPr>
          <p:cNvSpPr/>
          <p:nvPr/>
        </p:nvSpPr>
        <p:spPr>
          <a:xfrm>
            <a:off x="-1" y="1221723"/>
            <a:ext cx="402336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Access Modifier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4BB74-DEE9-31D4-CA0F-B2972E67BC68}"/>
              </a:ext>
            </a:extLst>
          </p:cNvPr>
          <p:cNvSpPr txBox="1"/>
          <p:nvPr/>
        </p:nvSpPr>
        <p:spPr>
          <a:xfrm>
            <a:off x="132968" y="1599547"/>
            <a:ext cx="11973688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modifier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 is used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make class properties immutable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Once they are assigned,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cannot change their value later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 assign a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property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only in two places: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the property declaration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the constructor of the same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class properties that should not be changed after initialization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Assignment is only allowed in the declaration or constructor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Helps make your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code more robust and predictable by preventing accidental changes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13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4E53-2539-D079-D83F-1ACDE400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4D9CAC-84A7-D0D8-1DF4-2FE3549AB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8459D-BBF4-F256-1E34-A8F9A7B2627C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E0B36-3790-8483-F377-7623A6EBDB84}"/>
              </a:ext>
            </a:extLst>
          </p:cNvPr>
          <p:cNvSpPr/>
          <p:nvPr/>
        </p:nvSpPr>
        <p:spPr>
          <a:xfrm>
            <a:off x="-1" y="1221723"/>
            <a:ext cx="402336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Access Modifier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04DE7-45CE-0F52-1F7E-D2462F2B3713}"/>
              </a:ext>
            </a:extLst>
          </p:cNvPr>
          <p:cNvSpPr txBox="1"/>
          <p:nvPr/>
        </p:nvSpPr>
        <p:spPr>
          <a:xfrm>
            <a:off x="132968" y="1599547"/>
            <a:ext cx="11973688" cy="9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Consider the class ‘Vehicle’ where the property ‘vin’ is declared as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C15E9-87EF-B207-BA62-A2EDE90D95BA}"/>
              </a:ext>
            </a:extLst>
          </p:cNvPr>
          <p:cNvSpPr txBox="1"/>
          <p:nvPr/>
        </p:nvSpPr>
        <p:spPr>
          <a:xfrm>
            <a:off x="210312" y="2081281"/>
            <a:ext cx="11466576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readonly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vin: string; </a:t>
            </a:r>
            <a:r>
              <a:rPr lang="en-CA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Vehicle Identification Number</a:t>
            </a:r>
            <a:endParaRPr lang="en-CA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make: string;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model: string;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(vin: string, make: string, model: string)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.vin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vin;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.make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make;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model;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`Vehicle: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.make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VIN: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.vin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"1HGCM82633A004352"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"Honda"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"Accord"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car.getDetails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800"/>
              </a:lnSpc>
            </a:pPr>
            <a:endParaRPr lang="en-CA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car.vin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"2T1BURHE6JC000000"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</a:t>
            </a:r>
          </a:p>
          <a:p>
            <a:pPr>
              <a:lnSpc>
                <a:spcPts val="1800"/>
              </a:lnSpc>
            </a:pPr>
            <a:endParaRPr lang="en-CA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9372-8F86-E9BF-C094-BB82A4D64A4A}"/>
              </a:ext>
            </a:extLst>
          </p:cNvPr>
          <p:cNvSpPr txBox="1"/>
          <p:nvPr/>
        </p:nvSpPr>
        <p:spPr>
          <a:xfrm>
            <a:off x="6190488" y="6273225"/>
            <a:ext cx="5916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Results in error: </a:t>
            </a:r>
            <a:r>
              <a:rPr lang="en-US" sz="16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Cannot assign to 'vin' because it is a read-only property.</a:t>
            </a:r>
            <a:endParaRPr lang="en-CA" sz="1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E091FA-5C8F-7689-CE14-B1C7F184C694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3703320" y="6565612"/>
            <a:ext cx="2487168" cy="1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952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68A3-D4D1-09CA-00D6-85B7CFC7C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700135-0727-F866-24AA-00EAA4C2C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6B6D91-8651-FE9A-63BD-C27136508AF2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BBBBE-2A75-26DE-33B9-9B48BBBBE100}"/>
              </a:ext>
            </a:extLst>
          </p:cNvPr>
          <p:cNvSpPr/>
          <p:nvPr/>
        </p:nvSpPr>
        <p:spPr>
          <a:xfrm>
            <a:off x="-1" y="1221723"/>
            <a:ext cx="4023361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Access Modifier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4A9173-1474-B600-F33E-A72298FF8ABC}"/>
              </a:ext>
            </a:extLst>
          </p:cNvPr>
          <p:cNvSpPr txBox="1"/>
          <p:nvPr/>
        </p:nvSpPr>
        <p:spPr>
          <a:xfrm>
            <a:off x="132968" y="1599547"/>
            <a:ext cx="11973688" cy="9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can also define a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readonly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property directly in the constructor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2A26F-2916-188D-31D2-EDB77FA94912}"/>
              </a:ext>
            </a:extLst>
          </p:cNvPr>
          <p:cNvSpPr txBox="1"/>
          <p:nvPr/>
        </p:nvSpPr>
        <p:spPr>
          <a:xfrm>
            <a:off x="235458" y="2147351"/>
            <a:ext cx="11220070" cy="471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make: string;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model: string;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readonly</a:t>
            </a:r>
            <a:r>
              <a:rPr lang="en-CA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vin: string, </a:t>
            </a:r>
            <a:r>
              <a:rPr lang="en-CA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CA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CA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property defined directly in constructor</a:t>
            </a:r>
            <a:endParaRPr lang="en-CA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make: string,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model: string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.make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make;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model;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`Vehicle: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.make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VIN: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.vin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"1HGCM82633A004352"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"Honda"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"Accord"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car.getDetails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880918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64F3-B70F-107F-46C8-53184BAB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3C4F13-7C41-62C3-46E7-7C3B72573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AC39F7-8809-7C9D-90E0-4AB8F1A4EB3A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B5F773-84A5-BAB8-2032-405CBFA0A636}"/>
              </a:ext>
            </a:extLst>
          </p:cNvPr>
          <p:cNvSpPr/>
          <p:nvPr/>
        </p:nvSpPr>
        <p:spPr>
          <a:xfrm>
            <a:off x="-1" y="1221723"/>
            <a:ext cx="30266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Getters and Setters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FD5B10-BB0A-406E-C79E-19F90FC632BD}"/>
              </a:ext>
            </a:extLst>
          </p:cNvPr>
          <p:cNvSpPr txBox="1"/>
          <p:nvPr/>
        </p:nvSpPr>
        <p:spPr>
          <a:xfrm>
            <a:off x="132968" y="1599547"/>
            <a:ext cx="11973688" cy="3733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getter is a special method used to read or access the value of a private property in a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starts with the get keyword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behaves like a property when accessed</a:t>
            </a:r>
          </a:p>
          <a:p>
            <a:pPr lvl="1">
              <a:lnSpc>
                <a:spcPts val="1800"/>
              </a:lnSpc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ts val="1800"/>
              </a:lnSpc>
            </a:pPr>
            <a:r>
              <a:rPr lang="en-US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propertyName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type {</a:t>
            </a:r>
          </a:p>
          <a:p>
            <a:pPr lvl="1">
              <a:lnSpc>
                <a:spcPts val="18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// return private value</a:t>
            </a:r>
          </a:p>
          <a:p>
            <a:pPr lvl="1">
              <a:lnSpc>
                <a:spcPts val="18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setter is a special method used to update or modify the value of a private property in a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starts with the set keyword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behaves like a property when assigned a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EAF41-D72C-7196-79CB-9338B8F0B5F3}"/>
              </a:ext>
            </a:extLst>
          </p:cNvPr>
          <p:cNvSpPr txBox="1"/>
          <p:nvPr/>
        </p:nvSpPr>
        <p:spPr>
          <a:xfrm>
            <a:off x="482346" y="5908311"/>
            <a:ext cx="6140196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propertyName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(value: type)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// validate and set private value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8027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75F43-B38F-D719-B327-F7D1F4AE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1C0293-D2D7-BB54-920B-76FA3E495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14562D-42D4-18B7-E4FD-BDBC0392F51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597F89-90E4-FA34-6785-2B1656A10877}"/>
              </a:ext>
            </a:extLst>
          </p:cNvPr>
          <p:cNvSpPr/>
          <p:nvPr/>
        </p:nvSpPr>
        <p:spPr>
          <a:xfrm>
            <a:off x="-1" y="1221723"/>
            <a:ext cx="30266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Getters and Setters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23CA27-04F4-D807-4948-E1EB7334A467}"/>
              </a:ext>
            </a:extLst>
          </p:cNvPr>
          <p:cNvSpPr txBox="1"/>
          <p:nvPr/>
        </p:nvSpPr>
        <p:spPr>
          <a:xfrm>
            <a:off x="132968" y="1599547"/>
            <a:ext cx="11973688" cy="28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Getters and setters are used for: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Avoid repeating validation logic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Encapsulate internal representation (_private fields)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Format or compute data dynamically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can control the access of private fields through getter and setter methods so that they cannot be accessed or modified directly from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3294450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FAEC-A90A-509C-600E-E5A8996FE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16BF16-21E9-9EE9-8FF1-C8F764973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B85CF-196A-46DC-59DC-1067DAF98D5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380260-EFF6-72D6-784B-B7C71D6ED8EA}"/>
              </a:ext>
            </a:extLst>
          </p:cNvPr>
          <p:cNvSpPr/>
          <p:nvPr/>
        </p:nvSpPr>
        <p:spPr>
          <a:xfrm>
            <a:off x="-1" y="1221723"/>
            <a:ext cx="30266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Getters and Setters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EDD922-2425-8A41-3BC8-CB30891CDA55}"/>
              </a:ext>
            </a:extLst>
          </p:cNvPr>
          <p:cNvSpPr txBox="1"/>
          <p:nvPr/>
        </p:nvSpPr>
        <p:spPr>
          <a:xfrm>
            <a:off x="109156" y="1572115"/>
            <a:ext cx="1197368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BankAccount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class represents a bank account with a private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Bookman Old Style" panose="02050604050505020204" pitchFamily="18" charset="0"/>
              </a:rPr>
              <a:t>_balance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property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uses a getter to read the balance and a setter to safely update it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_balance: number;</a:t>
            </a:r>
          </a:p>
          <a:p>
            <a:pPr>
              <a:lnSpc>
                <a:spcPts val="18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._balance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balance():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._balance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(amount: number)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(amount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Error(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"Balance cannot be negative."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._balance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amount;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4857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6A8F7-7353-EC53-59E4-0529645E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6D1D10-5701-23C0-77B4-8F9CAF405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D1CC9-A41C-16A8-52AC-1DF27F05DED3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B40BA-48BB-86A9-7ECB-A5CD1C5DDD4B}"/>
              </a:ext>
            </a:extLst>
          </p:cNvPr>
          <p:cNvSpPr/>
          <p:nvPr/>
        </p:nvSpPr>
        <p:spPr>
          <a:xfrm>
            <a:off x="-1" y="1221723"/>
            <a:ext cx="30266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Getters and Setters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BAD5E-A91B-3BFC-8496-A2288D83404B}"/>
              </a:ext>
            </a:extLst>
          </p:cNvPr>
          <p:cNvSpPr txBox="1"/>
          <p:nvPr/>
        </p:nvSpPr>
        <p:spPr>
          <a:xfrm>
            <a:off x="109156" y="1782427"/>
            <a:ext cx="11973688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account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BankAccount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account.balance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1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// setter called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account.balance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// getter called: 1200</a:t>
            </a:r>
          </a:p>
          <a:p>
            <a:pPr>
              <a:lnSpc>
                <a:spcPct val="150000"/>
              </a:lnSpc>
            </a:pP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account.balance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-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500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// Results in Error: Balance cannot be negative</a:t>
            </a:r>
          </a:p>
          <a:p>
            <a:pPr>
              <a:lnSpc>
                <a:spcPts val="1800"/>
              </a:lnSpc>
            </a:pPr>
            <a:endParaRPr lang="en-US" sz="1600" b="1" i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29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C899-87FF-ACB0-3581-F47ECACF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F13619-CD56-390A-0CE2-812A3D08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A4EC02-787B-AE28-61CE-34B6BCC9CC05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92BA43-0D38-2B82-CCA3-1449BE3F82F6}"/>
              </a:ext>
            </a:extLst>
          </p:cNvPr>
          <p:cNvSpPr/>
          <p:nvPr/>
        </p:nvSpPr>
        <p:spPr>
          <a:xfrm>
            <a:off x="-1" y="1221723"/>
            <a:ext cx="18928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Inheritance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45821-3E77-B540-BB42-ACBEF90CB47A}"/>
              </a:ext>
            </a:extLst>
          </p:cNvPr>
          <p:cNvSpPr txBox="1"/>
          <p:nvPr/>
        </p:nvSpPr>
        <p:spPr>
          <a:xfrm>
            <a:off x="80010" y="1538858"/>
            <a:ext cx="11368278" cy="295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Inheritance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allows a child class to reuse the properties and methods of a parent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Promotes code reuse and extensibility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Let's say we have a Vehicle class, and we want to create two subclasses: Car and Truck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Both Car and Truck should inherit the properties and methods of the Vehicle class but also have their own specific properties and behaviors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Parent Class: Vehicle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6D6B8-1660-3794-E413-6A1CF0DE2CDD}"/>
              </a:ext>
            </a:extLst>
          </p:cNvPr>
          <p:cNvSpPr txBox="1"/>
          <p:nvPr/>
        </p:nvSpPr>
        <p:spPr>
          <a:xfrm>
            <a:off x="322326" y="4091932"/>
            <a:ext cx="1088364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make: string,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model: string,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year: number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 {}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.year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.make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0560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ADDFE-DA3D-D332-BAED-174D27D7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C9B522-F3D6-6263-1CD9-9B769ECB4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F33842-CFF0-7309-0C4A-DA8D2EEEB55D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757E7-4E1C-FFAA-C797-FEB8FAFB4626}"/>
              </a:ext>
            </a:extLst>
          </p:cNvPr>
          <p:cNvSpPr/>
          <p:nvPr/>
        </p:nvSpPr>
        <p:spPr>
          <a:xfrm>
            <a:off x="-1" y="1221723"/>
            <a:ext cx="18928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Inheritance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B88BB-32DD-9021-0D21-EC8CDE2B77C3}"/>
              </a:ext>
            </a:extLst>
          </p:cNvPr>
          <p:cNvSpPr txBox="1"/>
          <p:nvPr/>
        </p:nvSpPr>
        <p:spPr>
          <a:xfrm>
            <a:off x="80010" y="1672744"/>
            <a:ext cx="11368278" cy="460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Child Class 1: Car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4BCFC-D345-2F62-1770-69468039F40B}"/>
              </a:ext>
            </a:extLst>
          </p:cNvPr>
          <p:cNvSpPr txBox="1"/>
          <p:nvPr/>
        </p:nvSpPr>
        <p:spPr>
          <a:xfrm>
            <a:off x="80010" y="2123765"/>
            <a:ext cx="11788902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(make: string, model: string, year: number,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numDoors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(make, model, year); </a:t>
            </a:r>
            <a:r>
              <a:rPr lang="en-CA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// Calls the constructor of the parent class (Vehicle)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getCarDetails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.numDoors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doors`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DAF99-FAAB-7432-E31C-075DFA07D395}"/>
              </a:ext>
            </a:extLst>
          </p:cNvPr>
          <p:cNvSpPr txBox="1"/>
          <p:nvPr/>
        </p:nvSpPr>
        <p:spPr>
          <a:xfrm>
            <a:off x="80010" y="4220872"/>
            <a:ext cx="11368278" cy="460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Child Class 1: Truck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97D6B-020E-D5A6-1A4C-972812087523}"/>
              </a:ext>
            </a:extLst>
          </p:cNvPr>
          <p:cNvSpPr txBox="1"/>
          <p:nvPr/>
        </p:nvSpPr>
        <p:spPr>
          <a:xfrm>
            <a:off x="80010" y="4681191"/>
            <a:ext cx="11496294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Truck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(make: string, model: string, year: number,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cargoCapacity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super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(make, model, year); </a:t>
            </a:r>
            <a:r>
              <a:rPr lang="en-CA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// Calls the constructor of the parent class (Vehicle)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getTruckDetails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.getDetails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 Cargo capacity: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.cargoCapacity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tons`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290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A160-A24B-EF49-F3B9-0CDC90AFF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5304F9-8C0B-1B6C-6E21-68A38F6E5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A88F6D-B3DB-8CB9-A9DB-8E1C6B0E8E41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FA3A0C-7EF5-FCFB-AE7E-788A672D98B9}"/>
              </a:ext>
            </a:extLst>
          </p:cNvPr>
          <p:cNvSpPr/>
          <p:nvPr/>
        </p:nvSpPr>
        <p:spPr>
          <a:xfrm>
            <a:off x="-1" y="1221723"/>
            <a:ext cx="18928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Inheritance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335CF-76B8-C566-7AC4-25D2BA1B3F4F}"/>
              </a:ext>
            </a:extLst>
          </p:cNvPr>
          <p:cNvSpPr txBox="1"/>
          <p:nvPr/>
        </p:nvSpPr>
        <p:spPr>
          <a:xfrm>
            <a:off x="126872" y="1877125"/>
            <a:ext cx="10937367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instance of Vehicle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myVehicle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Vehicle(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"Toyota"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"Corolla"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myVehicle.getDetails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calling Vehicle's </a:t>
            </a:r>
            <a:r>
              <a:rPr lang="en-CA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getDetails</a:t>
            </a: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instance of Car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"Honda"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"Civic"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2023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myCar.getCarDetails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calling Car's </a:t>
            </a:r>
            <a:r>
              <a:rPr lang="en-CA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getCarDetails</a:t>
            </a: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instance of Truck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myTruck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Truck(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"F-150"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2024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myTruck.getTruckDetails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calling Truck's </a:t>
            </a:r>
            <a:r>
              <a:rPr lang="en-CA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getTruckDetails</a:t>
            </a:r>
            <a:r>
              <a:rPr lang="en-CA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CA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834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D775B-B325-1879-CB16-1B6A0C21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B5CB54-B995-3F98-67F2-E1F61642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68B89F-712D-13B4-3D53-3F3CB1F181D7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E61857-49E5-489F-0C73-964E5B5207D3}"/>
              </a:ext>
            </a:extLst>
          </p:cNvPr>
          <p:cNvSpPr/>
          <p:nvPr/>
        </p:nvSpPr>
        <p:spPr>
          <a:xfrm>
            <a:off x="-1" y="1221723"/>
            <a:ext cx="18928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Inheritance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3AD4B-CABD-50DF-BA50-A8C9B00CCC12}"/>
              </a:ext>
            </a:extLst>
          </p:cNvPr>
          <p:cNvSpPr txBox="1"/>
          <p:nvPr/>
        </p:nvSpPr>
        <p:spPr>
          <a:xfrm>
            <a:off x="70866" y="1672744"/>
            <a:ext cx="11368278" cy="253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Vehicle is the parent class that holds common functionality (details of the vehicle)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Car and Truck are child classes that inherit from Vehicle but also have their unique properties and methods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Using super() calls the parent class constructor and inherits the properties and behaviors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Methods like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getDetails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 are inherited by both child classes, but each class can also have additional behavior like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getCarDetails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 or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getTruckDetails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73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2242-9B1E-1391-0966-DF451BD0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739AAC-F890-54BB-E4DD-1CBA6A05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B867CF-BB20-CEB6-8AFF-887E2B36DFDD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124620-F3D3-8B54-EA67-079015636659}"/>
              </a:ext>
            </a:extLst>
          </p:cNvPr>
          <p:cNvSpPr/>
          <p:nvPr/>
        </p:nvSpPr>
        <p:spPr>
          <a:xfrm>
            <a:off x="-1" y="1221723"/>
            <a:ext cx="460857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Properties and Methods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F027A-14F9-15EF-BEEE-1C701CDA31F1}"/>
              </a:ext>
            </a:extLst>
          </p:cNvPr>
          <p:cNvSpPr txBox="1"/>
          <p:nvPr/>
        </p:nvSpPr>
        <p:spPr>
          <a:xfrm>
            <a:off x="62865" y="1713107"/>
            <a:ext cx="12066270" cy="2953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properties and static methods belong to the class itself rather than to instances of the class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property is shared across all instances and is accessed using the class name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method is a function that can be called on the class without creating an object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keyword to declare them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Access them like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ClassName.property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or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ClassName.method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They are commonly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used for utility functions or shared values</a:t>
            </a:r>
          </a:p>
        </p:txBody>
      </p:sp>
    </p:spTree>
    <p:extLst>
      <p:ext uri="{BB962C8B-B14F-4D97-AF65-F5344CB8AC3E}">
        <p14:creationId xmlns:p14="http://schemas.microsoft.com/office/powerpoint/2010/main" val="202165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7343-F47D-860B-F7C2-1053EA23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3C9F7E-4950-8598-C18D-1AC47B783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2594A7-85AD-0B66-A6ED-E97549E2F628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C953CF-032F-E694-AE40-FB20F9FAFF6A}"/>
              </a:ext>
            </a:extLst>
          </p:cNvPr>
          <p:cNvSpPr/>
          <p:nvPr/>
        </p:nvSpPr>
        <p:spPr>
          <a:xfrm>
            <a:off x="-1" y="1221723"/>
            <a:ext cx="460857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Properties and Methods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F8C3E-C2BD-CCB7-9791-DE1EE1F9483C}"/>
              </a:ext>
            </a:extLst>
          </p:cNvPr>
          <p:cNvSpPr txBox="1"/>
          <p:nvPr/>
        </p:nvSpPr>
        <p:spPr>
          <a:xfrm>
            <a:off x="62865" y="1713107"/>
            <a:ext cx="1206627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Consider a Library book tracker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A5E1C-3572-B9C5-05E6-78758D3A0C02}"/>
              </a:ext>
            </a:extLst>
          </p:cNvPr>
          <p:cNvSpPr txBox="1"/>
          <p:nvPr/>
        </p:nvSpPr>
        <p:spPr>
          <a:xfrm>
            <a:off x="181736" y="2156975"/>
            <a:ext cx="11504295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Library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totalBooks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=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title: string,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author: string)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Library.totalBooks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getTotalBooks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number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Library.totalBooks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book1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Library(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"1984"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"George Orwell"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book2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Library(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 Kill a Mockingbird"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"Harper Lee"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Library.getTotalBooks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n-CA" sz="16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// Output: 2</a:t>
            </a:r>
          </a:p>
        </p:txBody>
      </p:sp>
    </p:spTree>
    <p:extLst>
      <p:ext uri="{BB962C8B-B14F-4D97-AF65-F5344CB8AC3E}">
        <p14:creationId xmlns:p14="http://schemas.microsoft.com/office/powerpoint/2010/main" val="395981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4858-3DD7-8F32-153F-38754719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37515B-F497-0513-4F29-25935536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4FD940-5327-020E-0C99-6BC5135FC0C1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79FFD4-AD20-AE01-6A64-EDF05BB605AA}"/>
              </a:ext>
            </a:extLst>
          </p:cNvPr>
          <p:cNvSpPr/>
          <p:nvPr/>
        </p:nvSpPr>
        <p:spPr>
          <a:xfrm>
            <a:off x="-1" y="1221723"/>
            <a:ext cx="460857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Static Properties and Methods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D83BFA-8AC9-5CE8-712D-FD33182FB2BC}"/>
              </a:ext>
            </a:extLst>
          </p:cNvPr>
          <p:cNvSpPr txBox="1"/>
          <p:nvPr/>
        </p:nvSpPr>
        <p:spPr>
          <a:xfrm>
            <a:off x="62865" y="1713107"/>
            <a:ext cx="12066270" cy="2122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totalBooks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is a static property shared across all instances of Library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Each time a new book is created using the constructor,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Library.totalBooks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increments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method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getTotalBooks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 is a static method used to retrieve the current number of books in the library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Access is done using the class name: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Library.getTotalBooks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347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54824</TotalTime>
  <Words>2264</Words>
  <Application>Microsoft Office PowerPoint</Application>
  <PresentationFormat>Widescreen</PresentationFormat>
  <Paragraphs>348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Bookman Old Style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 Mathew</cp:lastModifiedBy>
  <cp:revision>771</cp:revision>
  <dcterms:created xsi:type="dcterms:W3CDTF">2025-02-20T19:22:06Z</dcterms:created>
  <dcterms:modified xsi:type="dcterms:W3CDTF">2025-05-22T16:45:06Z</dcterms:modified>
</cp:coreProperties>
</file>